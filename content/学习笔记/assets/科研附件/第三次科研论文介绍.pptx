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CAE8"/>
    <a:srgbClr val="EEBF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68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37CCFC-4A71-4CA4-A64B-66F0DFB8ED6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319E3-530F-412D-894A-663C67119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449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A319E3-530F-412D-894A-663C67119D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97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74EA0-BD24-6D78-F2AF-1245CF6A3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41163ED-730D-38C2-4A9A-CE8D8C32C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52059-93C8-6207-F521-E68BCDCB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A744F7-289D-84D3-667F-46D1BEDC9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0D6631-C3C6-036F-6AC9-CF47CB59E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62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ADD8E9-4DA4-04F8-4981-34EACCB5C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F6549-F60B-08D3-289E-0662C1412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FE331E-B447-BB68-4138-941DE7F92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0CE294-049A-FE20-1C11-6C6818571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91A0B3-915F-1648-409A-0FF4FBC0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616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93538B-0F09-ECB6-DC24-B362D1C7B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32E8B4-4D2D-77B5-E505-F94F48A16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FE35D5-AFB6-CC7B-FA01-5208D9451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D69F47-B29F-AE29-AE59-AFE7A77A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8DAC52-2BFF-1273-20AF-7B8AA117F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8059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B181EA-A7AE-9AB8-C07F-7F2A01129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1D2712-FE4B-3A0A-7DF1-C0E2181288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7443E4-9BB6-1AE6-8D8D-1DD6B0A7F9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17109F-AC56-A011-B4DA-3322D37AB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C30F2D6-3817-770F-2FCF-B46C19AE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72EFA9-E2C5-FBF6-89BA-A4B1B2766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565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C3E99-2B38-2508-2EDC-7CDDFB016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C0BA55-2CD8-CA35-E8AA-C0B7DA2AF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4465868-4A97-B8D6-5ED5-156E6B6AC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C9ADB0-EFA6-5DE0-C208-15F6D6176F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3BDD96-EF26-5782-EDB6-65B800CF9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076459-FE5C-FBBC-04B6-3289E1BA9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EA82B2-E5A6-F05A-7FE4-1313D44B5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2DC9B2-E87D-696C-F5F1-8EEDE503C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025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090AE1-5602-8D45-8D3B-04A2AA54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BA134A-4D37-0030-FBAD-259806E0A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585D9C-B1BB-DC29-5D3E-C0E969F9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E8B4919-5687-6652-BD7D-E2C33433B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599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91354D7-7649-5F17-64A1-7C35E66B6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C88CBA-70C6-3E46-043B-29D36140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62C388-A2F4-EA13-E2F7-17D62AD0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38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73B62-B825-4D16-FCC1-382E487CC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518BA-7D0A-91E8-5082-F3699F792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1237EE-CE52-D49C-B712-62E26C668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F1B902-FDCC-DF1D-95E9-E04D4D94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924C7E-F9CE-B0A7-B165-D9A2F6CE2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C72EF2-ED25-32E2-55D5-7152A5AE0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2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BB11BC-34F8-0B68-D9B9-F29553FF6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359D21-8FC2-3B75-BCFF-0FE9CC77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D3441F-4B3B-6CE1-7C2C-B8DECB5A7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79D9AE-FF8A-56F7-94F1-71CB1FC4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5B5314-F386-07EE-69F9-8E8E468D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4CDEE9-8FC2-4C9F-C647-7051C2888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7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D2C95-6DC9-80A4-2742-DBD9197C7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5B5580-D1C2-55B4-0778-0059CD8BF8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3AA5FF-C130-E61F-738B-76BE6504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DF7BB4-F7E3-6FB0-331B-627B6FBAE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273578-B8B8-E49B-EFA2-79978CD06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43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315576-1C01-9186-00D1-F3A2595354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09213D-4FAD-E382-421A-62C723996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BD6281-A9E4-D57D-B469-0FB6B9F1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823E83-CC18-E63C-7C59-DFCA7AAB4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430233-014F-BE1A-A919-B8E5D15A3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326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EB3CDF-F2F4-21F4-5B43-E88E807DC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9C02B9-BAAB-9959-C6A3-22B732044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38B7EF-9E9F-CEDF-5EA3-AD1BEEC115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D65040-25DE-46C1-9A8E-BBD3E2A9DB41}" type="datetimeFigureOut">
              <a:rPr lang="zh-CN" altLang="en-US" smtClean="0"/>
              <a:t>2025/5/29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28A2C8-DEBC-E9DB-5ED2-6EBF4F5CE2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E8220D-AFEB-9276-5B1B-0C9D99C49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3F89A-38C0-47B4-A03E-1DB78D4223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594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19EAD-8C98-3377-DDFB-42E17CAE62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4905" y="-454824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TOWARDS A BRAIN COMPUTER INTERFACE  USING WAVELET TRANSFORM WITH  AVERAGED AND TIME SEGMENTED  ADAPTED WAVELETS</a:t>
            </a:r>
            <a:endParaRPr lang="zh-CN" altLang="en-US" sz="3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0195D66-7DD4-8441-AA2E-EA33523EB19E}"/>
              </a:ext>
            </a:extLst>
          </p:cNvPr>
          <p:cNvSpPr/>
          <p:nvPr/>
        </p:nvSpPr>
        <p:spPr>
          <a:xfrm>
            <a:off x="1382305" y="2367755"/>
            <a:ext cx="923660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kumimoji="0" lang="zh-CN" altLang="zh-CN" sz="5400" b="0" i="0" u="none" strike="noStrike" cap="none" spc="0" normalizeH="0" baseline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rial" panose="020B0604020202020204" pitchFamily="34" charset="0"/>
              </a:rPr>
              <a:t>基于平均和时间分段自适应小波的脑机接口小波变换研究</a:t>
            </a:r>
            <a:endParaRPr lang="zh-CN" alt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9511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C0B8F18-3E4A-20A5-8A8C-88DF6829D1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20898" y="-587445"/>
            <a:ext cx="9195390" cy="7732295"/>
          </a:xfr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E0B4B23-38E6-636B-EBC9-6CF28BF052E5}"/>
              </a:ext>
            </a:extLst>
          </p:cNvPr>
          <p:cNvSpPr/>
          <p:nvPr/>
        </p:nvSpPr>
        <p:spPr>
          <a:xfrm>
            <a:off x="353895" y="426653"/>
            <a:ext cx="40046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BCI</a:t>
            </a:r>
            <a:r>
              <a:rPr lang="zh-CN" altLang="en-US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系统架构</a:t>
            </a:r>
          </a:p>
        </p:txBody>
      </p:sp>
      <p:pic>
        <p:nvPicPr>
          <p:cNvPr id="2050" name="Picture 2" descr="Image result for BCI">
            <a:extLst>
              <a:ext uri="{FF2B5EF4-FFF2-40B4-BE49-F238E27FC236}">
                <a16:creationId xmlns:a16="http://schemas.microsoft.com/office/drawing/2014/main" id="{3B819BAC-38E2-312A-5026-9A3D0EE84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3444" y="3477983"/>
            <a:ext cx="4942878" cy="3528144"/>
          </a:xfrm>
          <a:prstGeom prst="rect">
            <a:avLst/>
          </a:prstGeom>
          <a:noFill/>
          <a:effectLst>
            <a:outerShdw blurRad="1270000" dist="50800" dir="5400000" algn="ctr" rotWithShape="0">
              <a:srgbClr val="000000">
                <a:alpha val="43137"/>
              </a:srgbClr>
            </a:outerShdw>
            <a:softEdge rad="11049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03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86DF80-ECAC-61B4-359C-29EE82D56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62651"/>
            <a:ext cx="4654336" cy="1325563"/>
          </a:xfrm>
        </p:spPr>
        <p:txBody>
          <a:bodyPr/>
          <a:lstStyle/>
          <a:p>
            <a:r>
              <a:rPr lang="zh-CN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基本架构下的创新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87D7724-5182-7C84-87D2-360ABBF0318A}"/>
              </a:ext>
            </a:extLst>
          </p:cNvPr>
          <p:cNvSpPr txBox="1"/>
          <p:nvPr/>
        </p:nvSpPr>
        <p:spPr>
          <a:xfrm>
            <a:off x="601417" y="1524429"/>
            <a:ext cx="2178603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altLang="zh-CN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1.</a:t>
            </a:r>
          </a:p>
          <a:p>
            <a:r>
              <a:rPr lang="zh-CN" alt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预</a:t>
            </a:r>
            <a:endParaRPr lang="en-US" altLang="zh-CN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处</a:t>
            </a:r>
            <a:endParaRPr lang="en-US" altLang="zh-CN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理  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BE52D03-8141-04D6-776A-8FBAB5D1A867}"/>
              </a:ext>
            </a:extLst>
          </p:cNvPr>
          <p:cNvSpPr txBox="1"/>
          <p:nvPr/>
        </p:nvSpPr>
        <p:spPr>
          <a:xfrm>
            <a:off x="2644504" y="1320499"/>
            <a:ext cx="3524254" cy="4755148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0"/>
          </a:effectLst>
          <a:scene3d>
            <a:camera prst="perspectiveLeft"/>
            <a:lightRig rig="threePt" dir="t"/>
          </a:scene3d>
          <a:sp3d>
            <a:bevelT prst="angle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3200" b="1" i="0" dirty="0">
                <a:solidFill>
                  <a:schemeClr val="accent5">
                    <a:lumMod val="50000"/>
                  </a:schemeClr>
                </a:solidFill>
                <a:effectLst/>
                <a:latin typeface="D-DINExp"/>
              </a:rPr>
              <a:t>窗口分割</a:t>
            </a:r>
            <a:endParaRPr lang="en-US" altLang="zh-CN" sz="3200" b="1" i="0" dirty="0">
              <a:solidFill>
                <a:schemeClr val="accent5">
                  <a:lumMod val="50000"/>
                </a:schemeClr>
              </a:solidFill>
              <a:effectLst/>
              <a:latin typeface="D-DINExp"/>
            </a:endParaRPr>
          </a:p>
          <a:p>
            <a:endParaRPr lang="en-US" altLang="zh-CN" b="1" i="0" dirty="0">
              <a:effectLst/>
              <a:latin typeface="D-DINExp"/>
            </a:endParaRPr>
          </a:p>
          <a:p>
            <a:r>
              <a:rPr lang="zh-CN" altLang="en-US" sz="2400" b="1" i="0" dirty="0">
                <a:effectLst/>
                <a:latin typeface="D-DINExp"/>
              </a:rPr>
              <a:t>目的</a:t>
            </a:r>
            <a:r>
              <a:rPr lang="zh-CN" altLang="en-US" sz="2400" b="0" i="0" dirty="0">
                <a:effectLst/>
                <a:latin typeface="D-DINExp"/>
              </a:rPr>
              <a:t>：减少处理脑电图信号执行时间和内存使用，提高</a:t>
            </a:r>
            <a:r>
              <a:rPr lang="en-US" altLang="zh-CN" sz="2400" b="0" i="0" dirty="0">
                <a:effectLst/>
                <a:latin typeface="D-DINExp"/>
              </a:rPr>
              <a:t>BCI</a:t>
            </a:r>
            <a:r>
              <a:rPr lang="zh-CN" altLang="en-US" sz="2400" b="0" i="0" dirty="0">
                <a:effectLst/>
                <a:latin typeface="D-DINExp"/>
              </a:rPr>
              <a:t>响应速度</a:t>
            </a:r>
          </a:p>
          <a:p>
            <a:endParaRPr lang="zh-CN" altLang="en-US" b="1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1" i="0" dirty="0">
                <a:effectLst/>
                <a:latin typeface="D-DINExp"/>
              </a:rPr>
              <a:t>窗口设置</a:t>
            </a:r>
            <a:r>
              <a:rPr lang="zh-CN" altLang="en-US" sz="2400" b="0" i="0" dirty="0">
                <a:effectLst/>
                <a:latin typeface="D-DINExp"/>
              </a:rPr>
              <a:t>：</a:t>
            </a:r>
            <a:r>
              <a:rPr lang="en-US" altLang="zh-CN" sz="2400" b="0" i="0" dirty="0">
                <a:effectLst/>
                <a:latin typeface="D-DINExp"/>
              </a:rPr>
              <a:t>1</a:t>
            </a:r>
            <a:r>
              <a:rPr lang="zh-CN" altLang="en-US" sz="2400" b="0" i="0" dirty="0">
                <a:effectLst/>
                <a:latin typeface="D-DINExp"/>
              </a:rPr>
              <a:t>秒窗口，</a:t>
            </a:r>
            <a:r>
              <a:rPr lang="en-US" altLang="zh-CN" sz="2400" b="0" i="0" dirty="0">
                <a:effectLst/>
                <a:latin typeface="D-DINExp"/>
              </a:rPr>
              <a:t>0.5</a:t>
            </a:r>
            <a:r>
              <a:rPr lang="zh-CN" altLang="en-US" sz="2400" b="0" i="0" dirty="0">
                <a:effectLst/>
                <a:latin typeface="D-DINExp"/>
              </a:rPr>
              <a:t>秒重叠</a:t>
            </a:r>
          </a:p>
          <a:p>
            <a:pPr algn="l">
              <a:spcAft>
                <a:spcPts val="1500"/>
              </a:spcAft>
            </a:pPr>
            <a:r>
              <a:rPr lang="zh-CN" altLang="en-US" sz="2400" b="1" i="0" dirty="0">
                <a:effectLst/>
                <a:latin typeface="D-DINExp"/>
              </a:rPr>
              <a:t>重叠原因</a:t>
            </a:r>
            <a:r>
              <a:rPr lang="zh-CN" altLang="en-US" sz="2400" b="0" i="0" dirty="0">
                <a:effectLst/>
                <a:latin typeface="D-DINExp"/>
              </a:rPr>
              <a:t>：弥补窗口边缘损失，每</a:t>
            </a:r>
            <a:r>
              <a:rPr lang="en-US" altLang="zh-CN" sz="2400" b="0" i="0" dirty="0">
                <a:effectLst/>
                <a:latin typeface="D-DINExp"/>
              </a:rPr>
              <a:t>0.5</a:t>
            </a:r>
            <a:r>
              <a:rPr lang="zh-CN" altLang="en-US" sz="2400" b="0" i="0" dirty="0">
                <a:effectLst/>
                <a:latin typeface="D-DINExp"/>
              </a:rPr>
              <a:t>秒产生新窗口</a:t>
            </a:r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4AFB1D-0CA7-DDFA-9A83-5544EC19DB3E}"/>
              </a:ext>
            </a:extLst>
          </p:cNvPr>
          <p:cNvSpPr txBox="1"/>
          <p:nvPr/>
        </p:nvSpPr>
        <p:spPr>
          <a:xfrm>
            <a:off x="7686009" y="912879"/>
            <a:ext cx="3524254" cy="538609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  <a:softEdge rad="0"/>
          </a:effectLst>
          <a:scene3d>
            <a:camera prst="perspectiveLeft"/>
            <a:lightRig rig="threePt" dir="t"/>
          </a:scene3d>
          <a:sp3d>
            <a:bevelT prst="angle"/>
          </a:sp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</a:pPr>
            <a:r>
              <a:rPr lang="zh-CN" altLang="en-US" sz="3200" b="1" i="0" dirty="0">
                <a:solidFill>
                  <a:schemeClr val="accent5">
                    <a:lumMod val="50000"/>
                  </a:schemeClr>
                </a:solidFill>
                <a:effectLst/>
                <a:latin typeface="D-DINExp"/>
              </a:rPr>
              <a:t>时域归一化</a:t>
            </a:r>
          </a:p>
          <a:p>
            <a:endParaRPr lang="en-US" altLang="zh-CN" b="1" dirty="0"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1" i="0" dirty="0">
                <a:effectLst/>
                <a:latin typeface="D-DINExp"/>
              </a:rPr>
              <a:t>目的</a:t>
            </a:r>
            <a:r>
              <a:rPr lang="zh-CN" altLang="en-US" sz="2400" b="0" i="0" dirty="0">
                <a:effectLst/>
                <a:latin typeface="D-DINExp"/>
              </a:rPr>
              <a:t>：输入数据较小，则神经网络分类时的性能更好。重要信息存在于小样本中，如果缩放不当，出现信息损失。进行非线性归一化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r>
              <a:rPr lang="zh-CN" altLang="en-US" sz="2400" b="1" i="0" dirty="0">
                <a:effectLst/>
                <a:latin typeface="D-DINExp"/>
              </a:rPr>
              <a:t>归一化函数</a:t>
            </a:r>
            <a:r>
              <a:rPr lang="zh-CN" altLang="en-US" sz="2400" b="0" i="0" dirty="0">
                <a:effectLst/>
                <a:latin typeface="D-DINExp"/>
              </a:rPr>
              <a:t>：</a:t>
            </a: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sz="2400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sz="2400" b="0" i="0" dirty="0">
              <a:effectLst/>
              <a:latin typeface="D-DINExp"/>
            </a:endParaRPr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5BE53A5-35CA-92E9-C253-BC2E2351002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</a:blip>
          <a:stretch>
            <a:fillRect/>
          </a:stretch>
        </p:blipFill>
        <p:spPr>
          <a:xfrm>
            <a:off x="7867907" y="4790169"/>
            <a:ext cx="2665048" cy="888350"/>
          </a:xfrm>
          <a:prstGeom prst="roundRect">
            <a:avLst>
              <a:gd name="adj" fmla="val 8594"/>
            </a:avLst>
          </a:prstGeom>
          <a:noFill/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perspectiveLeft">
              <a:rot lat="600000" lon="1800000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269111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94B2C-3F8B-F251-6E60-D661BC04C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D79A5F-99EF-3D50-775E-AE7542633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8103"/>
            <a:ext cx="4654336" cy="1325563"/>
          </a:xfrm>
        </p:spPr>
        <p:txBody>
          <a:bodyPr/>
          <a:lstStyle/>
          <a:p>
            <a:r>
              <a:rPr lang="zh-CN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基本架构下的创新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A7E81C2-340B-970F-2F6F-5B8ED84E06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3000"/>
          </a:blip>
          <a:stretch>
            <a:fillRect/>
          </a:stretch>
        </p:blipFill>
        <p:spPr>
          <a:xfrm>
            <a:off x="-1420748" y="1513526"/>
            <a:ext cx="8453025" cy="5627755"/>
          </a:xfrm>
          <a:prstGeom prst="rect">
            <a:avLst/>
          </a:prstGeom>
          <a:effectLst>
            <a:softEdge rad="812800"/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BFB5061-CB49-83F4-E5AD-763E94A5B431}"/>
              </a:ext>
            </a:extLst>
          </p:cNvPr>
          <p:cNvSpPr txBox="1"/>
          <p:nvPr/>
        </p:nvSpPr>
        <p:spPr>
          <a:xfrm>
            <a:off x="482010" y="1513526"/>
            <a:ext cx="843516" cy="3170099"/>
          </a:xfrm>
          <a:prstGeom prst="rect">
            <a:avLst/>
          </a:prstGeom>
          <a:noFill/>
          <a:effectLst>
            <a:reflection blurRad="12700" stA="45000" endPos="660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2.</a:t>
            </a:r>
          </a:p>
          <a:p>
            <a:r>
              <a:rPr lang="zh-CN" altLang="en-US" sz="4000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特</a:t>
            </a:r>
            <a:endParaRPr lang="en-US" altLang="zh-CN" sz="4000" b="1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4000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征</a:t>
            </a:r>
            <a:endParaRPr lang="en-US" altLang="zh-CN" sz="4000" b="1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4000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提</a:t>
            </a:r>
            <a:endParaRPr lang="en-US" altLang="zh-CN" sz="4000" b="1" dirty="0">
              <a:ln w="0"/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zh-CN" altLang="en-US" sz="4000" b="1" dirty="0">
                <a:ln w="0"/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328295-002E-3096-8902-4B694502172A}"/>
              </a:ext>
            </a:extLst>
          </p:cNvPr>
          <p:cNvSpPr txBox="1"/>
          <p:nvPr/>
        </p:nvSpPr>
        <p:spPr>
          <a:xfrm>
            <a:off x="3941135" y="1513526"/>
            <a:ext cx="7768855" cy="4350127"/>
          </a:xfrm>
          <a:prstGeom prst="roundRect">
            <a:avLst>
              <a:gd name="adj" fmla="val 3468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effectLst>
            <a:glow>
              <a:schemeClr val="bg1"/>
            </a:glow>
            <a:outerShdw blurRad="368300" dir="21540000" algn="ctr" rotWithShape="0">
              <a:srgbClr val="000000"/>
            </a:outerShdw>
            <a:softEdge rad="0"/>
          </a:effectLst>
          <a:scene3d>
            <a:camera prst="orthographicFront"/>
            <a:lightRig rig="threePt" dir="t"/>
          </a:scene3d>
          <a:sp3d/>
        </p:spPr>
        <p:txBody>
          <a:bodyPr wrap="square" rtlCol="0">
            <a:spAutoFit/>
          </a:bodyPr>
          <a:lstStyle/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背景：</a:t>
            </a:r>
            <a:r>
              <a:rPr lang="zh-CN" altLang="en-US" i="0" dirty="0">
                <a:effectLst/>
                <a:latin typeface="D-DINExp"/>
              </a:rPr>
              <a:t>使用傅里叶变换变换到频域时，时间信息会丢失</a:t>
            </a:r>
            <a:endParaRPr lang="en-US" altLang="zh-CN" i="0" dirty="0">
              <a:effectLst/>
              <a:latin typeface="D-DINExp"/>
            </a:endParaRPr>
          </a:p>
          <a:p>
            <a:pPr lvl="1">
              <a:spcAft>
                <a:spcPts val="1500"/>
              </a:spcAft>
            </a:pPr>
            <a:r>
              <a:rPr lang="zh-CN" altLang="en-US" i="0" dirty="0">
                <a:effectLst/>
                <a:latin typeface="D-DINExp"/>
              </a:rPr>
              <a:t>      小波分析提供了更好的分辨率</a:t>
            </a:r>
            <a:endParaRPr lang="en-US" altLang="zh-CN" b="1" dirty="0">
              <a:latin typeface="D-DINExp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基本原理</a:t>
            </a:r>
            <a:r>
              <a:rPr lang="zh-CN" altLang="en-US" b="0" i="0" dirty="0">
                <a:effectLst/>
                <a:latin typeface="D-DINExp"/>
              </a:rPr>
              <a:t>：使用最小二乘优化设计适配特定模式的小波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实现方法</a:t>
            </a:r>
            <a:r>
              <a:rPr lang="zh-CN" altLang="en-US" b="0" i="0" dirty="0">
                <a:effectLst/>
                <a:latin typeface="D-DINExp"/>
              </a:rPr>
              <a:t>：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D-DINExp"/>
              </a:rPr>
              <a:t>使用</a:t>
            </a:r>
            <a:r>
              <a:rPr lang="en-US" altLang="zh-CN" b="0" i="0" dirty="0" err="1">
                <a:effectLst/>
                <a:latin typeface="D-DINExp"/>
              </a:rPr>
              <a:t>Matlab</a:t>
            </a:r>
            <a:r>
              <a:rPr lang="zh-CN" altLang="en-US" b="0" i="0" dirty="0">
                <a:effectLst/>
                <a:latin typeface="D-DINExp"/>
              </a:rPr>
              <a:t>的</a:t>
            </a:r>
            <a:r>
              <a:rPr lang="en-US" altLang="zh-CN" b="0" i="0" dirty="0">
                <a:effectLst/>
                <a:latin typeface="D-DINExp"/>
              </a:rPr>
              <a:t>'pat2cwav'</a:t>
            </a:r>
            <a:r>
              <a:rPr lang="zh-CN" altLang="en-US" b="0" i="0" dirty="0">
                <a:effectLst/>
                <a:latin typeface="D-DINExp"/>
              </a:rPr>
              <a:t>命令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D-DINExp"/>
              </a:rPr>
              <a:t>多项式方法，</a:t>
            </a:r>
            <a:r>
              <a:rPr lang="en-US" altLang="zh-CN" b="0" i="0" dirty="0">
                <a:effectLst/>
                <a:latin typeface="D-DINExp"/>
              </a:rPr>
              <a:t>5</a:t>
            </a:r>
            <a:r>
              <a:rPr lang="zh-CN" altLang="en-US" b="0" i="0" dirty="0">
                <a:effectLst/>
                <a:latin typeface="D-DINExp"/>
              </a:rPr>
              <a:t>次多项式</a:t>
            </a:r>
          </a:p>
          <a:p>
            <a:pPr marL="742950" lvl="1" indent="-285750"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effectLst/>
                <a:latin typeface="D-DINExp"/>
              </a:rPr>
              <a:t>对所有任务的自适应小波进行平均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创新点</a:t>
            </a:r>
            <a:r>
              <a:rPr lang="zh-CN" altLang="en-US" b="0" i="0" dirty="0">
                <a:effectLst/>
                <a:latin typeface="D-DINExp"/>
              </a:rPr>
              <a:t>：在平均过程中使用每个窗口段的小波，即每个 </a:t>
            </a:r>
            <a:r>
              <a:rPr lang="en-US" altLang="zh-CN" b="0" i="0" dirty="0">
                <a:effectLst/>
                <a:latin typeface="D-DINExp"/>
              </a:rPr>
              <a:t>1 </a:t>
            </a:r>
            <a:r>
              <a:rPr lang="zh-CN" altLang="en-US" b="0" i="0" dirty="0">
                <a:effectLst/>
                <a:latin typeface="D-DINExp"/>
              </a:rPr>
              <a:t>秒窗口的小波，为信号中的每个窗口段生成一个滤波器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771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91078-0C25-8FA5-B6EE-5E99E29E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5A666E-3F55-B168-1DA6-CC192241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8103"/>
            <a:ext cx="4654336" cy="1325563"/>
          </a:xfrm>
        </p:spPr>
        <p:txBody>
          <a:bodyPr/>
          <a:lstStyle/>
          <a:p>
            <a:r>
              <a:rPr lang="zh-CN" alt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基本架构下的创新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D9E994-2012-D1BF-8701-1F9862B5B023}"/>
              </a:ext>
            </a:extLst>
          </p:cNvPr>
          <p:cNvSpPr txBox="1"/>
          <p:nvPr/>
        </p:nvSpPr>
        <p:spPr>
          <a:xfrm>
            <a:off x="616686" y="953544"/>
            <a:ext cx="4564911" cy="54861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i="0" dirty="0">
                <a:solidFill>
                  <a:srgbClr val="0070C0"/>
                </a:solidFill>
                <a:effectLst/>
                <a:latin typeface="D-DINExp"/>
              </a:rPr>
              <a:t>分类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dirty="0">
                <a:latin typeface="D-DINExp"/>
              </a:rPr>
              <a:t>采用</a:t>
            </a:r>
            <a:r>
              <a:rPr lang="zh-CN" altLang="en-US" b="1" i="0" dirty="0">
                <a:effectLst/>
                <a:latin typeface="D-DINExp"/>
              </a:rPr>
              <a:t>并行网络结构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设计原理</a:t>
            </a:r>
            <a:r>
              <a:rPr lang="zh-CN" altLang="en-US" b="0" i="0" dirty="0">
                <a:effectLst/>
                <a:latin typeface="D-DINExp"/>
              </a:rPr>
              <a:t>：基于大脑不同部位产生不同</a:t>
            </a:r>
            <a:r>
              <a:rPr lang="en-US" altLang="zh-CN" b="0" i="0" dirty="0">
                <a:effectLst/>
                <a:latin typeface="D-DINExp"/>
              </a:rPr>
              <a:t>EEG</a:t>
            </a:r>
            <a:r>
              <a:rPr lang="zh-CN" altLang="en-US" b="0" i="0" dirty="0">
                <a:effectLst/>
                <a:latin typeface="D-DINExp"/>
              </a:rPr>
              <a:t>信号的假设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实现方式</a:t>
            </a:r>
            <a:r>
              <a:rPr lang="zh-CN" altLang="en-US" b="0" i="0" dirty="0">
                <a:effectLst/>
                <a:latin typeface="D-DINExp"/>
              </a:rPr>
              <a:t>：每个电极对应一个独立的</a:t>
            </a:r>
            <a:r>
              <a:rPr lang="en-US" altLang="zh-CN" b="0" i="0" dirty="0">
                <a:effectLst/>
                <a:latin typeface="D-DINExp"/>
              </a:rPr>
              <a:t>RBE</a:t>
            </a:r>
            <a:r>
              <a:rPr lang="zh-CN" altLang="en-US" b="0" i="0" dirty="0">
                <a:effectLst/>
                <a:latin typeface="D-DINExp"/>
              </a:rPr>
              <a:t>网络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优势</a:t>
            </a:r>
            <a:r>
              <a:rPr lang="zh-CN" altLang="en-US" b="0" i="0" dirty="0">
                <a:effectLst/>
                <a:latin typeface="D-DINExp"/>
              </a:rPr>
              <a:t>：充分利用各电极的蒙太奇特征</a:t>
            </a:r>
            <a:endParaRPr lang="en-US" altLang="zh-CN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en-US" altLang="zh-CN" b="0" i="0" dirty="0">
              <a:effectLst/>
              <a:latin typeface="D-DINExp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D-DINExp"/>
            </a:endParaRPr>
          </a:p>
          <a:p>
            <a:pPr algn="l">
              <a:spcAft>
                <a:spcPts val="1500"/>
              </a:spcAft>
            </a:pPr>
            <a:endParaRPr lang="zh-CN" altLang="en-US" b="0" i="0" dirty="0">
              <a:effectLst/>
              <a:latin typeface="D-DINExp"/>
            </a:endParaRP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A38787-89DA-7D5E-ACD0-8CDC91DDBBB2}"/>
              </a:ext>
            </a:extLst>
          </p:cNvPr>
          <p:cNvSpPr txBox="1"/>
          <p:nvPr/>
        </p:nvSpPr>
        <p:spPr>
          <a:xfrm>
            <a:off x="6797753" y="817885"/>
            <a:ext cx="4564912" cy="55707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softEdge rad="63500"/>
          </a:effectLst>
        </p:spPr>
        <p:txBody>
          <a:bodyPr wrap="square" rtlCol="0">
            <a:spAutoFit/>
          </a:bodyPr>
          <a:lstStyle/>
          <a:p>
            <a:r>
              <a:rPr lang="zh-CN" altLang="en-US" sz="4000" b="1" i="0" dirty="0">
                <a:solidFill>
                  <a:srgbClr val="0070C0"/>
                </a:solidFill>
                <a:effectLst/>
                <a:latin typeface="D-DINExp"/>
              </a:rPr>
              <a:t>启发式权重调整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D-DINExp"/>
              </a:rPr>
              <a:t>加权投票机制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基本原理</a:t>
            </a:r>
            <a:r>
              <a:rPr lang="zh-CN" altLang="en-US" b="0" i="0" dirty="0">
                <a:effectLst/>
                <a:latin typeface="D-DINExp"/>
              </a:rPr>
              <a:t>：综合所有网络的决策，基于简单多数进行最终决策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权重分配</a:t>
            </a:r>
            <a:r>
              <a:rPr lang="zh-CN" altLang="en-US" b="0" i="0" dirty="0">
                <a:effectLst/>
                <a:latin typeface="D-DINExp"/>
              </a:rPr>
              <a:t>：根据各网络（对应电极）的分类准确率分配权重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动态调整</a:t>
            </a:r>
            <a:r>
              <a:rPr lang="zh-CN" altLang="en-US" b="0" i="0" dirty="0">
                <a:effectLst/>
                <a:latin typeface="D-DINExp"/>
              </a:rPr>
              <a:t>：观察训练和初始测试阶段各网络的准确率进行启发式调整</a:t>
            </a:r>
          </a:p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effectLst/>
                <a:latin typeface="D-DINExp"/>
              </a:rPr>
              <a:t>决策逻辑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分类标准</a:t>
            </a:r>
            <a:r>
              <a:rPr lang="zh-CN" altLang="en-US" b="0" i="0" dirty="0">
                <a:effectLst/>
                <a:latin typeface="D-DINExp"/>
              </a:rPr>
              <a:t>：当大多数网络将信号分类为某一任务时，确定为该任务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b="1" i="0" dirty="0">
                <a:effectLst/>
                <a:latin typeface="D-DINExp"/>
              </a:rPr>
              <a:t>权重考虑</a:t>
            </a:r>
            <a:r>
              <a:rPr lang="zh-CN" altLang="en-US" b="0" i="0" dirty="0">
                <a:effectLst/>
                <a:latin typeface="D-DINExp"/>
              </a:rPr>
              <a:t>：准确率更高的网络在最终决策中占更大比重</a:t>
            </a:r>
          </a:p>
        </p:txBody>
      </p:sp>
    </p:spTree>
    <p:extLst>
      <p:ext uri="{BB962C8B-B14F-4D97-AF65-F5344CB8AC3E}">
        <p14:creationId xmlns:p14="http://schemas.microsoft.com/office/powerpoint/2010/main" val="975570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004F15-37D7-3C4A-C909-FC1F237F2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bliqueTopRight"/>
              <a:lightRig rig="threePt" dir="t"/>
            </a:scene3d>
          </a:bodyPr>
          <a:lstStyle/>
          <a:p>
            <a:pPr algn="ctr"/>
            <a:r>
              <a:rPr lang="zh-CN" altLang="en-US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实验验证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EFF727-515E-77B3-75CD-291F33B51F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565" y="1630614"/>
            <a:ext cx="2774795" cy="4351338"/>
          </a:xfrm>
          <a:prstGeom prst="roundRect">
            <a:avLst>
              <a:gd name="adj" fmla="val 5950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zh-CN" altLang="en-US" b="1" i="0" dirty="0">
                <a:effectLst/>
                <a:latin typeface="D-DINExp"/>
              </a:rPr>
              <a:t>训练数据测试</a:t>
            </a:r>
            <a:r>
              <a:rPr lang="zh-CN" altLang="en-US" b="0" i="0" dirty="0">
                <a:effectLst/>
                <a:latin typeface="D-DINExp"/>
              </a:rPr>
              <a:t>：</a:t>
            </a:r>
            <a:endParaRPr lang="en-US" altLang="zh-CN" b="0" i="0" dirty="0">
              <a:effectLst/>
              <a:latin typeface="D-DINExp"/>
            </a:endParaRPr>
          </a:p>
          <a:p>
            <a:r>
              <a:rPr lang="en-US" altLang="zh-CN" b="0" i="0" dirty="0">
                <a:effectLst/>
                <a:latin typeface="D-DINExp"/>
              </a:rPr>
              <a:t>99.2%</a:t>
            </a:r>
            <a:r>
              <a:rPr lang="zh-CN" altLang="en-US" b="0" i="0" dirty="0">
                <a:effectLst/>
                <a:latin typeface="D-DINExp"/>
              </a:rPr>
              <a:t>准确率（理论上可达</a:t>
            </a:r>
            <a:r>
              <a:rPr lang="en-US" altLang="zh-CN" b="0" i="0" dirty="0">
                <a:effectLst/>
                <a:latin typeface="D-DINExp"/>
              </a:rPr>
              <a:t>100%</a:t>
            </a:r>
            <a:r>
              <a:rPr lang="zh-CN" altLang="en-US" b="0" i="0" dirty="0">
                <a:effectLst/>
                <a:latin typeface="D-DINExp"/>
              </a:rPr>
              <a:t>）</a:t>
            </a:r>
          </a:p>
          <a:p>
            <a:endParaRPr lang="zh-CN" altLang="en-US" dirty="0"/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C27543AE-5CFD-99C1-F7C1-887D8D4F7B73}"/>
              </a:ext>
            </a:extLst>
          </p:cNvPr>
          <p:cNvSpPr/>
          <p:nvPr/>
        </p:nvSpPr>
        <p:spPr>
          <a:xfrm>
            <a:off x="4393581" y="3806283"/>
            <a:ext cx="3865756" cy="817756"/>
          </a:xfrm>
          <a:prstGeom prst="rightArrow">
            <a:avLst/>
          </a:prstGeom>
          <a:solidFill>
            <a:srgbClr val="B8CAE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9BD2AF-A929-51B2-F486-C321090090E1}"/>
              </a:ext>
            </a:extLst>
          </p:cNvPr>
          <p:cNvSpPr txBox="1"/>
          <p:nvPr/>
        </p:nvSpPr>
        <p:spPr>
          <a:xfrm>
            <a:off x="5277314" y="2293273"/>
            <a:ext cx="1637371" cy="132802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400" b="0" i="0" dirty="0">
                <a:effectLst/>
                <a:latin typeface="D-DINExp"/>
              </a:rPr>
              <a:t>其他研究：</a:t>
            </a:r>
            <a:endParaRPr lang="en-US" altLang="zh-CN" sz="2400" b="0" i="0" dirty="0">
              <a:effectLst/>
              <a:latin typeface="D-DINExp"/>
            </a:endParaRPr>
          </a:p>
          <a:p>
            <a:r>
              <a:rPr lang="en-US" altLang="zh-CN" sz="2400" b="0" i="0" dirty="0">
                <a:effectLst/>
                <a:latin typeface="D-DINExp"/>
              </a:rPr>
              <a:t>60-90%</a:t>
            </a:r>
            <a:r>
              <a:rPr lang="zh-CN" altLang="en-US" sz="2400" b="0" i="0" dirty="0">
                <a:effectLst/>
                <a:latin typeface="D-DINExp"/>
              </a:rPr>
              <a:t>准确率</a:t>
            </a:r>
            <a:endParaRPr lang="en-US" altLang="zh-CN" sz="2400" b="0" i="0" dirty="0">
              <a:effectLst/>
              <a:latin typeface="D-DINExp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B69E16-BD8C-485D-D121-8381E40565CA}"/>
              </a:ext>
            </a:extLst>
          </p:cNvPr>
          <p:cNvSpPr txBox="1"/>
          <p:nvPr/>
        </p:nvSpPr>
        <p:spPr>
          <a:xfrm>
            <a:off x="8380144" y="1625603"/>
            <a:ext cx="3271022" cy="4226243"/>
          </a:xfrm>
          <a:prstGeom prst="roundRect">
            <a:avLst>
              <a:gd name="adj" fmla="val 4084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结论</a:t>
            </a:r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400" b="1" dirty="0"/>
              <a:t>创新方法效果显著</a:t>
            </a:r>
            <a:endParaRPr lang="en-US" altLang="zh-CN" sz="2400" b="1" dirty="0"/>
          </a:p>
          <a:p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更少的数据丢失</a:t>
            </a:r>
            <a:endParaRPr lang="en-US" altLang="zh-CN" sz="2400" b="1" dirty="0"/>
          </a:p>
          <a:p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i="0" dirty="0">
                <a:effectLst/>
                <a:latin typeface="D-DINExp"/>
              </a:rPr>
              <a:t>更快的响应时间</a:t>
            </a:r>
            <a:endParaRPr lang="en-US" altLang="zh-CN" sz="2400" b="1" i="0" dirty="0">
              <a:effectLst/>
              <a:latin typeface="D-DINExp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动态优化</a:t>
            </a:r>
            <a:r>
              <a:rPr lang="zh-CN" altLang="en-US" sz="2400" b="1" i="0" dirty="0">
                <a:effectLst/>
                <a:latin typeface="D-DINExp"/>
              </a:rPr>
              <a:t>实时增强系统性能</a:t>
            </a:r>
            <a:endParaRPr lang="en-US" altLang="zh-CN" sz="2400" b="1" i="0" dirty="0">
              <a:effectLst/>
              <a:latin typeface="D-DINExp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latin typeface="D-DINExp"/>
            </a:endParaRPr>
          </a:p>
        </p:txBody>
      </p:sp>
    </p:spTree>
    <p:extLst>
      <p:ext uri="{BB962C8B-B14F-4D97-AF65-F5344CB8AC3E}">
        <p14:creationId xmlns:p14="http://schemas.microsoft.com/office/powerpoint/2010/main" val="3452746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396</Words>
  <Application>Microsoft Office PowerPoint</Application>
  <PresentationFormat>宽屏</PresentationFormat>
  <Paragraphs>65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D-DINExp</vt:lpstr>
      <vt:lpstr>等线</vt:lpstr>
      <vt:lpstr>等线 Light</vt:lpstr>
      <vt:lpstr>Arial</vt:lpstr>
      <vt:lpstr>Office 主题​​</vt:lpstr>
      <vt:lpstr>TOWARDS A BRAIN COMPUTER INTERFACE  USING WAVELET TRANSFORM WITH  AVERAGED AND TIME SEGMENTED  ADAPTED WAVELETS</vt:lpstr>
      <vt:lpstr>PowerPoint 演示文稿</vt:lpstr>
      <vt:lpstr>基本架构下的创新</vt:lpstr>
      <vt:lpstr>基本架构下的创新</vt:lpstr>
      <vt:lpstr>基本架构下的创新</vt:lpstr>
      <vt:lpstr>实验验证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Zhouyue Wu</dc:creator>
  <cp:lastModifiedBy>Zhouyue Wu</cp:lastModifiedBy>
  <cp:revision>2</cp:revision>
  <dcterms:created xsi:type="dcterms:W3CDTF">2025-05-29T11:22:10Z</dcterms:created>
  <dcterms:modified xsi:type="dcterms:W3CDTF">2025-05-29T12:59:50Z</dcterms:modified>
</cp:coreProperties>
</file>