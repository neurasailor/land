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handoutMasterIdLst>
    <p:handoutMasterId r:id="rId15"/>
  </p:handoutMasterIdLst>
  <p:sldIdLst>
    <p:sldId id="364" r:id="rId3"/>
    <p:sldId id="707" r:id="rId4"/>
    <p:sldId id="317" r:id="rId5"/>
    <p:sldId id="358" r:id="rId7"/>
    <p:sldId id="359" r:id="rId8"/>
    <p:sldId id="362" r:id="rId9"/>
    <p:sldId id="365" r:id="rId10"/>
    <p:sldId id="360" r:id="rId11"/>
    <p:sldId id="361" r:id="rId12"/>
    <p:sldId id="706" r:id="rId13"/>
    <p:sldId id="708" r:id="rId14"/>
  </p:sldIdLst>
  <p:sldSz cx="12192000" cy="6858000"/>
  <p:notesSz cx="7099300" cy="10234930"/>
  <p:defaultTextStyle>
    <a:defPPr>
      <a:defRPr lang="en-US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000000"/>
    <a:srgbClr val="FFCC00"/>
    <a:srgbClr val="0000CC"/>
    <a:srgbClr val="9933FF"/>
    <a:srgbClr val="CC00FF"/>
    <a:srgbClr val="008A3E"/>
    <a:srgbClr val="DC06B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0808"/>
    <p:restoredTop sz="92362"/>
  </p:normalViewPr>
  <p:slideViewPr>
    <p:cSldViewPr showGuides="1">
      <p:cViewPr varScale="1">
        <p:scale>
          <a:sx n="104" d="100"/>
          <a:sy n="104" d="100"/>
        </p:scale>
        <p:origin x="1104" y="14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handoutMaster" Target="handoutMasters/handoutMaster1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 eaLnBrk="1" hangingPunct="1">
              <a:defRPr sz="13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3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1138" y="0"/>
            <a:ext cx="3076575" cy="511175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 eaLnBrk="1" hangingPunct="1">
              <a:defRPr sz="13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2681969-5EC5-4FDA-934D-2C85AF40A343}" type="datetimeFigureOut">
              <a:rPr kumimoji="0" lang="zh-CN" altLang="en-US" sz="13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3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1850"/>
            <a:ext cx="3076575" cy="511175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 eaLnBrk="1" hangingPunct="1">
              <a:defRPr sz="13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3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</p:spPr>
        <p:txBody>
          <a:bodyPr vert="horz" wrap="square" lIns="99048" tIns="49524" rIns="99048" bIns="49524" numCol="1" anchor="b" anchorCtr="0" compatLnSpc="1"/>
          <a:p>
            <a:pPr lvl="0" algn="r" eaLnBrk="1" hangingPunct="1">
              <a:buNone/>
            </a:pPr>
            <a:fld id="{9A0DB2DC-4C9A-4742-B13C-FB6460FD3503}" type="slidenum">
              <a:rPr lang="zh-CN" altLang="en-US" sz="1300" dirty="0"/>
            </a:fld>
            <a:endParaRPr lang="zh-CN" altLang="en-US" sz="13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9048" tIns="49524" rIns="99048" bIns="49524" numCol="1" anchor="t" anchorCtr="0" compatLnSpc="1"/>
          <a:lstStyle>
            <a:lvl1pPr eaLnBrk="1" hangingPunct="1">
              <a:defRPr sz="130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3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9048" tIns="49524" rIns="99048" bIns="49524" numCol="1" anchor="t" anchorCtr="0" compatLnSpc="1"/>
          <a:lstStyle>
            <a:lvl1pPr algn="r" eaLnBrk="1" hangingPunct="1">
              <a:defRPr sz="130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148" name="Rectangle 4"/>
          <p:cNvSpPr>
            <a:spLocks noTextEdit="1"/>
          </p:cNvSpPr>
          <p:nvPr>
            <p:ph type="sldImg" idx="2"/>
          </p:nvPr>
        </p:nvSpPr>
        <p:spPr>
          <a:xfrm>
            <a:off x="139700" y="768350"/>
            <a:ext cx="6819900" cy="3836988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46150" y="4860925"/>
            <a:ext cx="5207000" cy="460533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9048" tIns="49524" rIns="99048" bIns="49524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Click to edit Master text styles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Second level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Third level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Fourth level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Fifth level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9048" tIns="49524" rIns="99048" bIns="49524" numCol="1" anchor="b" anchorCtr="0" compatLnSpc="1"/>
          <a:lstStyle>
            <a:lvl1pPr eaLnBrk="1" hangingPunct="1">
              <a:defRPr sz="130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9048" tIns="49524" rIns="99048" bIns="49524" numCol="1" anchor="b" anchorCtr="0" compatLnSpc="1"/>
          <a:p>
            <a:pPr lvl="0" algn="r" eaLnBrk="1" hangingPunct="1">
              <a:buNone/>
            </a:pPr>
            <a:fld id="{9A0DB2DC-4C9A-4742-B13C-FB6460FD3503}" type="slidenum">
              <a:rPr lang="zh-CN" altLang="en-US" sz="1300" dirty="0">
                <a:latin typeface="Times New Roman" panose="02020603050405020304" pitchFamily="18" charset="0"/>
              </a:rPr>
            </a:fld>
            <a:endParaRPr lang="zh-CN" altLang="en-US" sz="1300" dirty="0">
              <a:latin typeface="Times New Roman" panose="02020603050405020304" pitchFamily="18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1267" name="备注占位符 2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9048" tIns="49524" rIns="99048" bIns="49524" anchor="t" anchorCtr="0"/>
          <a:p>
            <a:pPr lvl="0"/>
            <a:r>
              <a:rPr lang="zh-CN" altLang="en-US" dirty="0"/>
              <a:t>设计平台选择：系统可分解性，可扩展性，趣味性，可理解性</a:t>
            </a:r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3315" name="备注占位符 2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9048" tIns="49524" rIns="99048" bIns="49524" anchor="t" anchorCtr="0"/>
          <a:p>
            <a:pPr lvl="0"/>
            <a:r>
              <a:rPr lang="zh-CN" altLang="en-US" dirty="0"/>
              <a:t>设计平台选择：系统可分解性，可扩展性，趣味性，可理解性</a:t>
            </a:r>
            <a:endParaRPr lang="zh-CN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36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5363" name="备注占位符 2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9048" tIns="49524" rIns="99048" bIns="49524" anchor="t" anchorCtr="0"/>
          <a:p>
            <a:pPr lvl="0"/>
            <a:r>
              <a:rPr lang="zh-CN" altLang="en-US" dirty="0"/>
              <a:t>设计平台选择：系统可分解性，可扩展性，趣味性，可理解性</a:t>
            </a:r>
            <a:endParaRPr lang="zh-CN" alt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1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7411" name="备注占位符 2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9048" tIns="49524" rIns="99048" bIns="49524" anchor="t" anchorCtr="0"/>
          <a:p>
            <a:pPr lvl="0"/>
            <a:endParaRPr lang="zh-CN" alt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45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9459" name="备注占位符 2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9048" tIns="49524" rIns="99048" bIns="49524" anchor="t" anchorCtr="0"/>
          <a:p>
            <a:pPr lvl="0"/>
            <a:endParaRPr lang="zh-CN" alt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50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1507" name="备注占位符 2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9048" tIns="49524" rIns="99048" bIns="49524" anchor="t" anchorCtr="0"/>
          <a:p>
            <a:pPr lvl="0"/>
            <a:r>
              <a:rPr lang="zh-CN" altLang="en-US" dirty="0"/>
              <a:t>设计平台选择：系统可分解性，可扩展性，趣味性，可理解性</a:t>
            </a:r>
            <a:endParaRPr lang="zh-CN" alt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55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3555" name="备注占位符 2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9048" tIns="49524" rIns="99048" bIns="49524" anchor="t" anchorCtr="0"/>
          <a:p>
            <a:pPr lvl="0"/>
            <a:r>
              <a:rPr lang="zh-CN" altLang="en-US" dirty="0"/>
              <a:t>设计平台选择：系统可分解性，可扩展性，趣味性，可理解性</a:t>
            </a:r>
            <a:endParaRPr lang="zh-CN" altLang="en-U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60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5603" name="备注占位符 2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9048" tIns="49524" rIns="99048" bIns="49524" anchor="t" anchorCtr="0"/>
          <a:p>
            <a:pPr lvl="0"/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任意多边形 13"/>
          <p:cNvSpPr/>
          <p:nvPr/>
        </p:nvSpPr>
        <p:spPr bwMode="auto">
          <a:xfrm>
            <a:off x="-12700" y="-7937"/>
            <a:ext cx="1221740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任意多边形 15"/>
          <p:cNvSpPr/>
          <p:nvPr/>
        </p:nvSpPr>
        <p:spPr bwMode="auto">
          <a:xfrm>
            <a:off x="5842000" y="-7937"/>
            <a:ext cx="63500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pSp>
        <p:nvGrpSpPr>
          <p:cNvPr id="2052" name="组合 16"/>
          <p:cNvGrpSpPr/>
          <p:nvPr/>
        </p:nvGrpSpPr>
        <p:grpSpPr>
          <a:xfrm>
            <a:off x="-25400" y="203200"/>
            <a:ext cx="12241213" cy="647700"/>
            <a:chOff x="-19045" y="216550"/>
            <a:chExt cx="9180548" cy="649224"/>
          </a:xfrm>
        </p:grpSpPr>
        <p:sp>
          <p:nvSpPr>
            <p:cNvPr id="5" name="任意多边形 18"/>
            <p:cNvSpPr/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任意多边形 19"/>
            <p:cNvSpPr/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9" name="标题 8"/>
          <p:cNvSpPr>
            <a:spLocks noGrp="1"/>
          </p:cNvSpPr>
          <p:nvPr>
            <p:ph type="ctrTitle"/>
          </p:nvPr>
        </p:nvSpPr>
        <p:spPr>
          <a:xfrm>
            <a:off x="711200" y="1371600"/>
            <a:ext cx="10468864" cy="1828800"/>
          </a:xfrm>
          <a:ln>
            <a:noFill/>
          </a:ln>
        </p:spPr>
        <p:txBody>
          <a:bodyPr tIns="0" rIns="18288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17" name="副标题 16"/>
          <p:cNvSpPr>
            <a:spLocks noGrp="1"/>
          </p:cNvSpPr>
          <p:nvPr>
            <p:ph type="subTitle" idx="1"/>
          </p:nvPr>
        </p:nvSpPr>
        <p:spPr>
          <a:xfrm>
            <a:off x="711200" y="3228536"/>
            <a:ext cx="10472928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4" name="日期占位符 29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2">
                  <a:shade val="90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页脚占位符 18"/>
          <p:cNvSpPr>
            <a:spLocks noGrp="1"/>
          </p:cNvSpPr>
          <p:nvPr>
            <p:ph type="ftr" sz="quarter" idx="3"/>
          </p:nvPr>
        </p:nvSpPr>
        <p:spPr>
          <a:xfrm>
            <a:off x="3556000" y="6356350"/>
            <a:ext cx="44704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2">
                  <a:shade val="90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" name="灯片编号占位符 26"/>
          <p:cNvSpPr>
            <a:spLocks noGrp="1"/>
          </p:cNvSpPr>
          <p:nvPr>
            <p:ph type="sldNum" sz="quarter" idx="4"/>
          </p:nvPr>
        </p:nvSpPr>
        <p:spPr>
          <a:xfrm>
            <a:off x="10566400" y="6356350"/>
            <a:ext cx="1016000" cy="365125"/>
          </a:xfrm>
          <a:prstGeom prst="rect">
            <a:avLst/>
          </a:prstGeom>
        </p:spPr>
        <p:txBody>
          <a:bodyPr vert="horz" wrap="square" lIns="0" tIns="0" rIns="0" bIns="0" numCol="1" anchor="b" anchorCtr="0" compatLnSpc="1"/>
          <a:p>
            <a:pPr algn="r" eaLnBrk="1" hangingPunct="1">
              <a:buNone/>
            </a:pPr>
            <a:fld id="{9A0DB2DC-4C9A-4742-B13C-FB6460FD3503}" type="slidenum">
              <a:rPr lang="zh-CN" altLang="en-US" dirty="0">
                <a:solidFill>
                  <a:srgbClr val="D1EAEE"/>
                </a:solidFill>
              </a:rPr>
            </a:fld>
            <a:endParaRPr lang="zh-CN" altLang="en-US" dirty="0">
              <a:solidFill>
                <a:srgbClr val="D1EAEE"/>
              </a:solidFill>
            </a:endParaRP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/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2">
                  <a:shade val="90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2">
                  <a:shade val="90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节标题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任意多边形 13"/>
          <p:cNvSpPr/>
          <p:nvPr/>
        </p:nvSpPr>
        <p:spPr bwMode="auto">
          <a:xfrm>
            <a:off x="-12700" y="-7937"/>
            <a:ext cx="1221740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任意多边形 15"/>
          <p:cNvSpPr/>
          <p:nvPr/>
        </p:nvSpPr>
        <p:spPr bwMode="auto">
          <a:xfrm>
            <a:off x="5842000" y="-7937"/>
            <a:ext cx="63500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pSp>
        <p:nvGrpSpPr>
          <p:cNvPr id="3076" name="组合 1"/>
          <p:cNvGrpSpPr/>
          <p:nvPr/>
        </p:nvGrpSpPr>
        <p:grpSpPr>
          <a:xfrm>
            <a:off x="-25400" y="203200"/>
            <a:ext cx="12241213" cy="647700"/>
            <a:chOff x="-19045" y="216550"/>
            <a:chExt cx="9180548" cy="649224"/>
          </a:xfrm>
        </p:grpSpPr>
        <p:sp>
          <p:nvSpPr>
            <p:cNvPr id="6" name="任意多边形 18"/>
            <p:cNvSpPr/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" name="任意多边形 19"/>
            <p:cNvSpPr/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9" name="Rectangle 29"/>
          <p:cNvSpPr>
            <a:spLocks noChangeArrowheads="1"/>
          </p:cNvSpPr>
          <p:nvPr/>
        </p:nvSpPr>
        <p:spPr bwMode="auto">
          <a:xfrm>
            <a:off x="6827838" y="71438"/>
            <a:ext cx="4022725" cy="36988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集成电子技术基础教程  第二版 下册</a:t>
            </a: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07136" y="1316736"/>
            <a:ext cx="10363200" cy="1362456"/>
          </a:xfrm>
          <a:ln>
            <a:noFill/>
          </a:ln>
        </p:spPr>
        <p:txBody>
          <a:bodyPr tIns="0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07136" y="2704664"/>
            <a:ext cx="10363200" cy="1509712"/>
          </a:xfrm>
        </p:spPr>
        <p:txBody>
          <a:bodyPr lIns="45720" rIns="45720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11" name="日期占位符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2">
                  <a:shade val="90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" name="页脚占位符 4"/>
          <p:cNvSpPr>
            <a:spLocks noGrp="1"/>
          </p:cNvSpPr>
          <p:nvPr>
            <p:ph type="ftr" sz="quarter" idx="3"/>
          </p:nvPr>
        </p:nvSpPr>
        <p:spPr>
          <a:xfrm>
            <a:off x="3556000" y="6356350"/>
            <a:ext cx="44704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2">
                  <a:shade val="90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0566400" y="6356350"/>
            <a:ext cx="1016000" cy="365125"/>
          </a:xfrm>
          <a:prstGeom prst="rect">
            <a:avLst/>
          </a:prstGeom>
        </p:spPr>
        <p:txBody>
          <a:bodyPr vert="horz" wrap="square" lIns="0" tIns="0" rIns="0" bIns="0" numCol="1" anchor="b" anchorCtr="0" compatLnSpc="1"/>
          <a:p>
            <a:pPr algn="r" eaLnBrk="1" hangingPunct="1">
              <a:buNone/>
            </a:pPr>
            <a:fld id="{9A0DB2DC-4C9A-4742-B13C-FB6460FD3503}" type="slidenum">
              <a:rPr lang="zh-CN" altLang="en-US" dirty="0">
                <a:solidFill>
                  <a:srgbClr val="D1EAEE"/>
                </a:solidFill>
              </a:rPr>
            </a:fld>
            <a:endParaRPr lang="zh-CN" altLang="en-US" dirty="0">
              <a:solidFill>
                <a:srgbClr val="D1EAEE"/>
              </a:solidFill>
            </a:endParaRP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/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704088"/>
            <a:ext cx="109728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920085"/>
            <a:ext cx="53848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920085"/>
            <a:ext cx="53848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2">
                  <a:shade val="90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2">
                  <a:shade val="90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70408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855248"/>
            <a:ext cx="5386917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3"/>
          </p:nvPr>
        </p:nvSpPr>
        <p:spPr>
          <a:xfrm>
            <a:off x="6193368" y="1859758"/>
            <a:ext cx="5389033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sz="quarter" idx="2"/>
          </p:nvPr>
        </p:nvSpPr>
        <p:spPr>
          <a:xfrm>
            <a:off x="609600" y="2514600"/>
            <a:ext cx="5386917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514600"/>
            <a:ext cx="5389033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2">
                  <a:shade val="90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2">
                  <a:shade val="90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704088"/>
            <a:ext cx="11074400" cy="1143000"/>
          </a:xfrm>
        </p:spPr>
        <p:txBody>
          <a:bodyPr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2">
                  <a:shade val="90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2">
                  <a:shade val="90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2">
                  <a:shade val="90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2">
                  <a:shade val="90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400" y="514352"/>
            <a:ext cx="3657600" cy="1162050"/>
          </a:xfrm>
        </p:spPr>
        <p:txBody>
          <a:bodyPr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2"/>
          </p:nvPr>
        </p:nvSpPr>
        <p:spPr>
          <a:xfrm>
            <a:off x="914400" y="1676400"/>
            <a:ext cx="36576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1"/>
          </p:nvPr>
        </p:nvSpPr>
        <p:spPr>
          <a:xfrm>
            <a:off x="4766733" y="1676400"/>
            <a:ext cx="6815667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2">
                  <a:shade val="90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2">
                  <a:shade val="90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图片与标题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单圆角矩形 13"/>
          <p:cNvSpPr/>
          <p:nvPr/>
        </p:nvSpPr>
        <p:spPr>
          <a:xfrm rot="420000" flipV="1">
            <a:off x="4221163" y="1108075"/>
            <a:ext cx="70104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直角三角形 2"/>
          <p:cNvSpPr/>
          <p:nvPr/>
        </p:nvSpPr>
        <p:spPr>
          <a:xfrm rot="420000" flipV="1">
            <a:off x="10672763" y="5359400"/>
            <a:ext cx="206375" cy="155575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任意多边形 16"/>
          <p:cNvSpPr/>
          <p:nvPr/>
        </p:nvSpPr>
        <p:spPr bwMode="auto">
          <a:xfrm flipV="1">
            <a:off x="-12700" y="5816600"/>
            <a:ext cx="1221740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任意多边形 18"/>
          <p:cNvSpPr/>
          <p:nvPr/>
        </p:nvSpPr>
        <p:spPr bwMode="auto">
          <a:xfrm flipV="1">
            <a:off x="5842000" y="6219825"/>
            <a:ext cx="63500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2800" y="1176997"/>
            <a:ext cx="2950464" cy="1582621"/>
          </a:xfrm>
        </p:spPr>
        <p:txBody>
          <a:bodyPr lIns="45720" rIns="45720" bIns="45720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12800" y="2828785"/>
            <a:ext cx="2946400" cy="2179320"/>
          </a:xfrm>
        </p:spPr>
        <p:txBody>
          <a:bodyPr lIns="64008" rIns="45720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 rot="420000">
            <a:off x="4647724" y="1199517"/>
            <a:ext cx="615696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 vert="horz" wrap="square" lIns="91440" tIns="45720" rIns="91440" bIns="45720" numCol="1" anchor="t" anchorCtr="0" compatLnSpc="1">
            <a:normAutofit/>
          </a:bodyPr>
          <a:lstStyle>
            <a:lvl1pPr marL="0" indent="0">
              <a:buNone/>
              <a:defRPr sz="3200"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BD0D9"/>
              </a:buClr>
              <a:buSzPct val="95000"/>
              <a:buFont typeface="Wingdings 2" panose="05020102010507070707" pitchFamily="18" charset="2"/>
              <a:buNone/>
              <a:defRPr/>
            </a:pPr>
            <a:r>
              <a: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单击图标添加图片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日期占位符 4"/>
          <p:cNvSpPr>
            <a:spLocks noGrp="1"/>
          </p:cNvSpPr>
          <p:nvPr>
            <p:ph type="dt" sz="half" idx="1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2">
                  <a:shade val="90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页脚占位符 5"/>
          <p:cNvSpPr>
            <a:spLocks noGrp="1"/>
          </p:cNvSpPr>
          <p:nvPr>
            <p:ph type="ftr" sz="quarter" idx="3"/>
          </p:nvPr>
        </p:nvSpPr>
        <p:spPr>
          <a:xfrm>
            <a:off x="3556000" y="6356350"/>
            <a:ext cx="44704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2">
                  <a:shade val="90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灯片编号占位符 6"/>
          <p:cNvSpPr>
            <a:spLocks noGrp="1"/>
          </p:cNvSpPr>
          <p:nvPr>
            <p:ph type="sldNum" sz="quarter" idx="4"/>
          </p:nvPr>
        </p:nvSpPr>
        <p:spPr>
          <a:xfrm>
            <a:off x="10769600" y="6356350"/>
            <a:ext cx="812800" cy="365125"/>
          </a:xfrm>
          <a:prstGeom prst="rect">
            <a:avLst/>
          </a:prstGeom>
        </p:spPr>
        <p:txBody>
          <a:bodyPr vert="horz" wrap="square" lIns="0" tIns="0" rIns="0" bIns="0" numCol="1" anchor="b" anchorCtr="0" compatLnSpc="1"/>
          <a:p>
            <a:pPr algn="r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2">
                  <a:shade val="90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2">
                  <a:shade val="90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914402"/>
            <a:ext cx="2743200" cy="5211763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914402"/>
            <a:ext cx="8026400" cy="5211763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2">
                  <a:shade val="90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2">
                  <a:shade val="90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2">
                  <a:shade val="90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2">
                  <a:shade val="90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image" Target="../media/image2.jpeg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7" name="任意多边形 6"/>
          <p:cNvSpPr/>
          <p:nvPr/>
        </p:nvSpPr>
        <p:spPr bwMode="auto">
          <a:xfrm>
            <a:off x="-12700" y="-7937"/>
            <a:ext cx="1221740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任意多边形 7"/>
          <p:cNvSpPr/>
          <p:nvPr/>
        </p:nvSpPr>
        <p:spPr bwMode="auto">
          <a:xfrm>
            <a:off x="5842000" y="-7937"/>
            <a:ext cx="63500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FFCC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28" name="标题占位符 8"/>
          <p:cNvSpPr>
            <a:spLocks noGrp="1"/>
          </p:cNvSpPr>
          <p:nvPr>
            <p:ph type="title"/>
          </p:nvPr>
        </p:nvSpPr>
        <p:spPr>
          <a:xfrm>
            <a:off x="609600" y="704850"/>
            <a:ext cx="10972800" cy="1143000"/>
          </a:xfrm>
          <a:prstGeom prst="rect">
            <a:avLst/>
          </a:prstGeom>
          <a:noFill/>
          <a:ln w="9525">
            <a:noFill/>
          </a:ln>
        </p:spPr>
        <p:txBody>
          <a:bodyPr lIns="0" rIns="0" bIns="0" anchor="b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9" name="文本占位符 29"/>
          <p:cNvSpPr>
            <a:spLocks noGrp="1"/>
          </p:cNvSpPr>
          <p:nvPr>
            <p:ph type="body" idx="1"/>
          </p:nvPr>
        </p:nvSpPr>
        <p:spPr>
          <a:xfrm>
            <a:off x="609600" y="1935163"/>
            <a:ext cx="10972800" cy="4389437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0" name="日期占位符 9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2">
                  <a:shade val="90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2" name="页脚占位符 21"/>
          <p:cNvSpPr>
            <a:spLocks noGrp="1"/>
          </p:cNvSpPr>
          <p:nvPr>
            <p:ph type="ftr" sz="quarter" idx="3"/>
          </p:nvPr>
        </p:nvSpPr>
        <p:spPr>
          <a:xfrm>
            <a:off x="3556000" y="6356350"/>
            <a:ext cx="44704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2">
                  <a:shade val="90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4"/>
          </p:nvPr>
        </p:nvSpPr>
        <p:spPr>
          <a:xfrm>
            <a:off x="10566400" y="6356350"/>
            <a:ext cx="1016000" cy="365125"/>
          </a:xfrm>
          <a:prstGeom prst="rect">
            <a:avLst/>
          </a:prstGeom>
        </p:spPr>
        <p:txBody>
          <a:bodyPr vert="horz" wrap="square" lIns="0" tIns="0" rIns="0" bIns="0" numCol="1" anchor="b" anchorCtr="0" compatLnSpc="1"/>
          <a:lstStyle>
            <a:lvl1pPr algn="r">
              <a:defRPr sz="1200">
                <a:solidFill>
                  <a:srgbClr val="045C75"/>
                </a:solidFill>
              </a:defRPr>
            </a:lvl1pPr>
          </a:lstStyle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</a:endParaRPr>
          </a:p>
        </p:txBody>
      </p:sp>
      <p:grpSp>
        <p:nvGrpSpPr>
          <p:cNvPr id="1033" name="组合 1"/>
          <p:cNvGrpSpPr/>
          <p:nvPr/>
        </p:nvGrpSpPr>
        <p:grpSpPr>
          <a:xfrm>
            <a:off x="-25400" y="203200"/>
            <a:ext cx="12241213" cy="647700"/>
            <a:chOff x="-19045" y="216550"/>
            <a:chExt cx="9180548" cy="649224"/>
          </a:xfrm>
        </p:grpSpPr>
        <p:sp>
          <p:nvSpPr>
            <p:cNvPr id="12" name="任意多边形 11"/>
            <p:cNvSpPr/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3" name="任意多边形 12"/>
            <p:cNvSpPr/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034" name="Rectangle 29"/>
          <p:cNvSpPr>
            <a:spLocks noChangeArrowheads="1"/>
          </p:cNvSpPr>
          <p:nvPr/>
        </p:nvSpPr>
        <p:spPr bwMode="auto">
          <a:xfrm>
            <a:off x="9336088" y="92075"/>
            <a:ext cx="2682875" cy="36988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2500" cap="none" spc="10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电路与电子技术实验</a:t>
            </a:r>
            <a:r>
              <a:rPr kumimoji="0" lang="en-US" altLang="zh-CN" sz="1800" b="1" i="0" u="none" strike="noStrike" kern="2500" cap="none" spc="10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I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ransition/>
  <p:timing>
    <p:tnLst>
      <p:par>
        <p:cTn id="1" dur="indefinite" restart="never" nodeType="tmRoot"/>
      </p:par>
    </p:tnLst>
  </p:timing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50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anose="020F0502020204030204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anose="020F050202020403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anose="020F050202020403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anose="020F0502020204030204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anose="020F0502020204030204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anose="020F0502020204030204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anose="020F0502020204030204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anose="020F0502020204030204" pitchFamily="34" charset="0"/>
        </a:defRPr>
      </a:lvl9pPr>
    </p:titleStyle>
    <p:bodyStyle>
      <a:lvl1pPr marL="273050" indent="-273050" algn="l" rtl="0" eaLnBrk="0" fontAlgn="base" hangingPunct="0">
        <a:spcBef>
          <a:spcPct val="20000"/>
        </a:spcBef>
        <a:spcAft>
          <a:spcPct val="0"/>
        </a:spcAft>
        <a:buClr>
          <a:srgbClr val="0BD0D9"/>
        </a:buClr>
        <a:buSzPct val="95000"/>
        <a:buFont typeface="Wingdings 2" panose="05020102010507070707" pitchFamily="18" charset="2"/>
        <a:buChar char=""/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38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85000"/>
        <a:buFont typeface="Wingdings 2" panose="05020102010507070707" pitchFamily="18" charset="2"/>
        <a:buChar char="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38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 2" panose="05020102010507070707" pitchFamily="18" charset="2"/>
        <a:buChar char=""/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7450" indent="-209550" algn="l" rtl="0" eaLnBrk="0" fontAlgn="base" hangingPunct="0">
        <a:spcBef>
          <a:spcPct val="20000"/>
        </a:spcBef>
        <a:spcAft>
          <a:spcPct val="0"/>
        </a:spcAft>
        <a:buClr>
          <a:srgbClr val="0BD0D9"/>
        </a:buClr>
        <a:buSzPct val="65000"/>
        <a:buFont typeface="Wingdings 2" panose="05020102010507070707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2405" indent="-209550" algn="l" rtl="0" eaLnBrk="0" fontAlgn="base" hangingPunct="0">
        <a:spcBef>
          <a:spcPct val="20000"/>
        </a:spcBef>
        <a:spcAft>
          <a:spcPct val="0"/>
        </a:spcAft>
        <a:buClr>
          <a:srgbClr val="10CF9B"/>
        </a:buClr>
        <a:buSzPct val="65000"/>
        <a:buFont typeface="Wingdings 2" panose="05020102010507070707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185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 panose="05020102010507070707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 panose="05020102010507070707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8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5.jpeg"/><Relationship Id="rId6" Type="http://schemas.openxmlformats.org/officeDocument/2006/relationships/image" Target="../media/image4.jpeg"/><Relationship Id="rId5" Type="http://schemas.openxmlformats.org/officeDocument/2006/relationships/hyperlink" Target="https://www.icourse163.org/course/ZJU-1470434185" TargetMode="External"/><Relationship Id="rId4" Type="http://schemas.openxmlformats.org/officeDocument/2006/relationships/hyperlink" Target="https://www.icourse163.org/course/ZJU-1461787180" TargetMode="External"/><Relationship Id="rId3" Type="http://schemas.openxmlformats.org/officeDocument/2006/relationships/hyperlink" Target="mailto:wangee@zju.edu.cn" TargetMode="External"/><Relationship Id="rId2" Type="http://schemas.openxmlformats.org/officeDocument/2006/relationships/hyperlink" Target="mailto:eedhzh@zju.edu.cn" TargetMode="External"/><Relationship Id="rId1" Type="http://schemas.openxmlformats.org/officeDocument/2006/relationships/hyperlink" Target="ftp://10.71.21.18:8021/" TargetMode="Externa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4" name="Text Box 15"/>
          <p:cNvSpPr txBox="1"/>
          <p:nvPr/>
        </p:nvSpPr>
        <p:spPr>
          <a:xfrm>
            <a:off x="2351088" y="1844675"/>
            <a:ext cx="6985000" cy="1784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273050" indent="-2730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463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463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87450" indent="-2095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62405" indent="-2095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4400" b="1" dirty="0">
                <a:solidFill>
                  <a:srgbClr val="FFC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电路与电子技术实验</a:t>
            </a:r>
            <a:r>
              <a:rPr lang="en-US" altLang="zh-CN" sz="4400" b="1" dirty="0">
                <a:solidFill>
                  <a:srgbClr val="FFC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endParaRPr lang="en-US" altLang="zh-CN" sz="4400" b="1" dirty="0">
              <a:solidFill>
                <a:srgbClr val="FFC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4400" b="1" dirty="0">
                <a:solidFill>
                  <a:srgbClr val="FFC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—</a:t>
            </a:r>
            <a:r>
              <a:rPr lang="zh-CN" altLang="en-US" sz="4400" b="1" dirty="0">
                <a:solidFill>
                  <a:srgbClr val="FFC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前言</a:t>
            </a:r>
            <a:endParaRPr lang="zh-CN" altLang="en-US" sz="4400" b="1" dirty="0">
              <a:solidFill>
                <a:srgbClr val="FFC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195" name="矩形 1"/>
          <p:cNvSpPr/>
          <p:nvPr/>
        </p:nvSpPr>
        <p:spPr>
          <a:xfrm>
            <a:off x="3503613" y="4581525"/>
            <a:ext cx="4681537" cy="3381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</a:pPr>
            <a:r>
              <a:rPr lang="zh-CN" altLang="en-US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浙江大学电工电子教学中心    张德华</a:t>
            </a:r>
            <a:endParaRPr lang="en-US" altLang="zh-CN" dirty="0">
              <a:solidFill>
                <a:srgbClr val="FFFF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" name="Rectangle 7"/>
          <p:cNvSpPr/>
          <p:nvPr/>
        </p:nvSpPr>
        <p:spPr bwMode="auto">
          <a:xfrm>
            <a:off x="3395663" y="1943100"/>
            <a:ext cx="5194300" cy="8985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4000" b="1" i="0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 Box 4"/>
          <p:cNvSpPr txBox="1"/>
          <p:nvPr/>
        </p:nvSpPr>
        <p:spPr>
          <a:xfrm>
            <a:off x="4879975" y="1052830"/>
            <a:ext cx="1559560" cy="40767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273050" indent="-2730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463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463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87450" indent="-2095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62405" indent="-2095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 b="1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电路原理</a:t>
            </a:r>
            <a:r>
              <a:rPr lang="en-US" altLang="zh-CN" sz="1600" b="1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+</a:t>
            </a:r>
            <a:r>
              <a:rPr lang="zh-CN" altLang="en-US" sz="1600" b="1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实验</a:t>
            </a:r>
            <a:endParaRPr lang="zh-CN" altLang="en-US" sz="1600" b="1" dirty="0">
              <a:solidFill>
                <a:srgbClr val="C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5" name="Group 5"/>
          <p:cNvGrpSpPr/>
          <p:nvPr/>
        </p:nvGrpSpPr>
        <p:grpSpPr>
          <a:xfrm>
            <a:off x="2444750" y="5108575"/>
            <a:ext cx="6092825" cy="1096963"/>
            <a:chOff x="684" y="3275"/>
            <a:chExt cx="3838" cy="691"/>
          </a:xfrm>
        </p:grpSpPr>
        <p:sp>
          <p:nvSpPr>
            <p:cNvPr id="9302" name="Text Box 6"/>
            <p:cNvSpPr txBox="1"/>
            <p:nvPr/>
          </p:nvSpPr>
          <p:spPr>
            <a:xfrm>
              <a:off x="1798" y="3556"/>
              <a:ext cx="1573" cy="41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>
              <a:lvl1pPr marL="273050" indent="-2730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BD0D9"/>
                </a:buClr>
                <a:buSzPct val="95000"/>
                <a:buFont typeface="Wingdings 2" panose="05020102010507070707" pitchFamily="18" charset="2"/>
                <a:buChar char=""/>
                <a:defRPr sz="2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40080" indent="-24638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-24638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 2" panose="05020102010507070707" pitchFamily="18" charset="2"/>
                <a:buChar char=""/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187450" indent="-2095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BD0D9"/>
                </a:buClr>
                <a:buSzPct val="65000"/>
                <a:buFont typeface="Wingdings 2" panose="05020102010507070707" pitchFamily="18" charset="2"/>
                <a:buChar char="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462405" indent="-2095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相互融合的</a:t>
              </a:r>
              <a:r>
                <a:rPr lang="zh-CN" altLang="en-US" sz="1600" b="1" dirty="0">
                  <a:solidFill>
                    <a:srgbClr val="0000F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信息系统</a:t>
              </a:r>
              <a:endParaRPr lang="zh-CN" altLang="en-US" sz="1600" b="1" dirty="0">
                <a:solidFill>
                  <a:srgbClr val="0000F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marL="0" lvl="0" indent="0"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(</a:t>
              </a:r>
              <a:r>
                <a:rPr lang="zh-CN" altLang="en-US" sz="18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无处不在的</a:t>
              </a:r>
              <a:r>
                <a:rPr lang="en-US" altLang="zh-CN" sz="18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IT</a:t>
              </a:r>
              <a:r>
                <a:rPr lang="zh-CN" altLang="en-US" sz="18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产业</a:t>
              </a:r>
              <a:r>
                <a:rPr lang="en-US" altLang="zh-CN" sz="18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)</a:t>
              </a:r>
              <a:endParaRPr lang="en-US" altLang="zh-CN" sz="1800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303" name="Line 7"/>
            <p:cNvSpPr/>
            <p:nvPr/>
          </p:nvSpPr>
          <p:spPr>
            <a:xfrm>
              <a:off x="2626" y="3291"/>
              <a:ext cx="0" cy="265"/>
            </a:xfrm>
            <a:prstGeom prst="line">
              <a:avLst/>
            </a:prstGeom>
            <a:ln w="28575" cap="flat" cmpd="sng">
              <a:solidFill>
                <a:srgbClr val="3333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9304" name="Line 8"/>
            <p:cNvSpPr/>
            <p:nvPr/>
          </p:nvSpPr>
          <p:spPr>
            <a:xfrm>
              <a:off x="2865" y="3388"/>
              <a:ext cx="0" cy="176"/>
            </a:xfrm>
            <a:prstGeom prst="line">
              <a:avLst/>
            </a:prstGeom>
            <a:ln w="28575" cap="flat" cmpd="sng">
              <a:solidFill>
                <a:srgbClr val="3333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9305" name="Line 9"/>
            <p:cNvSpPr/>
            <p:nvPr/>
          </p:nvSpPr>
          <p:spPr>
            <a:xfrm>
              <a:off x="2359" y="3379"/>
              <a:ext cx="0" cy="177"/>
            </a:xfrm>
            <a:prstGeom prst="line">
              <a:avLst/>
            </a:prstGeom>
            <a:ln w="28575" cap="flat" cmpd="sng">
              <a:solidFill>
                <a:srgbClr val="3333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9306" name="Line 10"/>
            <p:cNvSpPr/>
            <p:nvPr/>
          </p:nvSpPr>
          <p:spPr>
            <a:xfrm>
              <a:off x="3095" y="3452"/>
              <a:ext cx="0" cy="112"/>
            </a:xfrm>
            <a:prstGeom prst="line">
              <a:avLst/>
            </a:prstGeom>
            <a:ln w="28575" cap="flat" cmpd="sng">
              <a:solidFill>
                <a:srgbClr val="3333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9307" name="Line 11"/>
            <p:cNvSpPr/>
            <p:nvPr/>
          </p:nvSpPr>
          <p:spPr>
            <a:xfrm>
              <a:off x="2102" y="3436"/>
              <a:ext cx="0" cy="112"/>
            </a:xfrm>
            <a:prstGeom prst="line">
              <a:avLst/>
            </a:prstGeom>
            <a:ln w="28575" cap="flat" cmpd="sng">
              <a:solidFill>
                <a:srgbClr val="3333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9308" name="Line 12"/>
            <p:cNvSpPr/>
            <p:nvPr/>
          </p:nvSpPr>
          <p:spPr>
            <a:xfrm>
              <a:off x="3105" y="3452"/>
              <a:ext cx="1417" cy="0"/>
            </a:xfrm>
            <a:prstGeom prst="line">
              <a:avLst/>
            </a:prstGeom>
            <a:ln w="28575" cap="flat" cmpd="sng">
              <a:solidFill>
                <a:srgbClr val="3333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309" name="Line 13"/>
            <p:cNvSpPr/>
            <p:nvPr/>
          </p:nvSpPr>
          <p:spPr>
            <a:xfrm>
              <a:off x="4522" y="3299"/>
              <a:ext cx="0" cy="137"/>
            </a:xfrm>
            <a:prstGeom prst="line">
              <a:avLst/>
            </a:prstGeom>
            <a:ln w="28575" cap="flat" cmpd="sng">
              <a:solidFill>
                <a:srgbClr val="3333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310" name="Line 14"/>
            <p:cNvSpPr/>
            <p:nvPr/>
          </p:nvSpPr>
          <p:spPr>
            <a:xfrm>
              <a:off x="3555" y="3291"/>
              <a:ext cx="0" cy="97"/>
            </a:xfrm>
            <a:prstGeom prst="line">
              <a:avLst/>
            </a:prstGeom>
            <a:ln w="28575" cap="flat" cmpd="sng">
              <a:solidFill>
                <a:srgbClr val="3333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311" name="Line 15"/>
            <p:cNvSpPr/>
            <p:nvPr/>
          </p:nvSpPr>
          <p:spPr>
            <a:xfrm>
              <a:off x="2865" y="3396"/>
              <a:ext cx="700" cy="0"/>
            </a:xfrm>
            <a:prstGeom prst="line">
              <a:avLst/>
            </a:prstGeom>
            <a:ln w="28575" cap="flat" cmpd="sng">
              <a:solidFill>
                <a:srgbClr val="3333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312" name="Line 16"/>
            <p:cNvSpPr/>
            <p:nvPr/>
          </p:nvSpPr>
          <p:spPr>
            <a:xfrm>
              <a:off x="1605" y="3275"/>
              <a:ext cx="0" cy="96"/>
            </a:xfrm>
            <a:prstGeom prst="line">
              <a:avLst/>
            </a:prstGeom>
            <a:ln w="28575" cap="flat" cmpd="sng">
              <a:solidFill>
                <a:srgbClr val="3333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313" name="Line 17"/>
            <p:cNvSpPr/>
            <p:nvPr/>
          </p:nvSpPr>
          <p:spPr>
            <a:xfrm>
              <a:off x="1605" y="3379"/>
              <a:ext cx="745" cy="0"/>
            </a:xfrm>
            <a:prstGeom prst="line">
              <a:avLst/>
            </a:prstGeom>
            <a:ln w="28575" cap="flat" cmpd="sng">
              <a:solidFill>
                <a:srgbClr val="3333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314" name="Line 18"/>
            <p:cNvSpPr/>
            <p:nvPr/>
          </p:nvSpPr>
          <p:spPr>
            <a:xfrm>
              <a:off x="684" y="3436"/>
              <a:ext cx="1418" cy="0"/>
            </a:xfrm>
            <a:prstGeom prst="line">
              <a:avLst/>
            </a:prstGeom>
            <a:ln w="28575" cap="flat" cmpd="sng">
              <a:solidFill>
                <a:srgbClr val="3333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315" name="Line 19"/>
            <p:cNvSpPr/>
            <p:nvPr/>
          </p:nvSpPr>
          <p:spPr>
            <a:xfrm>
              <a:off x="694" y="3275"/>
              <a:ext cx="0" cy="161"/>
            </a:xfrm>
            <a:prstGeom prst="line">
              <a:avLst/>
            </a:prstGeom>
            <a:ln w="28575" cap="flat" cmpd="sng">
              <a:solidFill>
                <a:srgbClr val="3333FF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20" name="Group 20"/>
          <p:cNvGrpSpPr/>
          <p:nvPr/>
        </p:nvGrpSpPr>
        <p:grpSpPr>
          <a:xfrm>
            <a:off x="9456738" y="1077913"/>
            <a:ext cx="830262" cy="1020762"/>
            <a:chOff x="5101" y="736"/>
            <a:chExt cx="451" cy="643"/>
          </a:xfrm>
        </p:grpSpPr>
        <p:sp>
          <p:nvSpPr>
            <p:cNvPr id="9300" name="AutoShape 21"/>
            <p:cNvSpPr/>
            <p:nvPr/>
          </p:nvSpPr>
          <p:spPr>
            <a:xfrm>
              <a:off x="5101" y="736"/>
              <a:ext cx="88" cy="643"/>
            </a:xfrm>
            <a:prstGeom prst="rightBrace">
              <a:avLst>
                <a:gd name="adj1" fmla="val 60890"/>
                <a:gd name="adj2" fmla="val 50000"/>
              </a:avLst>
            </a:prstGeom>
            <a:noFill/>
            <a:ln w="2857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>
              <a:lvl1pPr marL="273050" indent="-2730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BD0D9"/>
                </a:buClr>
                <a:buSzPct val="95000"/>
                <a:buFont typeface="Wingdings 2" panose="05020102010507070707" pitchFamily="18" charset="2"/>
                <a:buChar char=""/>
                <a:defRPr sz="2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40080" indent="-24638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-24638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 2" panose="05020102010507070707" pitchFamily="18" charset="2"/>
                <a:buChar char=""/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187450" indent="-2095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BD0D9"/>
                </a:buClr>
                <a:buSzPct val="65000"/>
                <a:buFont typeface="Wingdings 2" panose="05020102010507070707" pitchFamily="18" charset="2"/>
                <a:buChar char="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462405" indent="-2095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301" name="Text Box 22"/>
            <p:cNvSpPr txBox="1"/>
            <p:nvPr/>
          </p:nvSpPr>
          <p:spPr>
            <a:xfrm>
              <a:off x="5258" y="921"/>
              <a:ext cx="294" cy="329"/>
            </a:xfrm>
            <a:prstGeom prst="rect">
              <a:avLst/>
            </a:prstGeom>
            <a:solidFill>
              <a:srgbClr val="FFFFFF"/>
            </a:solidFill>
            <a:ln w="28575">
              <a:noFill/>
            </a:ln>
          </p:spPr>
          <p:txBody>
            <a:bodyPr lIns="0" tIns="0" rIns="0" bIns="0"/>
            <a:lstStyle>
              <a:lvl1pPr marL="273050" indent="-2730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BD0D9"/>
                </a:buClr>
                <a:buSzPct val="95000"/>
                <a:buFont typeface="Wingdings 2" panose="05020102010507070707" pitchFamily="18" charset="2"/>
                <a:buChar char=""/>
                <a:defRPr sz="2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40080" indent="-24638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-24638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 2" panose="05020102010507070707" pitchFamily="18" charset="2"/>
                <a:buChar char=""/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187450" indent="-2095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BD0D9"/>
                </a:buClr>
                <a:buSzPct val="65000"/>
                <a:buFont typeface="Wingdings 2" panose="05020102010507070707" pitchFamily="18" charset="2"/>
                <a:buChar char="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462405" indent="-2095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公共</a:t>
              </a:r>
              <a:endParaRPr lang="zh-CN" altLang="en-US" sz="1800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marL="0" lvl="0" indent="0"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基础</a:t>
              </a:r>
              <a:endParaRPr lang="zh-CN" altLang="en-US" sz="1800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413875" y="2684463"/>
            <a:ext cx="838200" cy="1020762"/>
            <a:chOff x="5074" y="1748"/>
            <a:chExt cx="451" cy="643"/>
          </a:xfrm>
        </p:grpSpPr>
        <p:sp>
          <p:nvSpPr>
            <p:cNvPr id="9298" name="AutoShape 24"/>
            <p:cNvSpPr/>
            <p:nvPr/>
          </p:nvSpPr>
          <p:spPr>
            <a:xfrm>
              <a:off x="5074" y="1748"/>
              <a:ext cx="88" cy="643"/>
            </a:xfrm>
            <a:prstGeom prst="rightBrace">
              <a:avLst>
                <a:gd name="adj1" fmla="val 60890"/>
                <a:gd name="adj2" fmla="val 50000"/>
              </a:avLst>
            </a:prstGeom>
            <a:noFill/>
            <a:ln w="2857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>
              <a:lvl1pPr marL="273050" indent="-2730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BD0D9"/>
                </a:buClr>
                <a:buSzPct val="95000"/>
                <a:buFont typeface="Wingdings 2" panose="05020102010507070707" pitchFamily="18" charset="2"/>
                <a:buChar char=""/>
                <a:defRPr sz="2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40080" indent="-24638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-24638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 2" panose="05020102010507070707" pitchFamily="18" charset="2"/>
                <a:buChar char=""/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187450" indent="-2095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BD0D9"/>
                </a:buClr>
                <a:buSzPct val="65000"/>
                <a:buFont typeface="Wingdings 2" panose="05020102010507070707" pitchFamily="18" charset="2"/>
                <a:buChar char="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462405" indent="-2095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299" name="Text Box 25"/>
            <p:cNvSpPr txBox="1"/>
            <p:nvPr/>
          </p:nvSpPr>
          <p:spPr>
            <a:xfrm>
              <a:off x="5230" y="1909"/>
              <a:ext cx="295" cy="330"/>
            </a:xfrm>
            <a:prstGeom prst="rect">
              <a:avLst/>
            </a:prstGeom>
            <a:solidFill>
              <a:srgbClr val="FFFFFF"/>
            </a:solidFill>
            <a:ln w="28575">
              <a:noFill/>
            </a:ln>
          </p:spPr>
          <p:txBody>
            <a:bodyPr lIns="0" tIns="0" rIns="0" bIns="0"/>
            <a:lstStyle>
              <a:lvl1pPr marL="273050" indent="-2730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BD0D9"/>
                </a:buClr>
                <a:buSzPct val="95000"/>
                <a:buFont typeface="Wingdings 2" panose="05020102010507070707" pitchFamily="18" charset="2"/>
                <a:buChar char=""/>
                <a:defRPr sz="2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40080" indent="-24638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-24638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 2" panose="05020102010507070707" pitchFamily="18" charset="2"/>
                <a:buChar char=""/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187450" indent="-2095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BD0D9"/>
                </a:buClr>
                <a:buSzPct val="65000"/>
                <a:buFont typeface="Wingdings 2" panose="05020102010507070707" pitchFamily="18" charset="2"/>
                <a:buChar char="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462405" indent="-2095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专门</a:t>
              </a:r>
              <a:endParaRPr lang="zh-CN" altLang="en-US" sz="1800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marL="0" lvl="0" indent="0"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技术</a:t>
              </a:r>
              <a:endParaRPr lang="zh-CN" altLang="en-US" sz="1800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456738" y="4457700"/>
            <a:ext cx="830262" cy="1595438"/>
            <a:chOff x="5101" y="2865"/>
            <a:chExt cx="479" cy="1005"/>
          </a:xfrm>
        </p:grpSpPr>
        <p:sp>
          <p:nvSpPr>
            <p:cNvPr id="9296" name="AutoShape 27"/>
            <p:cNvSpPr/>
            <p:nvPr/>
          </p:nvSpPr>
          <p:spPr>
            <a:xfrm>
              <a:off x="5101" y="2865"/>
              <a:ext cx="125" cy="1005"/>
            </a:xfrm>
            <a:prstGeom prst="rightBrace">
              <a:avLst>
                <a:gd name="adj1" fmla="val 67000"/>
                <a:gd name="adj2" fmla="val 50000"/>
              </a:avLst>
            </a:prstGeom>
            <a:noFill/>
            <a:ln w="2857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>
              <a:lvl1pPr marL="273050" indent="-2730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BD0D9"/>
                </a:buClr>
                <a:buSzPct val="95000"/>
                <a:buFont typeface="Wingdings 2" panose="05020102010507070707" pitchFamily="18" charset="2"/>
                <a:buChar char=""/>
                <a:defRPr sz="2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40080" indent="-24638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-24638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 2" panose="05020102010507070707" pitchFamily="18" charset="2"/>
                <a:buChar char=""/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187450" indent="-2095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BD0D9"/>
                </a:buClr>
                <a:buSzPct val="65000"/>
                <a:buFont typeface="Wingdings 2" panose="05020102010507070707" pitchFamily="18" charset="2"/>
                <a:buChar char="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462405" indent="-2095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297" name="Text Box 28"/>
            <p:cNvSpPr txBox="1"/>
            <p:nvPr/>
          </p:nvSpPr>
          <p:spPr>
            <a:xfrm>
              <a:off x="5286" y="3187"/>
              <a:ext cx="294" cy="329"/>
            </a:xfrm>
            <a:prstGeom prst="rect">
              <a:avLst/>
            </a:prstGeom>
            <a:solidFill>
              <a:srgbClr val="FFFFFF"/>
            </a:solidFill>
            <a:ln w="28575">
              <a:noFill/>
            </a:ln>
          </p:spPr>
          <p:txBody>
            <a:bodyPr lIns="0" tIns="0" rIns="0" bIns="0"/>
            <a:lstStyle>
              <a:lvl1pPr marL="273050" indent="-2730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BD0D9"/>
                </a:buClr>
                <a:buSzPct val="95000"/>
                <a:buFont typeface="Wingdings 2" panose="05020102010507070707" pitchFamily="18" charset="2"/>
                <a:buChar char=""/>
                <a:defRPr sz="2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40080" indent="-24638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-24638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 2" panose="05020102010507070707" pitchFamily="18" charset="2"/>
                <a:buChar char=""/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187450" indent="-2095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BD0D9"/>
                </a:buClr>
                <a:buSzPct val="65000"/>
                <a:buFont typeface="Wingdings 2" panose="05020102010507070707" pitchFamily="18" charset="2"/>
                <a:buChar char="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462405" indent="-2095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应用</a:t>
              </a:r>
              <a:endParaRPr lang="zh-CN" altLang="en-US" sz="1800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marL="0" lvl="0" indent="0"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领域</a:t>
              </a:r>
              <a:endParaRPr lang="zh-CN" altLang="en-US" sz="1800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1530350" y="2343150"/>
            <a:ext cx="7821613" cy="2790825"/>
            <a:chOff x="108" y="1533"/>
            <a:chExt cx="4900" cy="1758"/>
          </a:xfrm>
        </p:grpSpPr>
        <p:sp>
          <p:nvSpPr>
            <p:cNvPr id="9258" name="Text Box 30"/>
            <p:cNvSpPr txBox="1"/>
            <p:nvPr/>
          </p:nvSpPr>
          <p:spPr>
            <a:xfrm>
              <a:off x="108" y="2889"/>
              <a:ext cx="987" cy="378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tIns="0" rIns="0" bIns="0"/>
            <a:lstStyle>
              <a:lvl1pPr marL="273050" indent="-2730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BD0D9"/>
                </a:buClr>
                <a:buSzPct val="95000"/>
                <a:buFont typeface="Wingdings 2" panose="05020102010507070707" pitchFamily="18" charset="2"/>
                <a:buChar char=""/>
                <a:defRPr sz="2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40080" indent="-24638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-24638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 2" panose="05020102010507070707" pitchFamily="18" charset="2"/>
                <a:buChar char=""/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187450" indent="-2095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BD0D9"/>
                </a:buClr>
                <a:buSzPct val="65000"/>
                <a:buFont typeface="Wingdings 2" panose="05020102010507070707" pitchFamily="18" charset="2"/>
                <a:buChar char="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462405" indent="-2095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600" b="1" dirty="0">
                  <a:solidFill>
                    <a:srgbClr val="0000F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电力系统</a:t>
              </a:r>
              <a:endParaRPr lang="zh-CN" altLang="en-US" sz="1600" b="1" dirty="0">
                <a:solidFill>
                  <a:srgbClr val="0000F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(</a:t>
              </a:r>
              <a:r>
                <a:rPr lang="zh-CN" altLang="en-US" sz="16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能量传输与处理</a:t>
              </a:r>
              <a:r>
                <a:rPr lang="en-US" altLang="zh-CN" sz="16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)</a:t>
              </a:r>
              <a:endParaRPr lang="en-US" altLang="zh-CN" sz="1600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259" name="Text Box 31"/>
            <p:cNvSpPr txBox="1"/>
            <p:nvPr/>
          </p:nvSpPr>
          <p:spPr>
            <a:xfrm>
              <a:off x="1116" y="2897"/>
              <a:ext cx="954" cy="378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tIns="0" rIns="0" bIns="0"/>
            <a:lstStyle>
              <a:lvl1pPr marL="273050" indent="-2730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BD0D9"/>
                </a:buClr>
                <a:buSzPct val="95000"/>
                <a:buFont typeface="Wingdings 2" panose="05020102010507070707" pitchFamily="18" charset="2"/>
                <a:buChar char=""/>
                <a:defRPr sz="2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40080" indent="-24638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-24638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 2" panose="05020102010507070707" pitchFamily="18" charset="2"/>
                <a:buChar char=""/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187450" indent="-2095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BD0D9"/>
                </a:buClr>
                <a:buSzPct val="65000"/>
                <a:buFont typeface="Wingdings 2" panose="05020102010507070707" pitchFamily="18" charset="2"/>
                <a:buChar char="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462405" indent="-2095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600" b="1" dirty="0">
                  <a:solidFill>
                    <a:srgbClr val="0000F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控制系统</a:t>
              </a:r>
              <a:endParaRPr lang="zh-CN" altLang="en-US" sz="1600" b="1" dirty="0">
                <a:solidFill>
                  <a:srgbClr val="0000F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(</a:t>
              </a:r>
              <a:r>
                <a:rPr lang="zh-CN" altLang="en-US" sz="16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信号反馈与处理</a:t>
              </a:r>
              <a:r>
                <a:rPr lang="en-US" altLang="zh-CN" sz="1600" b="1" dirty="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)</a:t>
              </a:r>
              <a:endParaRPr lang="en-US" altLang="zh-CN" sz="1600" b="1" dirty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260" name="Text Box 32"/>
            <p:cNvSpPr txBox="1"/>
            <p:nvPr/>
          </p:nvSpPr>
          <p:spPr>
            <a:xfrm>
              <a:off x="2124" y="2905"/>
              <a:ext cx="951" cy="378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tIns="0" rIns="0" bIns="0"/>
            <a:lstStyle>
              <a:lvl1pPr marL="273050" indent="-2730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BD0D9"/>
                </a:buClr>
                <a:buSzPct val="95000"/>
                <a:buFont typeface="Wingdings 2" panose="05020102010507070707" pitchFamily="18" charset="2"/>
                <a:buChar char=""/>
                <a:defRPr sz="2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40080" indent="-24638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-24638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 2" panose="05020102010507070707" pitchFamily="18" charset="2"/>
                <a:buChar char=""/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187450" indent="-2095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BD0D9"/>
                </a:buClr>
                <a:buSzPct val="65000"/>
                <a:buFont typeface="Wingdings 2" panose="05020102010507070707" pitchFamily="18" charset="2"/>
                <a:buChar char="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462405" indent="-2095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600" b="1" dirty="0">
                  <a:solidFill>
                    <a:srgbClr val="0000F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通信系统</a:t>
              </a:r>
              <a:endParaRPr lang="zh-CN" altLang="en-US" sz="1600" b="1" dirty="0">
                <a:solidFill>
                  <a:srgbClr val="0000F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(</a:t>
              </a:r>
              <a:r>
                <a:rPr lang="zh-CN" altLang="en-US" sz="16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信号传输与处理</a:t>
              </a:r>
              <a:r>
                <a:rPr lang="en-US" altLang="zh-CN" sz="16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)</a:t>
              </a:r>
              <a:endParaRPr lang="en-US" altLang="zh-CN" sz="1600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261" name="Text Box 33"/>
            <p:cNvSpPr txBox="1"/>
            <p:nvPr/>
          </p:nvSpPr>
          <p:spPr>
            <a:xfrm>
              <a:off x="3112" y="2913"/>
              <a:ext cx="939" cy="378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tIns="0" rIns="0" bIns="0"/>
            <a:lstStyle>
              <a:lvl1pPr marL="273050" indent="-2730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BD0D9"/>
                </a:buClr>
                <a:buSzPct val="95000"/>
                <a:buFont typeface="Wingdings 2" panose="05020102010507070707" pitchFamily="18" charset="2"/>
                <a:buChar char=""/>
                <a:defRPr sz="2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40080" indent="-24638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-24638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 2" panose="05020102010507070707" pitchFamily="18" charset="2"/>
                <a:buChar char=""/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187450" indent="-2095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BD0D9"/>
                </a:buClr>
                <a:buSzPct val="65000"/>
                <a:buFont typeface="Wingdings 2" panose="05020102010507070707" pitchFamily="18" charset="2"/>
                <a:buChar char="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462405" indent="-2095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ts val="775"/>
                </a:spcBef>
                <a:buClrTx/>
                <a:buSzTx/>
                <a:buFontTx/>
                <a:buNone/>
              </a:pPr>
              <a:r>
                <a:rPr lang="zh-CN" altLang="en-US" sz="1600" b="1" dirty="0">
                  <a:solidFill>
                    <a:srgbClr val="0000F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信号处理系统*</a:t>
              </a:r>
              <a:endParaRPr lang="zh-CN" altLang="en-US" sz="1600" b="1" dirty="0">
                <a:solidFill>
                  <a:srgbClr val="0000F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262" name="Text Box 34"/>
            <p:cNvSpPr txBox="1"/>
            <p:nvPr/>
          </p:nvSpPr>
          <p:spPr>
            <a:xfrm>
              <a:off x="4069" y="2913"/>
              <a:ext cx="939" cy="378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tIns="0" rIns="0" bIns="0"/>
            <a:lstStyle>
              <a:lvl1pPr marL="273050" indent="-2730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BD0D9"/>
                </a:buClr>
                <a:buSzPct val="95000"/>
                <a:buFont typeface="Wingdings 2" panose="05020102010507070707" pitchFamily="18" charset="2"/>
                <a:buChar char=""/>
                <a:defRPr sz="2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40080" indent="-24638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-24638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 2" panose="05020102010507070707" pitchFamily="18" charset="2"/>
                <a:buChar char=""/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187450" indent="-2095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BD0D9"/>
                </a:buClr>
                <a:buSzPct val="65000"/>
                <a:buFont typeface="Wingdings 2" panose="05020102010507070707" pitchFamily="18" charset="2"/>
                <a:buChar char="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462405" indent="-2095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ts val="775"/>
                </a:spcBef>
                <a:buClrTx/>
                <a:buSzTx/>
                <a:buFontTx/>
                <a:buNone/>
              </a:pPr>
              <a:r>
                <a:rPr lang="zh-CN" altLang="en-US" sz="1600" b="1" dirty="0">
                  <a:solidFill>
                    <a:srgbClr val="0000F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计算机系统</a:t>
              </a:r>
              <a:endParaRPr lang="zh-CN" altLang="en-US" sz="1600" b="1" dirty="0">
                <a:solidFill>
                  <a:srgbClr val="0000F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263" name="Line 36"/>
            <p:cNvSpPr/>
            <p:nvPr/>
          </p:nvSpPr>
          <p:spPr>
            <a:xfrm>
              <a:off x="758" y="2688"/>
              <a:ext cx="3561" cy="0"/>
            </a:xfrm>
            <a:prstGeom prst="line">
              <a:avLst/>
            </a:prstGeom>
            <a:ln w="28575" cap="flat" cmpd="sng">
              <a:solidFill>
                <a:srgbClr val="3333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264" name="Line 37"/>
            <p:cNvSpPr/>
            <p:nvPr/>
          </p:nvSpPr>
          <p:spPr>
            <a:xfrm>
              <a:off x="2838" y="2532"/>
              <a:ext cx="1776" cy="0"/>
            </a:xfrm>
            <a:prstGeom prst="line">
              <a:avLst/>
            </a:prstGeom>
            <a:ln w="28575" cap="flat" cmpd="sng">
              <a:solidFill>
                <a:srgbClr val="3333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265" name="Line 38"/>
            <p:cNvSpPr/>
            <p:nvPr/>
          </p:nvSpPr>
          <p:spPr>
            <a:xfrm>
              <a:off x="666" y="2399"/>
              <a:ext cx="1113" cy="0"/>
            </a:xfrm>
            <a:prstGeom prst="line">
              <a:avLst/>
            </a:prstGeom>
            <a:ln w="28575" cap="flat" cmpd="sng">
              <a:solidFill>
                <a:srgbClr val="3333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266" name="Line 39"/>
            <p:cNvSpPr/>
            <p:nvPr/>
          </p:nvSpPr>
          <p:spPr>
            <a:xfrm>
              <a:off x="432" y="2399"/>
              <a:ext cx="275" cy="0"/>
            </a:xfrm>
            <a:prstGeom prst="line">
              <a:avLst/>
            </a:prstGeom>
            <a:ln w="28575" cap="flat" cmpd="sng">
              <a:solidFill>
                <a:srgbClr val="3333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267" name="Line 40"/>
            <p:cNvSpPr/>
            <p:nvPr/>
          </p:nvSpPr>
          <p:spPr>
            <a:xfrm>
              <a:off x="1540" y="2279"/>
              <a:ext cx="0" cy="112"/>
            </a:xfrm>
            <a:prstGeom prst="line">
              <a:avLst/>
            </a:prstGeom>
            <a:ln w="28575" cap="flat" cmpd="sng">
              <a:solidFill>
                <a:srgbClr val="3333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268" name="Line 41"/>
            <p:cNvSpPr/>
            <p:nvPr/>
          </p:nvSpPr>
          <p:spPr>
            <a:xfrm>
              <a:off x="427" y="2407"/>
              <a:ext cx="0" cy="474"/>
            </a:xfrm>
            <a:prstGeom prst="line">
              <a:avLst/>
            </a:prstGeom>
            <a:ln w="28575" cap="flat" cmpd="sng">
              <a:solidFill>
                <a:srgbClr val="3333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9269" name="Line 42"/>
            <p:cNvSpPr/>
            <p:nvPr/>
          </p:nvSpPr>
          <p:spPr>
            <a:xfrm>
              <a:off x="1789" y="2745"/>
              <a:ext cx="0" cy="160"/>
            </a:xfrm>
            <a:prstGeom prst="line">
              <a:avLst/>
            </a:prstGeom>
            <a:ln w="28575" cap="flat" cmpd="sng">
              <a:solidFill>
                <a:srgbClr val="3333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9270" name="Line 43"/>
            <p:cNvSpPr/>
            <p:nvPr/>
          </p:nvSpPr>
          <p:spPr>
            <a:xfrm>
              <a:off x="1789" y="2399"/>
              <a:ext cx="0" cy="394"/>
            </a:xfrm>
            <a:prstGeom prst="line">
              <a:avLst/>
            </a:prstGeom>
            <a:ln w="28575" cap="flat" cmpd="sng">
              <a:solidFill>
                <a:srgbClr val="3333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271" name="Line 44"/>
            <p:cNvSpPr/>
            <p:nvPr/>
          </p:nvSpPr>
          <p:spPr>
            <a:xfrm>
              <a:off x="4292" y="2287"/>
              <a:ext cx="0" cy="233"/>
            </a:xfrm>
            <a:prstGeom prst="line">
              <a:avLst/>
            </a:prstGeom>
            <a:ln w="28575" cap="flat" cmpd="sng">
              <a:solidFill>
                <a:srgbClr val="3333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272" name="Line 45"/>
            <p:cNvSpPr/>
            <p:nvPr/>
          </p:nvSpPr>
          <p:spPr>
            <a:xfrm>
              <a:off x="2617" y="2279"/>
              <a:ext cx="0" cy="498"/>
            </a:xfrm>
            <a:prstGeom prst="line">
              <a:avLst/>
            </a:prstGeom>
            <a:ln w="28575" cap="flat" cmpd="sng">
              <a:solidFill>
                <a:srgbClr val="3333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273" name="Line 46"/>
            <p:cNvSpPr/>
            <p:nvPr/>
          </p:nvSpPr>
          <p:spPr>
            <a:xfrm>
              <a:off x="2617" y="2737"/>
              <a:ext cx="0" cy="160"/>
            </a:xfrm>
            <a:prstGeom prst="line">
              <a:avLst/>
            </a:prstGeom>
            <a:ln w="28575" cap="flat" cmpd="sng">
              <a:solidFill>
                <a:srgbClr val="3333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9274" name="Line 47"/>
            <p:cNvSpPr/>
            <p:nvPr/>
          </p:nvSpPr>
          <p:spPr>
            <a:xfrm>
              <a:off x="2829" y="2536"/>
              <a:ext cx="0" cy="249"/>
            </a:xfrm>
            <a:prstGeom prst="line">
              <a:avLst/>
            </a:prstGeom>
            <a:ln w="28575" cap="flat" cmpd="sng">
              <a:solidFill>
                <a:srgbClr val="3333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275" name="Line 48"/>
            <p:cNvSpPr/>
            <p:nvPr/>
          </p:nvSpPr>
          <p:spPr>
            <a:xfrm>
              <a:off x="2829" y="2737"/>
              <a:ext cx="0" cy="168"/>
            </a:xfrm>
            <a:prstGeom prst="line">
              <a:avLst/>
            </a:prstGeom>
            <a:ln w="28575" cap="flat" cmpd="sng">
              <a:solidFill>
                <a:srgbClr val="3333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9276" name="Line 49"/>
            <p:cNvSpPr/>
            <p:nvPr/>
          </p:nvSpPr>
          <p:spPr>
            <a:xfrm>
              <a:off x="2341" y="2688"/>
              <a:ext cx="0" cy="217"/>
            </a:xfrm>
            <a:prstGeom prst="line">
              <a:avLst/>
            </a:prstGeom>
            <a:ln w="28575" cap="flat" cmpd="sng">
              <a:solidFill>
                <a:srgbClr val="3333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9277" name="Line 50"/>
            <p:cNvSpPr/>
            <p:nvPr/>
          </p:nvSpPr>
          <p:spPr>
            <a:xfrm flipH="1">
              <a:off x="758" y="1545"/>
              <a:ext cx="4" cy="1360"/>
            </a:xfrm>
            <a:prstGeom prst="line">
              <a:avLst/>
            </a:prstGeom>
            <a:ln w="28575" cap="flat" cmpd="sng">
              <a:solidFill>
                <a:srgbClr val="3333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9278" name="Line 51"/>
            <p:cNvSpPr/>
            <p:nvPr/>
          </p:nvSpPr>
          <p:spPr>
            <a:xfrm>
              <a:off x="1439" y="2697"/>
              <a:ext cx="0" cy="216"/>
            </a:xfrm>
            <a:prstGeom prst="line">
              <a:avLst/>
            </a:prstGeom>
            <a:ln w="28575" cap="flat" cmpd="sng">
              <a:solidFill>
                <a:srgbClr val="3333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9279" name="Line 52"/>
            <p:cNvSpPr/>
            <p:nvPr/>
          </p:nvSpPr>
          <p:spPr>
            <a:xfrm>
              <a:off x="3399" y="2692"/>
              <a:ext cx="0" cy="229"/>
            </a:xfrm>
            <a:prstGeom prst="line">
              <a:avLst/>
            </a:prstGeom>
            <a:ln w="28575" cap="flat" cmpd="sng">
              <a:solidFill>
                <a:srgbClr val="3333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9280" name="Line 53"/>
            <p:cNvSpPr/>
            <p:nvPr/>
          </p:nvSpPr>
          <p:spPr>
            <a:xfrm>
              <a:off x="3740" y="2536"/>
              <a:ext cx="0" cy="229"/>
            </a:xfrm>
            <a:prstGeom prst="line">
              <a:avLst/>
            </a:prstGeom>
            <a:ln w="28575" cap="flat" cmpd="sng">
              <a:solidFill>
                <a:srgbClr val="3333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281" name="Line 54"/>
            <p:cNvSpPr/>
            <p:nvPr/>
          </p:nvSpPr>
          <p:spPr>
            <a:xfrm>
              <a:off x="3740" y="2753"/>
              <a:ext cx="0" cy="168"/>
            </a:xfrm>
            <a:prstGeom prst="line">
              <a:avLst/>
            </a:prstGeom>
            <a:ln w="28575" cap="flat" cmpd="sng">
              <a:solidFill>
                <a:srgbClr val="3333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9282" name="Line 55"/>
            <p:cNvSpPr/>
            <p:nvPr/>
          </p:nvSpPr>
          <p:spPr>
            <a:xfrm>
              <a:off x="4319" y="2688"/>
              <a:ext cx="0" cy="233"/>
            </a:xfrm>
            <a:prstGeom prst="line">
              <a:avLst/>
            </a:prstGeom>
            <a:ln w="28575" cap="flat" cmpd="sng">
              <a:solidFill>
                <a:srgbClr val="3333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9283" name="Line 56"/>
            <p:cNvSpPr/>
            <p:nvPr/>
          </p:nvSpPr>
          <p:spPr>
            <a:xfrm>
              <a:off x="4614" y="2536"/>
              <a:ext cx="0" cy="120"/>
            </a:xfrm>
            <a:prstGeom prst="line">
              <a:avLst/>
            </a:prstGeom>
            <a:ln w="28575" cap="flat" cmpd="sng">
              <a:solidFill>
                <a:srgbClr val="3333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284" name="Line 57"/>
            <p:cNvSpPr/>
            <p:nvPr/>
          </p:nvSpPr>
          <p:spPr>
            <a:xfrm>
              <a:off x="4614" y="2624"/>
              <a:ext cx="0" cy="297"/>
            </a:xfrm>
            <a:prstGeom prst="line">
              <a:avLst/>
            </a:prstGeom>
            <a:ln w="28575" cap="flat" cmpd="sng">
              <a:solidFill>
                <a:srgbClr val="3333FF"/>
              </a:solidFill>
              <a:prstDash val="solid"/>
              <a:headEnd type="none" w="med" len="med"/>
              <a:tailEnd type="triangle" w="med" len="med"/>
            </a:ln>
          </p:spPr>
        </p:sp>
        <p:grpSp>
          <p:nvGrpSpPr>
            <p:cNvPr id="9285" name="Group 58"/>
            <p:cNvGrpSpPr/>
            <p:nvPr/>
          </p:nvGrpSpPr>
          <p:grpSpPr>
            <a:xfrm>
              <a:off x="4623" y="1533"/>
              <a:ext cx="276" cy="1372"/>
              <a:chOff x="4623" y="1533"/>
              <a:chExt cx="276" cy="1372"/>
            </a:xfrm>
          </p:grpSpPr>
          <p:sp>
            <p:nvSpPr>
              <p:cNvPr id="9293" name="Line 59"/>
              <p:cNvSpPr/>
              <p:nvPr/>
            </p:nvSpPr>
            <p:spPr>
              <a:xfrm>
                <a:off x="4623" y="1533"/>
                <a:ext cx="0" cy="63"/>
              </a:xfrm>
              <a:prstGeom prst="line">
                <a:avLst/>
              </a:prstGeom>
              <a:ln w="28575" cap="flat" cmpd="sng">
                <a:solidFill>
                  <a:srgbClr val="3333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9294" name="Line 60"/>
              <p:cNvSpPr/>
              <p:nvPr/>
            </p:nvSpPr>
            <p:spPr>
              <a:xfrm>
                <a:off x="4632" y="1588"/>
                <a:ext cx="267" cy="0"/>
              </a:xfrm>
              <a:prstGeom prst="line">
                <a:avLst/>
              </a:prstGeom>
              <a:ln w="28575" cap="flat" cmpd="sng">
                <a:solidFill>
                  <a:srgbClr val="3333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9295" name="Line 61"/>
              <p:cNvSpPr/>
              <p:nvPr/>
            </p:nvSpPr>
            <p:spPr>
              <a:xfrm>
                <a:off x="4899" y="1596"/>
                <a:ext cx="0" cy="1309"/>
              </a:xfrm>
              <a:prstGeom prst="line">
                <a:avLst/>
              </a:prstGeom>
              <a:ln w="28575" cap="flat" cmpd="sng">
                <a:solidFill>
                  <a:srgbClr val="3333FF"/>
                </a:solidFill>
                <a:prstDash val="solid"/>
                <a:headEnd type="none" w="med" len="med"/>
                <a:tailEnd type="triangle" w="med" len="med"/>
              </a:ln>
            </p:spPr>
          </p:sp>
        </p:grpSp>
        <p:sp>
          <p:nvSpPr>
            <p:cNvPr id="9286" name="Line 62"/>
            <p:cNvSpPr/>
            <p:nvPr/>
          </p:nvSpPr>
          <p:spPr>
            <a:xfrm>
              <a:off x="2484" y="2532"/>
              <a:ext cx="349" cy="0"/>
            </a:xfrm>
            <a:prstGeom prst="line">
              <a:avLst/>
            </a:prstGeom>
            <a:ln w="28575" cap="flat" cmpd="sng">
              <a:solidFill>
                <a:srgbClr val="3333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287" name="Line 63"/>
            <p:cNvSpPr/>
            <p:nvPr/>
          </p:nvSpPr>
          <p:spPr>
            <a:xfrm>
              <a:off x="1835" y="2532"/>
              <a:ext cx="736" cy="0"/>
            </a:xfrm>
            <a:prstGeom prst="line">
              <a:avLst/>
            </a:prstGeom>
            <a:ln w="28575" cap="flat" cmpd="sng">
              <a:solidFill>
                <a:srgbClr val="3333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288" name="Line 64"/>
            <p:cNvSpPr/>
            <p:nvPr/>
          </p:nvSpPr>
          <p:spPr>
            <a:xfrm>
              <a:off x="965" y="2532"/>
              <a:ext cx="957" cy="0"/>
            </a:xfrm>
            <a:prstGeom prst="line">
              <a:avLst/>
            </a:prstGeom>
            <a:ln w="28575" cap="flat" cmpd="sng">
              <a:solidFill>
                <a:srgbClr val="3333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289" name="Line 65"/>
            <p:cNvSpPr/>
            <p:nvPr/>
          </p:nvSpPr>
          <p:spPr>
            <a:xfrm>
              <a:off x="965" y="2721"/>
              <a:ext cx="0" cy="160"/>
            </a:xfrm>
            <a:prstGeom prst="line">
              <a:avLst/>
            </a:prstGeom>
            <a:ln w="28575" cap="flat" cmpd="sng">
              <a:solidFill>
                <a:srgbClr val="3333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9290" name="Line 66"/>
            <p:cNvSpPr/>
            <p:nvPr/>
          </p:nvSpPr>
          <p:spPr>
            <a:xfrm>
              <a:off x="965" y="2536"/>
              <a:ext cx="0" cy="217"/>
            </a:xfrm>
            <a:prstGeom prst="line">
              <a:avLst/>
            </a:prstGeom>
            <a:ln w="28575" cap="flat" cmpd="sng">
              <a:solidFill>
                <a:srgbClr val="3333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291" name="Line 67"/>
            <p:cNvSpPr/>
            <p:nvPr/>
          </p:nvSpPr>
          <p:spPr>
            <a:xfrm>
              <a:off x="1991" y="2732"/>
              <a:ext cx="0" cy="161"/>
            </a:xfrm>
            <a:prstGeom prst="line">
              <a:avLst/>
            </a:prstGeom>
            <a:ln w="28575" cap="flat" cmpd="sng">
              <a:solidFill>
                <a:srgbClr val="3333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9292" name="Line 68"/>
            <p:cNvSpPr/>
            <p:nvPr/>
          </p:nvSpPr>
          <p:spPr>
            <a:xfrm>
              <a:off x="1990" y="2543"/>
              <a:ext cx="0" cy="234"/>
            </a:xfrm>
            <a:prstGeom prst="line">
              <a:avLst/>
            </a:prstGeom>
            <a:ln w="28575" cap="flat" cmpd="sng">
              <a:solidFill>
                <a:srgbClr val="3333FF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69" name="Group 69"/>
          <p:cNvGrpSpPr/>
          <p:nvPr/>
        </p:nvGrpSpPr>
        <p:grpSpPr>
          <a:xfrm>
            <a:off x="2913063" y="2327275"/>
            <a:ext cx="6135687" cy="1365250"/>
            <a:chOff x="979" y="1523"/>
            <a:chExt cx="3865" cy="860"/>
          </a:xfrm>
        </p:grpSpPr>
        <p:sp>
          <p:nvSpPr>
            <p:cNvPr id="9238" name="Line 70"/>
            <p:cNvSpPr/>
            <p:nvPr/>
          </p:nvSpPr>
          <p:spPr>
            <a:xfrm>
              <a:off x="3850" y="2287"/>
              <a:ext cx="0" cy="96"/>
            </a:xfrm>
            <a:prstGeom prst="line">
              <a:avLst/>
            </a:prstGeom>
            <a:ln w="28575" cap="flat" cmpd="sng">
              <a:solidFill>
                <a:srgbClr val="3333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239" name="Line 71"/>
            <p:cNvSpPr/>
            <p:nvPr/>
          </p:nvSpPr>
          <p:spPr>
            <a:xfrm>
              <a:off x="3473" y="2383"/>
              <a:ext cx="368" cy="0"/>
            </a:xfrm>
            <a:prstGeom prst="line">
              <a:avLst/>
            </a:prstGeom>
            <a:ln w="28575" cap="flat" cmpd="sng">
              <a:solidFill>
                <a:srgbClr val="3333FF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9240" name="Group 72"/>
            <p:cNvGrpSpPr/>
            <p:nvPr/>
          </p:nvGrpSpPr>
          <p:grpSpPr>
            <a:xfrm>
              <a:off x="979" y="1523"/>
              <a:ext cx="3865" cy="852"/>
              <a:chOff x="979" y="1523"/>
              <a:chExt cx="3865" cy="852"/>
            </a:xfrm>
          </p:grpSpPr>
          <p:sp>
            <p:nvSpPr>
              <p:cNvPr id="9241" name="Line 73"/>
              <p:cNvSpPr/>
              <p:nvPr/>
            </p:nvSpPr>
            <p:spPr>
              <a:xfrm>
                <a:off x="3473" y="1700"/>
                <a:ext cx="0" cy="675"/>
              </a:xfrm>
              <a:prstGeom prst="line">
                <a:avLst/>
              </a:prstGeom>
              <a:ln w="28575" cap="flat" cmpd="sng">
                <a:solidFill>
                  <a:srgbClr val="3333FF"/>
                </a:solidFill>
                <a:prstDash val="solid"/>
                <a:headEnd type="none" w="med" len="med"/>
                <a:tailEnd type="none" w="med" len="med"/>
              </a:ln>
            </p:spPr>
          </p:sp>
          <p:grpSp>
            <p:nvGrpSpPr>
              <p:cNvPr id="9242" name="Group 74"/>
              <p:cNvGrpSpPr/>
              <p:nvPr/>
            </p:nvGrpSpPr>
            <p:grpSpPr>
              <a:xfrm>
                <a:off x="979" y="1523"/>
                <a:ext cx="3865" cy="756"/>
                <a:chOff x="979" y="1523"/>
                <a:chExt cx="3865" cy="756"/>
              </a:xfrm>
            </p:grpSpPr>
            <p:sp>
              <p:nvSpPr>
                <p:cNvPr id="9243" name="Text Box 75"/>
                <p:cNvSpPr txBox="1"/>
                <p:nvPr/>
              </p:nvSpPr>
              <p:spPr>
                <a:xfrm>
                  <a:off x="979" y="1845"/>
                  <a:ext cx="1132" cy="426"/>
                </a:xfrm>
                <a:prstGeom prst="rect">
                  <a:avLst/>
                </a:prstGeom>
                <a:solidFill>
                  <a:srgbClr val="FFFFFF"/>
                </a:solidFill>
                <a:ln w="28575" cap="flat" cmpd="sng">
                  <a:solidFill>
                    <a:srgbClr val="00000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/>
                <a:lstStyle>
                  <a:lvl1pPr marL="273050" indent="-2730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BD0D9"/>
                    </a:buClr>
                    <a:buSzPct val="95000"/>
                    <a:buFont typeface="Wingdings 2" panose="05020102010507070707" pitchFamily="18" charset="2"/>
                    <a:buChar char=""/>
                    <a:defRPr sz="26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40080" indent="-24638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85000"/>
                    <a:buFont typeface="Wingdings 2" panose="05020102010507070707" pitchFamily="18" charset="2"/>
                    <a:buChar char="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indent="-24638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70000"/>
                    <a:buFont typeface="Wingdings 2" panose="05020102010507070707" pitchFamily="18" charset="2"/>
                    <a:buChar char=""/>
                    <a:defRPr sz="21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87450" indent="-2095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BD0D9"/>
                    </a:buClr>
                    <a:buSzPct val="65000"/>
                    <a:buFont typeface="Wingdings 2" panose="05020102010507070707" pitchFamily="18" charset="2"/>
                    <a:buChar char="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462405" indent="-2095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zh-CN" altLang="en-US" sz="1600" b="1" dirty="0">
                      <a:solidFill>
                        <a:srgbClr val="0000F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电力电子技术</a:t>
                  </a:r>
                  <a:endParaRPr lang="zh-CN" altLang="en-US" sz="1600" b="1" dirty="0">
                    <a:solidFill>
                      <a:srgbClr val="0000F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1800" b="1" dirty="0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(</a:t>
                  </a:r>
                  <a:r>
                    <a:rPr lang="zh-CN" altLang="en-US" sz="1800" b="1" dirty="0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关注大功率</a:t>
                  </a:r>
                  <a:r>
                    <a:rPr lang="en-US" altLang="zh-CN" sz="1800" b="1" dirty="0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)</a:t>
                  </a:r>
                  <a:endParaRPr lang="en-US" altLang="zh-CN" sz="1800" b="1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9244" name="Text Box 76"/>
                <p:cNvSpPr txBox="1"/>
                <p:nvPr/>
              </p:nvSpPr>
              <p:spPr>
                <a:xfrm>
                  <a:off x="2304" y="1853"/>
                  <a:ext cx="1058" cy="426"/>
                </a:xfrm>
                <a:prstGeom prst="rect">
                  <a:avLst/>
                </a:prstGeom>
                <a:solidFill>
                  <a:srgbClr val="FFFFFF"/>
                </a:solidFill>
                <a:ln w="28575" cap="flat" cmpd="sng">
                  <a:solidFill>
                    <a:srgbClr val="00000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/>
                <a:lstStyle>
                  <a:lvl1pPr marL="273050" indent="-2730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BD0D9"/>
                    </a:buClr>
                    <a:buSzPct val="95000"/>
                    <a:buFont typeface="Wingdings 2" panose="05020102010507070707" pitchFamily="18" charset="2"/>
                    <a:buChar char=""/>
                    <a:defRPr sz="26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40080" indent="-24638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85000"/>
                    <a:buFont typeface="Wingdings 2" panose="05020102010507070707" pitchFamily="18" charset="2"/>
                    <a:buChar char="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indent="-24638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70000"/>
                    <a:buFont typeface="Wingdings 2" panose="05020102010507070707" pitchFamily="18" charset="2"/>
                    <a:buChar char=""/>
                    <a:defRPr sz="21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87450" indent="-2095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BD0D9"/>
                    </a:buClr>
                    <a:buSzPct val="65000"/>
                    <a:buFont typeface="Wingdings 2" panose="05020102010507070707" pitchFamily="18" charset="2"/>
                    <a:buChar char="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462405" indent="-2095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zh-CN" altLang="en-US" sz="1600" b="1" dirty="0">
                      <a:solidFill>
                        <a:srgbClr val="0000F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通信电路</a:t>
                  </a:r>
                  <a:endParaRPr lang="zh-CN" altLang="en-US" sz="1600" b="1" dirty="0">
                    <a:solidFill>
                      <a:srgbClr val="0000F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1800" b="1" dirty="0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(</a:t>
                  </a:r>
                  <a:r>
                    <a:rPr lang="zh-CN" altLang="en-US" sz="1800" b="1" dirty="0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关注高频段</a:t>
                  </a:r>
                  <a:r>
                    <a:rPr lang="en-US" altLang="zh-CN" sz="1800" b="1" dirty="0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)</a:t>
                  </a:r>
                  <a:endParaRPr lang="en-US" altLang="zh-CN" sz="1800" b="1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9245" name="Text Box 77"/>
                <p:cNvSpPr txBox="1"/>
                <p:nvPr/>
              </p:nvSpPr>
              <p:spPr>
                <a:xfrm>
                  <a:off x="3611" y="1853"/>
                  <a:ext cx="1233" cy="426"/>
                </a:xfrm>
                <a:prstGeom prst="rect">
                  <a:avLst/>
                </a:prstGeom>
                <a:solidFill>
                  <a:srgbClr val="FFFFFF"/>
                </a:solidFill>
                <a:ln w="28575" cap="flat" cmpd="sng">
                  <a:solidFill>
                    <a:srgbClr val="00000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/>
                <a:lstStyle>
                  <a:lvl1pPr marL="273050" indent="-2730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BD0D9"/>
                    </a:buClr>
                    <a:buSzPct val="95000"/>
                    <a:buFont typeface="Wingdings 2" panose="05020102010507070707" pitchFamily="18" charset="2"/>
                    <a:buChar char=""/>
                    <a:defRPr sz="26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40080" indent="-24638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85000"/>
                    <a:buFont typeface="Wingdings 2" panose="05020102010507070707" pitchFamily="18" charset="2"/>
                    <a:buChar char="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indent="-24638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70000"/>
                    <a:buFont typeface="Wingdings 2" panose="05020102010507070707" pitchFamily="18" charset="2"/>
                    <a:buChar char=""/>
                    <a:defRPr sz="21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87450" indent="-2095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BD0D9"/>
                    </a:buClr>
                    <a:buSzPct val="65000"/>
                    <a:buFont typeface="Wingdings 2" panose="05020102010507070707" pitchFamily="18" charset="2"/>
                    <a:buChar char="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462405" indent="-2095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zh-CN" altLang="en-US" sz="1600" b="1" dirty="0">
                      <a:solidFill>
                        <a:srgbClr val="0000F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微电子技术</a:t>
                  </a:r>
                  <a:endParaRPr lang="zh-CN" altLang="en-US" sz="1600" b="1" dirty="0">
                    <a:solidFill>
                      <a:srgbClr val="0000F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1800" b="1" dirty="0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(</a:t>
                  </a:r>
                  <a:r>
                    <a:rPr lang="zh-CN" altLang="en-US" sz="1800" b="1" dirty="0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集成芯片设计</a:t>
                  </a:r>
                  <a:r>
                    <a:rPr lang="en-US" altLang="zh-CN" sz="1800" b="1" dirty="0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)</a:t>
                  </a:r>
                  <a:endParaRPr lang="en-US" altLang="zh-CN" sz="1800" b="1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9246" name="Line 78"/>
                <p:cNvSpPr/>
                <p:nvPr/>
              </p:nvSpPr>
              <p:spPr>
                <a:xfrm>
                  <a:off x="1835" y="1700"/>
                  <a:ext cx="1638" cy="0"/>
                </a:xfrm>
                <a:prstGeom prst="line">
                  <a:avLst/>
                </a:prstGeom>
                <a:ln w="28575" cap="flat" cmpd="sng">
                  <a:solidFill>
                    <a:srgbClr val="3333FF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9247" name="Line 79"/>
                <p:cNvSpPr/>
                <p:nvPr/>
              </p:nvSpPr>
              <p:spPr>
                <a:xfrm>
                  <a:off x="1835" y="1708"/>
                  <a:ext cx="0" cy="137"/>
                </a:xfrm>
                <a:prstGeom prst="line">
                  <a:avLst/>
                </a:prstGeom>
                <a:ln w="28575" cap="flat" cmpd="sng">
                  <a:solidFill>
                    <a:srgbClr val="3333FF"/>
                  </a:solidFill>
                  <a:prstDash val="solid"/>
                  <a:headEnd type="none" w="med" len="med"/>
                  <a:tailEnd type="triangle" w="med" len="med"/>
                </a:ln>
              </p:spPr>
            </p:sp>
            <p:sp>
              <p:nvSpPr>
                <p:cNvPr id="9248" name="Line 80"/>
                <p:cNvSpPr/>
                <p:nvPr/>
              </p:nvSpPr>
              <p:spPr>
                <a:xfrm>
                  <a:off x="3068" y="1708"/>
                  <a:ext cx="0" cy="145"/>
                </a:xfrm>
                <a:prstGeom prst="line">
                  <a:avLst/>
                </a:prstGeom>
                <a:ln w="28575" cap="flat" cmpd="sng">
                  <a:solidFill>
                    <a:srgbClr val="3333FF"/>
                  </a:solidFill>
                  <a:prstDash val="solid"/>
                  <a:headEnd type="none" w="med" len="med"/>
                  <a:tailEnd type="triangle" w="med" len="med"/>
                </a:ln>
              </p:spPr>
            </p:sp>
            <p:sp>
              <p:nvSpPr>
                <p:cNvPr id="9249" name="Line 81"/>
                <p:cNvSpPr/>
                <p:nvPr/>
              </p:nvSpPr>
              <p:spPr>
                <a:xfrm>
                  <a:off x="2727" y="1523"/>
                  <a:ext cx="0" cy="242"/>
                </a:xfrm>
                <a:prstGeom prst="line">
                  <a:avLst/>
                </a:prstGeom>
                <a:ln w="28575" cap="flat" cmpd="sng">
                  <a:solidFill>
                    <a:srgbClr val="3333FF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9250" name="Line 82"/>
                <p:cNvSpPr/>
                <p:nvPr/>
              </p:nvSpPr>
              <p:spPr>
                <a:xfrm>
                  <a:off x="2414" y="1532"/>
                  <a:ext cx="0" cy="80"/>
                </a:xfrm>
                <a:prstGeom prst="line">
                  <a:avLst/>
                </a:prstGeom>
                <a:ln w="28575" cap="flat" cmpd="sng">
                  <a:solidFill>
                    <a:srgbClr val="3333FF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9251" name="Line 83"/>
                <p:cNvSpPr/>
                <p:nvPr/>
              </p:nvSpPr>
              <p:spPr>
                <a:xfrm>
                  <a:off x="1430" y="1620"/>
                  <a:ext cx="984" cy="0"/>
                </a:xfrm>
                <a:prstGeom prst="line">
                  <a:avLst/>
                </a:prstGeom>
                <a:ln w="28575" cap="flat" cmpd="sng">
                  <a:solidFill>
                    <a:srgbClr val="3333FF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9252" name="Line 84"/>
                <p:cNvSpPr/>
                <p:nvPr/>
              </p:nvSpPr>
              <p:spPr>
                <a:xfrm>
                  <a:off x="1430" y="1628"/>
                  <a:ext cx="0" cy="225"/>
                </a:xfrm>
                <a:prstGeom prst="line">
                  <a:avLst/>
                </a:prstGeom>
                <a:ln w="28575" cap="flat" cmpd="sng">
                  <a:solidFill>
                    <a:srgbClr val="3333FF"/>
                  </a:solidFill>
                  <a:prstDash val="solid"/>
                  <a:headEnd type="none" w="med" len="med"/>
                  <a:tailEnd type="triangle" w="med" len="med"/>
                </a:ln>
              </p:spPr>
            </p:sp>
            <p:sp>
              <p:nvSpPr>
                <p:cNvPr id="9253" name="Line 85"/>
                <p:cNvSpPr/>
                <p:nvPr/>
              </p:nvSpPr>
              <p:spPr>
                <a:xfrm>
                  <a:off x="3123" y="1523"/>
                  <a:ext cx="0" cy="81"/>
                </a:xfrm>
                <a:prstGeom prst="line">
                  <a:avLst/>
                </a:prstGeom>
                <a:ln w="28575" cap="flat" cmpd="sng">
                  <a:solidFill>
                    <a:srgbClr val="3333FF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9254" name="Line 86"/>
                <p:cNvSpPr/>
                <p:nvPr/>
              </p:nvSpPr>
              <p:spPr>
                <a:xfrm>
                  <a:off x="3132" y="1604"/>
                  <a:ext cx="773" cy="0"/>
                </a:xfrm>
                <a:prstGeom prst="line">
                  <a:avLst/>
                </a:prstGeom>
                <a:ln w="28575" cap="flat" cmpd="sng">
                  <a:solidFill>
                    <a:srgbClr val="3333FF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9255" name="Line 87"/>
                <p:cNvSpPr/>
                <p:nvPr/>
              </p:nvSpPr>
              <p:spPr>
                <a:xfrm>
                  <a:off x="3896" y="1612"/>
                  <a:ext cx="0" cy="225"/>
                </a:xfrm>
                <a:prstGeom prst="line">
                  <a:avLst/>
                </a:prstGeom>
                <a:ln w="28575" cap="flat" cmpd="sng">
                  <a:solidFill>
                    <a:srgbClr val="3333FF"/>
                  </a:solidFill>
                  <a:prstDash val="solid"/>
                  <a:headEnd type="none" w="med" len="med"/>
                  <a:tailEnd type="triangle" w="med" len="med"/>
                </a:ln>
              </p:spPr>
            </p:sp>
            <p:sp>
              <p:nvSpPr>
                <p:cNvPr id="9256" name="Line 88"/>
                <p:cNvSpPr/>
                <p:nvPr/>
              </p:nvSpPr>
              <p:spPr>
                <a:xfrm>
                  <a:off x="4236" y="1540"/>
                  <a:ext cx="0" cy="313"/>
                </a:xfrm>
                <a:prstGeom prst="line">
                  <a:avLst/>
                </a:prstGeom>
                <a:ln w="28575" cap="flat" cmpd="sng">
                  <a:solidFill>
                    <a:srgbClr val="3333FF"/>
                  </a:solidFill>
                  <a:prstDash val="solid"/>
                  <a:headEnd type="none" w="med" len="med"/>
                  <a:tailEnd type="triangle" w="med" len="med"/>
                </a:ln>
              </p:spPr>
            </p:sp>
            <p:sp>
              <p:nvSpPr>
                <p:cNvPr id="9257" name="Line 89"/>
                <p:cNvSpPr/>
                <p:nvPr/>
              </p:nvSpPr>
              <p:spPr>
                <a:xfrm>
                  <a:off x="2727" y="1708"/>
                  <a:ext cx="0" cy="145"/>
                </a:xfrm>
                <a:prstGeom prst="line">
                  <a:avLst/>
                </a:prstGeom>
                <a:ln w="28575" cap="flat" cmpd="sng">
                  <a:solidFill>
                    <a:srgbClr val="3333FF"/>
                  </a:solidFill>
                  <a:prstDash val="solid"/>
                  <a:headEnd type="none" w="med" len="med"/>
                  <a:tailEnd type="triangle" w="med" len="med"/>
                </a:ln>
              </p:spPr>
            </p:sp>
          </p:grpSp>
        </p:grpSp>
      </p:grpSp>
      <p:grpSp>
        <p:nvGrpSpPr>
          <p:cNvPr id="90" name="Group 90"/>
          <p:cNvGrpSpPr/>
          <p:nvPr/>
        </p:nvGrpSpPr>
        <p:grpSpPr>
          <a:xfrm>
            <a:off x="2357438" y="1460500"/>
            <a:ext cx="6792912" cy="919163"/>
            <a:chOff x="629" y="977"/>
            <a:chExt cx="4279" cy="579"/>
          </a:xfrm>
        </p:grpSpPr>
        <p:sp>
          <p:nvSpPr>
            <p:cNvPr id="9228" name="Text Box 91"/>
            <p:cNvSpPr txBox="1"/>
            <p:nvPr/>
          </p:nvSpPr>
          <p:spPr>
            <a:xfrm>
              <a:off x="2157" y="1282"/>
              <a:ext cx="1233" cy="241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>
              <a:lvl1pPr marL="273050" indent="-2730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BD0D9"/>
                </a:buClr>
                <a:buSzPct val="95000"/>
                <a:buFont typeface="Wingdings 2" panose="05020102010507070707" pitchFamily="18" charset="2"/>
                <a:buChar char=""/>
                <a:defRPr sz="2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40080" indent="-24638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-24638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 2" panose="05020102010507070707" pitchFamily="18" charset="2"/>
                <a:buChar char=""/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187450" indent="-2095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BD0D9"/>
                </a:buClr>
                <a:buSzPct val="65000"/>
                <a:buFont typeface="Wingdings 2" panose="05020102010507070707" pitchFamily="18" charset="2"/>
                <a:buChar char="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462405" indent="-2095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600" b="1" dirty="0">
                  <a:solidFill>
                    <a:srgbClr val="C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模拟电子技术</a:t>
              </a:r>
              <a:r>
                <a:rPr lang="en-US" altLang="zh-CN" sz="1600" b="1" dirty="0">
                  <a:solidFill>
                    <a:srgbClr val="C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+</a:t>
              </a:r>
              <a:r>
                <a:rPr lang="zh-CN" altLang="en-US" sz="1600" b="1" dirty="0">
                  <a:solidFill>
                    <a:srgbClr val="C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实验</a:t>
              </a:r>
              <a:endParaRPr lang="zh-CN" altLang="en-US" sz="1600" b="1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229" name="Text Box 92"/>
            <p:cNvSpPr txBox="1"/>
            <p:nvPr/>
          </p:nvSpPr>
          <p:spPr>
            <a:xfrm>
              <a:off x="3564" y="1282"/>
              <a:ext cx="1344" cy="241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>
              <a:lvl1pPr marL="273050" indent="-2730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BD0D9"/>
                </a:buClr>
                <a:buSzPct val="95000"/>
                <a:buFont typeface="Wingdings 2" panose="05020102010507070707" pitchFamily="18" charset="2"/>
                <a:buChar char=""/>
                <a:defRPr sz="2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40080" indent="-24638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-24638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 2" panose="05020102010507070707" pitchFamily="18" charset="2"/>
                <a:buChar char=""/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187450" indent="-2095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BD0D9"/>
                </a:buClr>
                <a:buSzPct val="65000"/>
                <a:buFont typeface="Wingdings 2" panose="05020102010507070707" pitchFamily="18" charset="2"/>
                <a:buChar char="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462405" indent="-2095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600" b="1" dirty="0">
                  <a:solidFill>
                    <a:srgbClr val="C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数字电子技术</a:t>
              </a:r>
              <a:r>
                <a:rPr lang="en-US" altLang="zh-CN" sz="1600" b="1" dirty="0">
                  <a:solidFill>
                    <a:srgbClr val="C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+</a:t>
              </a:r>
              <a:r>
                <a:rPr lang="zh-CN" altLang="en-US" sz="1600" b="1" dirty="0">
                  <a:solidFill>
                    <a:srgbClr val="C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实验</a:t>
              </a:r>
              <a:endParaRPr lang="zh-CN" altLang="en-US" sz="1600" b="1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230" name="Line 93"/>
            <p:cNvSpPr/>
            <p:nvPr/>
          </p:nvSpPr>
          <p:spPr>
            <a:xfrm>
              <a:off x="1402" y="1074"/>
              <a:ext cx="1003" cy="0"/>
            </a:xfrm>
            <a:prstGeom prst="line">
              <a:avLst/>
            </a:prstGeom>
            <a:ln w="28575" cap="flat" cmpd="sng">
              <a:solidFill>
                <a:srgbClr val="3333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231" name="Line 94"/>
            <p:cNvSpPr/>
            <p:nvPr/>
          </p:nvSpPr>
          <p:spPr>
            <a:xfrm>
              <a:off x="2414" y="985"/>
              <a:ext cx="0" cy="89"/>
            </a:xfrm>
            <a:prstGeom prst="line">
              <a:avLst/>
            </a:prstGeom>
            <a:ln w="28575" cap="flat" cmpd="sng">
              <a:solidFill>
                <a:srgbClr val="3333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232" name="Line 95"/>
            <p:cNvSpPr/>
            <p:nvPr/>
          </p:nvSpPr>
          <p:spPr>
            <a:xfrm>
              <a:off x="1402" y="1074"/>
              <a:ext cx="0" cy="233"/>
            </a:xfrm>
            <a:prstGeom prst="line">
              <a:avLst/>
            </a:prstGeom>
            <a:ln w="28575" cap="flat" cmpd="sng">
              <a:solidFill>
                <a:srgbClr val="3333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9233" name="Line 96"/>
            <p:cNvSpPr/>
            <p:nvPr/>
          </p:nvSpPr>
          <p:spPr>
            <a:xfrm flipH="1">
              <a:off x="2672" y="991"/>
              <a:ext cx="0" cy="297"/>
            </a:xfrm>
            <a:prstGeom prst="line">
              <a:avLst/>
            </a:prstGeom>
            <a:ln w="28575" cap="flat" cmpd="sng">
              <a:solidFill>
                <a:srgbClr val="3333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9234" name="Line 97"/>
            <p:cNvSpPr/>
            <p:nvPr/>
          </p:nvSpPr>
          <p:spPr>
            <a:xfrm>
              <a:off x="4236" y="1058"/>
              <a:ext cx="0" cy="225"/>
            </a:xfrm>
            <a:prstGeom prst="line">
              <a:avLst/>
            </a:prstGeom>
            <a:ln w="28575" cap="flat" cmpd="sng">
              <a:solidFill>
                <a:srgbClr val="3333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9235" name="Line 98"/>
            <p:cNvSpPr/>
            <p:nvPr/>
          </p:nvSpPr>
          <p:spPr>
            <a:xfrm>
              <a:off x="2957" y="977"/>
              <a:ext cx="0" cy="88"/>
            </a:xfrm>
            <a:prstGeom prst="line">
              <a:avLst/>
            </a:prstGeom>
            <a:ln w="28575" cap="flat" cmpd="sng">
              <a:solidFill>
                <a:srgbClr val="3333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236" name="Line 99"/>
            <p:cNvSpPr/>
            <p:nvPr/>
          </p:nvSpPr>
          <p:spPr>
            <a:xfrm>
              <a:off x="2957" y="1065"/>
              <a:ext cx="1274" cy="0"/>
            </a:xfrm>
            <a:prstGeom prst="line">
              <a:avLst/>
            </a:prstGeom>
            <a:ln w="28575" cap="flat" cmpd="sng">
              <a:solidFill>
                <a:srgbClr val="3333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237" name="Text Box 100"/>
            <p:cNvSpPr txBox="1"/>
            <p:nvPr/>
          </p:nvSpPr>
          <p:spPr>
            <a:xfrm>
              <a:off x="629" y="1315"/>
              <a:ext cx="1233" cy="241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>
              <a:lvl1pPr marL="273050" indent="-2730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BD0D9"/>
                </a:buClr>
                <a:buSzPct val="95000"/>
                <a:buFont typeface="Wingdings 2" panose="05020102010507070707" pitchFamily="18" charset="2"/>
                <a:buChar char=""/>
                <a:defRPr sz="2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40080" indent="-24638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-24638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 2" panose="05020102010507070707" pitchFamily="18" charset="2"/>
                <a:buChar char=""/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187450" indent="-2095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BD0D9"/>
                </a:buClr>
                <a:buSzPct val="65000"/>
                <a:buFont typeface="Wingdings 2" panose="05020102010507070707" pitchFamily="18" charset="2"/>
                <a:buChar char="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462405" indent="-2095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600" b="1" dirty="0">
                  <a:solidFill>
                    <a:srgbClr val="0000F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信号与系统</a:t>
              </a:r>
              <a:endParaRPr lang="zh-CN" altLang="en-US" sz="1600" b="1" dirty="0">
                <a:solidFill>
                  <a:srgbClr val="0000F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101" name="Rectangle 101"/>
          <p:cNvSpPr/>
          <p:nvPr/>
        </p:nvSpPr>
        <p:spPr>
          <a:xfrm>
            <a:off x="1790700" y="6418263"/>
            <a:ext cx="8118475" cy="33655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>
            <a:spAutoFit/>
          </a:bodyPr>
          <a:lstStyle>
            <a:lvl1pPr marL="273050" indent="-2730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463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463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87450" indent="-2095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62405" indent="-2095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 b="1" dirty="0">
                <a:latin typeface="Times New Roman" panose="02020603050405020304" pitchFamily="18" charset="0"/>
                <a:ea typeface="宋体" panose="02010600030101010101" pitchFamily="2" charset="-122"/>
              </a:rPr>
              <a:t>*：指各类信号处理课程，包括某些专业的专门课程（如生物医学工程、核电子学等）。 </a:t>
            </a:r>
            <a:endParaRPr lang="zh-CN" altLang="en-US" sz="16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227" name="标题 1"/>
          <p:cNvSpPr txBox="1"/>
          <p:nvPr/>
        </p:nvSpPr>
        <p:spPr>
          <a:xfrm>
            <a:off x="1114425" y="485775"/>
            <a:ext cx="8153400" cy="422275"/>
          </a:xfrm>
          <a:prstGeom prst="rect">
            <a:avLst/>
          </a:prstGeom>
          <a:noFill/>
          <a:ln w="9525">
            <a:noFill/>
          </a:ln>
        </p:spPr>
        <p:txBody>
          <a:bodyPr lIns="0" rIns="0" bIns="0" anchor="b" anchorCtr="0"/>
          <a:lstStyle>
            <a:lvl1pPr marL="273050" indent="-2730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463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463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87450" indent="-2095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62405" indent="-2095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Clr>
                <a:schemeClr val="accent1"/>
              </a:buClr>
              <a:buSzTx/>
              <a:buFont typeface="Wingdings" panose="05000000000000000000" pitchFamily="2" charset="2"/>
              <a:buChar char="n"/>
            </a:pPr>
            <a:r>
              <a:rPr lang="zh-CN" altLang="en-US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电气电子类课程体系</a:t>
            </a:r>
            <a:endParaRPr lang="zh-CN" altLang="en-US" sz="24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/>
      <p:bldP spid="101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2316163" y="1444625"/>
            <a:ext cx="7200900" cy="371475"/>
          </a:xfrm>
          <a:prstGeom prst="rect">
            <a:avLst/>
          </a:prstGeom>
          <a:noFill/>
          <a:ln w="12700">
            <a:noFill/>
            <a:miter lim="800000"/>
          </a:ln>
          <a:effectLst/>
        </p:spPr>
        <p:txBody>
          <a:bodyPr lIns="63500" tIns="25400" rIns="63500" bIns="25400">
            <a:spAutoFit/>
          </a:bodyPr>
          <a:lstStyle/>
          <a:p>
            <a:pPr marR="0" defTabSz="914400">
              <a:lnSpc>
                <a:spcPct val="87000"/>
              </a:lnSpc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400" kern="0" cap="none" spc="0" normalizeH="0" baseline="0" noProof="0" dirty="0"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掌握电子</a:t>
            </a:r>
            <a:r>
              <a:rPr kumimoji="0" lang="zh-CN" altLang="en-US" sz="2400" b="1" kern="0" cap="none" spc="0" normalizeH="0" baseline="0" noProof="0" dirty="0"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仪器</a:t>
            </a:r>
            <a:r>
              <a:rPr kumimoji="0" lang="zh-CN" altLang="en-US" sz="2400" kern="0" cap="none" spc="0" normalizeH="0" baseline="0" noProof="0" dirty="0"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使用的一般规律</a:t>
            </a:r>
            <a:endParaRPr kumimoji="0" lang="zh-CN" altLang="en-US" sz="2400" kern="0" cap="none" spc="0" normalizeH="0" baseline="0" noProof="0" dirty="0"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10243" name="标题 1"/>
          <p:cNvSpPr>
            <a:spLocks noGrp="1"/>
          </p:cNvSpPr>
          <p:nvPr>
            <p:ph type="title"/>
          </p:nvPr>
        </p:nvSpPr>
        <p:spPr>
          <a:xfrm>
            <a:off x="2057400" y="674688"/>
            <a:ext cx="8153400" cy="422275"/>
          </a:xfrm>
          <a:ln/>
        </p:spPr>
        <p:txBody>
          <a:bodyPr vert="horz" wrap="square" lIns="0" tIns="45720" rIns="0" bIns="0" anchor="b" anchorCtr="0"/>
          <a:p>
            <a:pPr>
              <a:buClr>
                <a:schemeClr val="accent1"/>
              </a:buClr>
              <a:buFont typeface="Wingdings" panose="05000000000000000000" pitchFamily="2" charset="2"/>
              <a:buChar char="n"/>
            </a:pPr>
            <a:r>
              <a:rPr lang="zh-CN" altLang="en-US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课程目标</a:t>
            </a:r>
            <a:endParaRPr lang="zh-CN" altLang="en-US" sz="24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2316163" y="2165350"/>
            <a:ext cx="7200900" cy="371475"/>
          </a:xfrm>
          <a:prstGeom prst="rect">
            <a:avLst/>
          </a:prstGeom>
          <a:noFill/>
          <a:ln w="12700">
            <a:noFill/>
            <a:miter lim="800000"/>
          </a:ln>
          <a:effectLst/>
        </p:spPr>
        <p:txBody>
          <a:bodyPr lIns="63500" tIns="25400" rIns="63500" bIns="25400">
            <a:spAutoFit/>
          </a:bodyPr>
          <a:lstStyle/>
          <a:p>
            <a:pPr marR="0" defTabSz="914400">
              <a:lnSpc>
                <a:spcPct val="87000"/>
              </a:lnSpc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400" kern="0" cap="none" spc="0" normalizeH="0" baseline="0" noProof="0" dirty="0"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常用电子</a:t>
            </a:r>
            <a:r>
              <a:rPr kumimoji="0" lang="zh-CN" altLang="en-US" sz="2400" b="1" kern="0" cap="none" spc="0" normalizeH="0" baseline="0" noProof="0" dirty="0"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元器件</a:t>
            </a:r>
            <a:r>
              <a:rPr kumimoji="0" lang="zh-CN" altLang="en-US" sz="2400" kern="0" cap="none" spc="0" normalizeH="0" baseline="0" noProof="0" dirty="0"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的特性测试</a:t>
            </a:r>
            <a:endParaRPr kumimoji="0" lang="zh-CN" altLang="en-US" sz="2400" kern="0" cap="none" spc="0" normalizeH="0" baseline="0" noProof="0" dirty="0"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2316163" y="2930525"/>
            <a:ext cx="7200900" cy="371475"/>
          </a:xfrm>
          <a:prstGeom prst="rect">
            <a:avLst/>
          </a:prstGeom>
          <a:noFill/>
          <a:ln w="12700">
            <a:noFill/>
            <a:miter lim="800000"/>
          </a:ln>
          <a:effectLst/>
        </p:spPr>
        <p:txBody>
          <a:bodyPr lIns="63500" tIns="25400" rIns="63500" bIns="25400">
            <a:spAutoFit/>
          </a:bodyPr>
          <a:lstStyle/>
          <a:p>
            <a:pPr marR="0" defTabSz="914400">
              <a:lnSpc>
                <a:spcPct val="87000"/>
              </a:lnSpc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400" kern="0" cap="none" spc="0" normalizeH="0" baseline="0" noProof="0" dirty="0"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单元电子</a:t>
            </a:r>
            <a:r>
              <a:rPr kumimoji="0" lang="zh-CN" altLang="en-US" sz="2400" b="1" kern="0" cap="none" spc="0" normalizeH="0" baseline="0" noProof="0" dirty="0"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电路</a:t>
            </a:r>
            <a:r>
              <a:rPr kumimoji="0" lang="zh-CN" altLang="en-US" sz="2400" kern="0" cap="none" spc="0" normalizeH="0" baseline="0" noProof="0" dirty="0"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的设计与特性测量</a:t>
            </a:r>
            <a:endParaRPr kumimoji="0" lang="zh-CN" altLang="en-US" sz="2400" kern="0" cap="none" spc="0" normalizeH="0" baseline="0" noProof="0" dirty="0"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 bwMode="auto">
          <a:xfrm>
            <a:off x="2316163" y="3651250"/>
            <a:ext cx="7650163" cy="371475"/>
          </a:xfrm>
          <a:prstGeom prst="rect">
            <a:avLst/>
          </a:prstGeom>
          <a:noFill/>
          <a:ln w="12700">
            <a:noFill/>
            <a:miter lim="800000"/>
          </a:ln>
          <a:effectLst/>
        </p:spPr>
        <p:txBody>
          <a:bodyPr lIns="63500" tIns="25400" rIns="63500" bIns="25400">
            <a:spAutoFit/>
          </a:bodyPr>
          <a:lstStyle/>
          <a:p>
            <a:pPr marR="0" defTabSz="914400">
              <a:lnSpc>
                <a:spcPct val="87000"/>
              </a:lnSpc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400" kern="0" cap="none" spc="0" normalizeH="0" baseline="0" noProof="0" dirty="0"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了解电子</a:t>
            </a:r>
            <a:r>
              <a:rPr kumimoji="0" lang="zh-CN" altLang="en-US" sz="2400" b="1" kern="0" cap="none" spc="0" normalizeH="0" baseline="0" noProof="0" dirty="0"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系统</a:t>
            </a:r>
            <a:r>
              <a:rPr kumimoji="0" lang="zh-CN" altLang="en-US" sz="2400" kern="0" cap="none" spc="0" normalizeH="0" baseline="0" noProof="0" dirty="0"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的组成及一般设计方法</a:t>
            </a:r>
            <a:endParaRPr kumimoji="0" lang="zh-CN" altLang="en-US" sz="2400" kern="0" cap="none" spc="0" normalizeH="0" baseline="0" noProof="0" dirty="0"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8" name="Rectangle 2"/>
          <p:cNvSpPr txBox="1">
            <a:spLocks noChangeArrowheads="1"/>
          </p:cNvSpPr>
          <p:nvPr/>
        </p:nvSpPr>
        <p:spPr bwMode="auto">
          <a:xfrm>
            <a:off x="2316163" y="4505325"/>
            <a:ext cx="7650163" cy="371475"/>
          </a:xfrm>
          <a:prstGeom prst="rect">
            <a:avLst/>
          </a:prstGeom>
          <a:noFill/>
          <a:ln w="12700">
            <a:noFill/>
            <a:miter lim="800000"/>
          </a:ln>
          <a:effectLst/>
        </p:spPr>
        <p:txBody>
          <a:bodyPr lIns="63500" tIns="25400" rIns="63500" bIns="25400">
            <a:spAutoFit/>
          </a:bodyPr>
          <a:lstStyle/>
          <a:p>
            <a:pPr marR="0" defTabSz="914400">
              <a:lnSpc>
                <a:spcPct val="87000"/>
              </a:lnSpc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400" kern="0" cap="none" spc="0" normalizeH="0" baseline="0" noProof="0" dirty="0"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学会电子电路</a:t>
            </a:r>
            <a:r>
              <a:rPr kumimoji="0" lang="zh-CN" altLang="en-US" sz="2400" b="1" kern="0" cap="none" spc="0" normalizeH="0" baseline="0" noProof="0" dirty="0"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仿真</a:t>
            </a:r>
            <a:r>
              <a:rPr kumimoji="0" lang="zh-CN" altLang="en-US" sz="2400" kern="0" cap="none" spc="0" normalizeH="0" baseline="0" noProof="0" dirty="0"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和设计软件的使用</a:t>
            </a:r>
            <a:endParaRPr kumimoji="0" lang="zh-CN" altLang="en-US" sz="2400" kern="0" cap="none" spc="0" normalizeH="0" baseline="0" noProof="0" dirty="0"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9" name="Rectangle 2"/>
          <p:cNvSpPr txBox="1">
            <a:spLocks noChangeArrowheads="1"/>
          </p:cNvSpPr>
          <p:nvPr/>
        </p:nvSpPr>
        <p:spPr bwMode="auto">
          <a:xfrm>
            <a:off x="2316163" y="5270500"/>
            <a:ext cx="7650163" cy="371475"/>
          </a:xfrm>
          <a:prstGeom prst="rect">
            <a:avLst/>
          </a:prstGeom>
          <a:noFill/>
          <a:ln w="12700">
            <a:noFill/>
            <a:miter lim="800000"/>
          </a:ln>
          <a:effectLst/>
        </p:spPr>
        <p:txBody>
          <a:bodyPr lIns="63500" tIns="25400" rIns="63500" bIns="25400">
            <a:spAutoFit/>
          </a:bodyPr>
          <a:lstStyle/>
          <a:p>
            <a:pPr marR="0" defTabSz="914400">
              <a:lnSpc>
                <a:spcPct val="87000"/>
              </a:lnSpc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400" kern="0" cap="none" spc="0" normalizeH="0" baseline="0" noProof="0" dirty="0"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学会书写规范的电子电路实验</a:t>
            </a:r>
            <a:r>
              <a:rPr kumimoji="0" lang="zh-CN" altLang="en-US" sz="2400" b="1" kern="0" cap="none" spc="0" normalizeH="0" baseline="0" noProof="0" dirty="0"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报告</a:t>
            </a:r>
            <a:endParaRPr kumimoji="0" lang="zh-CN" altLang="en-US" sz="2400" b="1" kern="0" cap="none" spc="0" normalizeH="0" baseline="0" noProof="0" dirty="0"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10" name="Rectangle 2"/>
          <p:cNvSpPr txBox="1">
            <a:spLocks noChangeArrowheads="1"/>
          </p:cNvSpPr>
          <p:nvPr/>
        </p:nvSpPr>
        <p:spPr bwMode="auto">
          <a:xfrm>
            <a:off x="2316163" y="6080125"/>
            <a:ext cx="7650163" cy="373063"/>
          </a:xfrm>
          <a:prstGeom prst="rect">
            <a:avLst/>
          </a:prstGeom>
          <a:noFill/>
          <a:ln w="12700">
            <a:noFill/>
            <a:miter lim="800000"/>
          </a:ln>
          <a:effectLst/>
        </p:spPr>
        <p:txBody>
          <a:bodyPr lIns="63500" tIns="25400" rIns="63500" bIns="25400">
            <a:spAutoFit/>
          </a:bodyPr>
          <a:lstStyle/>
          <a:p>
            <a:pPr marR="0" defTabSz="914400">
              <a:lnSpc>
                <a:spcPct val="87000"/>
              </a:lnSpc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400" kern="0" cap="none" spc="0" normalizeH="0" baseline="0" noProof="0" dirty="0"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掌握</a:t>
            </a:r>
            <a:r>
              <a:rPr kumimoji="0" lang="zh-CN" altLang="en-US" sz="2400" kern="0" cap="none" spc="0" normalizeH="0" baseline="0" noProof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电子电路实验</a:t>
            </a:r>
            <a:r>
              <a:rPr kumimoji="0" lang="zh-CN" altLang="en-US" sz="2400" kern="0" cap="none" spc="0" normalizeH="0" baseline="0" noProof="0" dirty="0"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的一般规律</a:t>
            </a:r>
            <a:endParaRPr kumimoji="0" lang="zh-CN" altLang="en-US" sz="2400" kern="0" cap="none" spc="0" normalizeH="0" baseline="0" noProof="0" dirty="0"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9" grpId="0"/>
      <p:bldP spid="1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2511425" y="1795463"/>
            <a:ext cx="7200900" cy="371475"/>
          </a:xfrm>
          <a:prstGeom prst="rect">
            <a:avLst/>
          </a:prstGeom>
          <a:noFill/>
          <a:ln w="12700">
            <a:noFill/>
            <a:miter lim="800000"/>
          </a:ln>
          <a:effectLst/>
        </p:spPr>
        <p:txBody>
          <a:bodyPr lIns="63500" tIns="25400" rIns="63500" bIns="25400">
            <a:spAutoFit/>
          </a:bodyPr>
          <a:lstStyle/>
          <a:p>
            <a:pPr marR="0" defTabSz="914400">
              <a:lnSpc>
                <a:spcPct val="87000"/>
              </a:lnSpc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kumimoji="0" lang="zh-CN" altLang="en-US" sz="2400" kern="0" cap="none" spc="0" normalizeH="0" baseline="0" noProof="0" dirty="0"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明确实验</a:t>
            </a:r>
            <a:r>
              <a:rPr kumimoji="0" lang="zh-CN" altLang="en-US" sz="2400" b="1" kern="0" cap="none" spc="0" normalizeH="0" baseline="0" noProof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目的</a:t>
            </a:r>
            <a:endParaRPr kumimoji="0" lang="zh-CN" altLang="en-US" sz="2400" b="1" kern="0" cap="none" spc="0" normalizeH="0" baseline="0" noProof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12291" name="标题 1"/>
          <p:cNvSpPr>
            <a:spLocks noGrp="1"/>
          </p:cNvSpPr>
          <p:nvPr>
            <p:ph type="title"/>
          </p:nvPr>
        </p:nvSpPr>
        <p:spPr>
          <a:xfrm>
            <a:off x="2208213" y="981075"/>
            <a:ext cx="8153400" cy="422275"/>
          </a:xfrm>
          <a:ln/>
        </p:spPr>
        <p:txBody>
          <a:bodyPr vert="horz" wrap="square" lIns="0" tIns="45720" rIns="0" bIns="0" anchor="b" anchorCtr="0"/>
          <a:p>
            <a:pPr>
              <a:buClr>
                <a:schemeClr val="accent1"/>
              </a:buClr>
              <a:buFont typeface="Wingdings" panose="05000000000000000000" pitchFamily="2" charset="2"/>
              <a:buChar char="n"/>
            </a:pPr>
            <a:r>
              <a:rPr lang="zh-CN" altLang="en-US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电子电路实验要求</a:t>
            </a:r>
            <a:endParaRPr lang="zh-CN" altLang="en-US" sz="24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2511425" y="2516188"/>
            <a:ext cx="7200900" cy="371475"/>
          </a:xfrm>
          <a:prstGeom prst="rect">
            <a:avLst/>
          </a:prstGeom>
          <a:noFill/>
          <a:ln w="12700">
            <a:noFill/>
            <a:miter lim="800000"/>
          </a:ln>
          <a:effectLst/>
        </p:spPr>
        <p:txBody>
          <a:bodyPr lIns="63500" tIns="25400" rIns="63500" bIns="25400">
            <a:spAutoFit/>
          </a:bodyPr>
          <a:lstStyle/>
          <a:p>
            <a:pPr marR="0" defTabSz="914400">
              <a:lnSpc>
                <a:spcPct val="87000"/>
              </a:lnSpc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kumimoji="0" lang="zh-CN" altLang="en-US" sz="2400" kern="0" cap="none" spc="0" normalizeH="0" baseline="0" noProof="0" dirty="0"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做好实验前的</a:t>
            </a:r>
            <a:r>
              <a:rPr kumimoji="0" lang="zh-CN" altLang="en-US" sz="2400" b="1" kern="0" cap="none" spc="0" normalizeH="0" baseline="0" noProof="0" dirty="0"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准备</a:t>
            </a:r>
            <a:r>
              <a:rPr kumimoji="0" lang="zh-CN" altLang="en-US" sz="2400" kern="0" cap="none" spc="0" normalizeH="0" baseline="0" noProof="0" dirty="0"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工作</a:t>
            </a:r>
            <a:endParaRPr kumimoji="0" lang="zh-CN" altLang="en-US" sz="2400" kern="0" cap="none" spc="0" normalizeH="0" baseline="0" noProof="0" dirty="0"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3411538" y="3235325"/>
            <a:ext cx="5378450" cy="371475"/>
          </a:xfrm>
          <a:prstGeom prst="rect">
            <a:avLst/>
          </a:prstGeom>
          <a:noFill/>
          <a:ln w="12700">
            <a:noFill/>
            <a:miter lim="800000"/>
          </a:ln>
          <a:effectLst/>
        </p:spPr>
        <p:txBody>
          <a:bodyPr lIns="63500" tIns="25400" rIns="63500" bIns="25400">
            <a:spAutoFit/>
          </a:bodyPr>
          <a:lstStyle/>
          <a:p>
            <a:pPr marR="0" defTabSz="914400">
              <a:lnSpc>
                <a:spcPct val="87000"/>
              </a:lnSpc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zh-CN" sz="2400" kern="0" cap="none" spc="0" normalizeH="0" baseline="0" noProof="0" dirty="0"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 </a:t>
            </a:r>
            <a:r>
              <a:rPr kumimoji="0" lang="zh-CN" altLang="en-US" sz="2400" kern="0" cap="none" spc="0" normalizeH="0" baseline="0" noProof="0" dirty="0"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实验</a:t>
            </a:r>
            <a:r>
              <a:rPr kumimoji="0" lang="zh-CN" altLang="en-US" sz="2400" b="1" kern="0" cap="none" spc="0" normalizeH="0" baseline="0" noProof="0" dirty="0"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方案</a:t>
            </a:r>
            <a:r>
              <a:rPr kumimoji="0" lang="zh-CN" altLang="en-US" sz="2400" kern="0" cap="none" spc="0" normalizeH="0" baseline="0" noProof="0" dirty="0"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设计</a:t>
            </a:r>
            <a:endParaRPr kumimoji="0" lang="zh-CN" altLang="en-US" sz="2400" kern="0" cap="none" spc="0" normalizeH="0" baseline="0" noProof="0" dirty="0"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 bwMode="auto">
          <a:xfrm>
            <a:off x="3411538" y="4495800"/>
            <a:ext cx="5715000" cy="371475"/>
          </a:xfrm>
          <a:prstGeom prst="rect">
            <a:avLst/>
          </a:prstGeom>
          <a:noFill/>
          <a:ln w="12700">
            <a:noFill/>
            <a:miter lim="800000"/>
          </a:ln>
          <a:effectLst/>
        </p:spPr>
        <p:txBody>
          <a:bodyPr lIns="63500" tIns="25400" rIns="63500" bIns="25400">
            <a:spAutoFit/>
          </a:bodyPr>
          <a:lstStyle/>
          <a:p>
            <a:pPr marR="0" defTabSz="914400">
              <a:lnSpc>
                <a:spcPct val="87000"/>
              </a:lnSpc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zh-CN" sz="2400" kern="0" cap="none" spc="0" normalizeH="0" baseline="0" noProof="0" dirty="0"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 </a:t>
            </a:r>
            <a:r>
              <a:rPr kumimoji="0" lang="zh-CN" altLang="en-US" sz="2400" kern="0" cap="none" spc="0" normalizeH="0" baseline="0" noProof="0" dirty="0"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实验</a:t>
            </a:r>
            <a:r>
              <a:rPr kumimoji="0" lang="zh-CN" altLang="en-US" sz="2400" b="1" kern="0" cap="none" spc="0" normalizeH="0" baseline="0" noProof="0" dirty="0"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预案</a:t>
            </a:r>
            <a:r>
              <a:rPr kumimoji="0" lang="zh-CN" altLang="en-US" sz="2400" kern="0" cap="none" spc="0" normalizeH="0" baseline="0" noProof="0" dirty="0"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设计</a:t>
            </a:r>
            <a:endParaRPr kumimoji="0" lang="zh-CN" altLang="en-US" sz="2400" kern="0" cap="none" spc="0" normalizeH="0" baseline="0" noProof="0" dirty="0"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8" name="Rectangle 2"/>
          <p:cNvSpPr txBox="1">
            <a:spLocks noChangeArrowheads="1"/>
          </p:cNvSpPr>
          <p:nvPr/>
        </p:nvSpPr>
        <p:spPr bwMode="auto">
          <a:xfrm>
            <a:off x="2511425" y="5800725"/>
            <a:ext cx="7650163" cy="371475"/>
          </a:xfrm>
          <a:prstGeom prst="rect">
            <a:avLst/>
          </a:prstGeom>
          <a:noFill/>
          <a:ln w="12700">
            <a:noFill/>
            <a:miter lim="800000"/>
          </a:ln>
          <a:effectLst/>
        </p:spPr>
        <p:txBody>
          <a:bodyPr lIns="63500" tIns="25400" rIns="63500" bIns="25400">
            <a:spAutoFit/>
          </a:bodyPr>
          <a:lstStyle/>
          <a:p>
            <a:pPr marR="0" defTabSz="914400">
              <a:lnSpc>
                <a:spcPct val="87000"/>
              </a:lnSpc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kumimoji="0" lang="zh-CN" altLang="en-US" sz="2400" kern="0" cap="none" spc="0" normalizeH="0" baseline="0" noProof="0" dirty="0"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养成良好的</a:t>
            </a:r>
            <a:r>
              <a:rPr kumimoji="0" lang="zh-CN" altLang="en-US" sz="2400" b="1" kern="0" cap="none" spc="0" normalizeH="0" baseline="0" noProof="0" dirty="0"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实验</a:t>
            </a:r>
            <a:r>
              <a:rPr kumimoji="0" lang="zh-CN" altLang="en-US" sz="2400" kern="0" cap="none" spc="0" normalizeH="0" baseline="0" noProof="0" dirty="0"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习惯</a:t>
            </a:r>
            <a:endParaRPr kumimoji="0" lang="zh-CN" altLang="en-US" sz="2400" kern="0" cap="none" spc="0" normalizeH="0" baseline="0" noProof="0" dirty="0"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9" name="Rectangle 2"/>
          <p:cNvSpPr txBox="1">
            <a:spLocks noChangeArrowheads="1"/>
          </p:cNvSpPr>
          <p:nvPr/>
        </p:nvSpPr>
        <p:spPr bwMode="auto">
          <a:xfrm>
            <a:off x="3411538" y="3865563"/>
            <a:ext cx="5378450" cy="371475"/>
          </a:xfrm>
          <a:prstGeom prst="rect">
            <a:avLst/>
          </a:prstGeom>
          <a:noFill/>
          <a:ln w="12700">
            <a:noFill/>
            <a:miter lim="800000"/>
          </a:ln>
          <a:effectLst/>
        </p:spPr>
        <p:txBody>
          <a:bodyPr lIns="63500" tIns="25400" rIns="63500" bIns="25400">
            <a:spAutoFit/>
          </a:bodyPr>
          <a:lstStyle/>
          <a:p>
            <a:pPr marR="0" defTabSz="914400">
              <a:lnSpc>
                <a:spcPct val="87000"/>
              </a:lnSpc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zh-CN" sz="2400" kern="0" cap="none" spc="0" normalizeH="0" baseline="0" noProof="0" dirty="0"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 </a:t>
            </a:r>
            <a:r>
              <a:rPr kumimoji="0" lang="zh-CN" altLang="en-US" sz="2400" kern="0" cap="none" spc="0" normalizeH="0" baseline="0" noProof="0" dirty="0"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方案电路的</a:t>
            </a:r>
            <a:r>
              <a:rPr kumimoji="0" lang="zh-CN" altLang="en-US" sz="2400" b="1" kern="0" cap="none" spc="0" normalizeH="0" baseline="0" noProof="0" dirty="0"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仿真</a:t>
            </a:r>
            <a:r>
              <a:rPr kumimoji="0" lang="zh-CN" altLang="en-US" sz="2400" kern="0" cap="none" spc="0" normalizeH="0" baseline="0" noProof="0" dirty="0"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分析</a:t>
            </a:r>
            <a:endParaRPr kumimoji="0" lang="zh-CN" altLang="en-US" sz="2400" kern="0" cap="none" spc="0" normalizeH="0" baseline="0" noProof="0" dirty="0"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10" name="Rectangle 2"/>
          <p:cNvSpPr txBox="1">
            <a:spLocks noChangeArrowheads="1"/>
          </p:cNvSpPr>
          <p:nvPr/>
        </p:nvSpPr>
        <p:spPr bwMode="auto">
          <a:xfrm>
            <a:off x="3411538" y="5081588"/>
            <a:ext cx="5715000" cy="371475"/>
          </a:xfrm>
          <a:prstGeom prst="rect">
            <a:avLst/>
          </a:prstGeom>
          <a:noFill/>
          <a:ln w="12700">
            <a:noFill/>
            <a:miter lim="800000"/>
          </a:ln>
          <a:effectLst/>
        </p:spPr>
        <p:txBody>
          <a:bodyPr lIns="63500" tIns="25400" rIns="63500" bIns="25400">
            <a:spAutoFit/>
          </a:bodyPr>
          <a:lstStyle/>
          <a:p>
            <a:pPr marR="0" defTabSz="914400">
              <a:lnSpc>
                <a:spcPct val="87000"/>
              </a:lnSpc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zh-CN" sz="2400" b="1" kern="0" cap="none" spc="0" normalizeH="0" baseline="0" noProof="0" dirty="0"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 </a:t>
            </a:r>
            <a:r>
              <a:rPr kumimoji="0" lang="zh-CN" altLang="en-US" sz="2400" b="1" kern="0" cap="none" spc="0" normalizeH="0" baseline="0" noProof="0" dirty="0"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拓展</a:t>
            </a:r>
            <a:r>
              <a:rPr kumimoji="0" lang="zh-CN" altLang="en-US" sz="2400" kern="0" cap="none" spc="0" normalizeH="0" baseline="0" noProof="0" dirty="0"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实验内容的设计</a:t>
            </a:r>
            <a:endParaRPr kumimoji="0" lang="zh-CN" altLang="en-US" sz="2400" kern="0" cap="none" spc="0" normalizeH="0" baseline="0" noProof="0" dirty="0"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9" grpId="0"/>
      <p:bldP spid="1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2495550" y="2408238"/>
            <a:ext cx="7200900" cy="373063"/>
          </a:xfrm>
          <a:prstGeom prst="rect">
            <a:avLst/>
          </a:prstGeom>
          <a:noFill/>
          <a:ln w="12700">
            <a:noFill/>
            <a:miter lim="800000"/>
          </a:ln>
          <a:effectLst/>
        </p:spPr>
        <p:txBody>
          <a:bodyPr lIns="63500" tIns="25400" rIns="63500" bIns="25400">
            <a:spAutoFit/>
          </a:bodyPr>
          <a:lstStyle/>
          <a:p>
            <a:pPr marL="342900" marR="0" indent="-342900" defTabSz="914400">
              <a:lnSpc>
                <a:spcPct val="87000"/>
              </a:lnSpc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kumimoji="0" lang="zh-CN" altLang="en-US" sz="2400" kern="0" cap="none" spc="0" normalizeH="0" baseline="0" noProof="0" dirty="0"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实验台仪器设备和实验对象合理布局</a:t>
            </a:r>
            <a:endParaRPr kumimoji="0" lang="zh-CN" altLang="en-US" sz="2400" kern="0" cap="none" spc="0" normalizeH="0" baseline="0" noProof="0" dirty="0"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14339" name="标题 1"/>
          <p:cNvSpPr>
            <a:spLocks noGrp="1"/>
          </p:cNvSpPr>
          <p:nvPr>
            <p:ph type="title"/>
          </p:nvPr>
        </p:nvSpPr>
        <p:spPr>
          <a:xfrm>
            <a:off x="2101850" y="1322388"/>
            <a:ext cx="8153400" cy="422275"/>
          </a:xfrm>
          <a:ln/>
        </p:spPr>
        <p:txBody>
          <a:bodyPr vert="horz" wrap="square" lIns="0" tIns="45720" rIns="0" bIns="0" anchor="b" anchorCtr="0"/>
          <a:p>
            <a:pPr>
              <a:buClr>
                <a:schemeClr val="accent1"/>
              </a:buClr>
              <a:buFont typeface="Wingdings" panose="05000000000000000000" pitchFamily="2" charset="2"/>
              <a:buChar char="n"/>
            </a:pPr>
            <a:r>
              <a:rPr lang="zh-CN" altLang="en-US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电子电路实验注意事项</a:t>
            </a:r>
            <a:endParaRPr lang="zh-CN" altLang="en-US" sz="24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2495550" y="3128963"/>
            <a:ext cx="6816725" cy="478790"/>
          </a:xfrm>
          <a:prstGeom prst="rect">
            <a:avLst/>
          </a:prstGeom>
          <a:noFill/>
          <a:ln w="12700">
            <a:noFill/>
            <a:miter lim="800000"/>
          </a:ln>
          <a:effectLst/>
        </p:spPr>
        <p:txBody>
          <a:bodyPr lIns="63500" tIns="25400" rIns="63500" bIns="25400">
            <a:spAutoFit/>
          </a:bodyPr>
          <a:lstStyle/>
          <a:p>
            <a:pPr marL="342900" marR="0" indent="-342900" defTabSz="914400">
              <a:lnSpc>
                <a:spcPct val="87000"/>
              </a:lnSpc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kumimoji="0" lang="zh-CN" altLang="en-US" sz="2400" kern="0" cap="none" spc="0" normalizeH="0" baseline="0" noProof="0" dirty="0"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重视</a:t>
            </a:r>
            <a:r>
              <a:rPr kumimoji="0" lang="zh-CN" altLang="en-US" sz="3200" kern="0" cap="none" spc="0" normalizeH="0" baseline="0" noProof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电源</a:t>
            </a:r>
            <a:r>
              <a:rPr kumimoji="0" lang="zh-CN" altLang="en-US" sz="2400" kern="0" cap="none" spc="0" normalizeH="0" baseline="0" noProof="0" dirty="0"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在实验过程中的重要性</a:t>
            </a:r>
            <a:endParaRPr kumimoji="0" lang="zh-CN" altLang="en-US" sz="2400" kern="0" cap="none" spc="0" normalizeH="0" baseline="0" noProof="0" dirty="0"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2495550" y="3803650"/>
            <a:ext cx="6816725" cy="424815"/>
          </a:xfrm>
          <a:prstGeom prst="rect">
            <a:avLst/>
          </a:prstGeom>
          <a:noFill/>
          <a:ln w="12700">
            <a:noFill/>
            <a:miter lim="800000"/>
          </a:ln>
          <a:effectLst/>
        </p:spPr>
        <p:txBody>
          <a:bodyPr lIns="63500" tIns="25400" rIns="63500" bIns="25400">
            <a:spAutoFit/>
          </a:bodyPr>
          <a:lstStyle/>
          <a:p>
            <a:pPr marL="342900" marR="0" indent="-342900" defTabSz="914400">
              <a:lnSpc>
                <a:spcPct val="87000"/>
              </a:lnSpc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kumimoji="0" lang="zh-CN" altLang="en-US" sz="2400" kern="0" cap="none" spc="0" normalizeH="0" baseline="0" noProof="0" dirty="0"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注意电子电路中的</a:t>
            </a:r>
            <a:r>
              <a:rPr kumimoji="0" lang="zh-CN" altLang="en-US" sz="2800" kern="0" cap="none" spc="0" normalizeH="0" baseline="0" noProof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接地</a:t>
            </a:r>
            <a:r>
              <a:rPr kumimoji="0" lang="zh-CN" altLang="en-US" sz="2400" kern="0" cap="none" spc="0" normalizeH="0" baseline="0" noProof="0" dirty="0"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问题</a:t>
            </a:r>
            <a:endParaRPr kumimoji="0" lang="zh-CN" altLang="en-US" sz="2400" kern="0" cap="none" spc="0" normalizeH="0" baseline="0" noProof="0" dirty="0"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9" name="Rectangle 2"/>
          <p:cNvSpPr txBox="1">
            <a:spLocks noChangeArrowheads="1"/>
          </p:cNvSpPr>
          <p:nvPr/>
        </p:nvSpPr>
        <p:spPr bwMode="auto">
          <a:xfrm>
            <a:off x="2495550" y="5287963"/>
            <a:ext cx="6816725" cy="373063"/>
          </a:xfrm>
          <a:prstGeom prst="rect">
            <a:avLst/>
          </a:prstGeom>
          <a:noFill/>
          <a:ln w="12700">
            <a:noFill/>
            <a:miter lim="800000"/>
          </a:ln>
          <a:effectLst/>
        </p:spPr>
        <p:txBody>
          <a:bodyPr lIns="63500" tIns="25400" rIns="63500" bIns="25400">
            <a:spAutoFit/>
          </a:bodyPr>
          <a:lstStyle/>
          <a:p>
            <a:pPr marL="342900" marR="0" indent="-342900" defTabSz="914400">
              <a:lnSpc>
                <a:spcPct val="87000"/>
              </a:lnSpc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kumimoji="0" lang="zh-CN" altLang="en-US" sz="2400" kern="0" cap="none" spc="0" normalizeH="0" baseline="0" noProof="0" dirty="0"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谨防带电作业</a:t>
            </a:r>
            <a:endParaRPr kumimoji="0" lang="zh-CN" altLang="en-US" sz="2400" kern="0" cap="none" spc="0" normalizeH="0" baseline="0" noProof="0" dirty="0"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11" name="Rectangle 2"/>
          <p:cNvSpPr txBox="1">
            <a:spLocks noChangeArrowheads="1"/>
          </p:cNvSpPr>
          <p:nvPr/>
        </p:nvSpPr>
        <p:spPr bwMode="auto">
          <a:xfrm>
            <a:off x="2495550" y="4568825"/>
            <a:ext cx="6816725" cy="373063"/>
          </a:xfrm>
          <a:prstGeom prst="rect">
            <a:avLst/>
          </a:prstGeom>
          <a:noFill/>
          <a:ln w="12700">
            <a:noFill/>
            <a:miter lim="800000"/>
          </a:ln>
          <a:effectLst/>
        </p:spPr>
        <p:txBody>
          <a:bodyPr lIns="63500" tIns="25400" rIns="63500" bIns="25400">
            <a:spAutoFit/>
          </a:bodyPr>
          <a:lstStyle/>
          <a:p>
            <a:pPr marL="342900" marR="0" indent="-342900" defTabSz="914400">
              <a:lnSpc>
                <a:spcPct val="87000"/>
              </a:lnSpc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kumimoji="0" lang="zh-CN" altLang="en-US" sz="2400" kern="0" cap="none" spc="0" normalizeH="0" baseline="0" noProof="0" dirty="0"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实验过程记录最原始数据</a:t>
            </a:r>
            <a:endParaRPr kumimoji="0" lang="zh-CN" altLang="en-US" sz="2400" kern="0" cap="none" spc="0" normalizeH="0" baseline="0" noProof="0" dirty="0"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9" grpId="0"/>
      <p:bldP spid="1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386" name="标题 1"/>
          <p:cNvSpPr>
            <a:spLocks noGrp="1"/>
          </p:cNvSpPr>
          <p:nvPr>
            <p:ph type="title"/>
          </p:nvPr>
        </p:nvSpPr>
        <p:spPr>
          <a:xfrm>
            <a:off x="2019300" y="908050"/>
            <a:ext cx="8153400" cy="422275"/>
          </a:xfrm>
          <a:ln/>
        </p:spPr>
        <p:txBody>
          <a:bodyPr vert="horz" wrap="square" lIns="0" tIns="45720" rIns="0" bIns="0" anchor="b" anchorCtr="0"/>
          <a:p>
            <a:pPr>
              <a:buClr>
                <a:schemeClr val="accent1"/>
              </a:buClr>
              <a:buFont typeface="Wingdings" panose="05000000000000000000" pitchFamily="2" charset="2"/>
              <a:buChar char="n"/>
            </a:pPr>
            <a:r>
              <a:rPr lang="zh-CN" altLang="en-US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电子电路实验课程特点</a:t>
            </a:r>
            <a:endParaRPr lang="zh-CN" altLang="en-US" sz="24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2674938" y="1943100"/>
            <a:ext cx="6886575" cy="371475"/>
          </a:xfrm>
          <a:prstGeom prst="rect">
            <a:avLst/>
          </a:prstGeom>
          <a:noFill/>
          <a:ln w="12700">
            <a:noFill/>
            <a:miter lim="800000"/>
          </a:ln>
          <a:effectLst/>
        </p:spPr>
        <p:txBody>
          <a:bodyPr lIns="63500" tIns="25400" rIns="63500" bIns="25400">
            <a:spAutoFit/>
          </a:bodyPr>
          <a:lstStyle/>
          <a:p>
            <a:pPr marL="342900" marR="0" indent="-342900" defTabSz="914400">
              <a:lnSpc>
                <a:spcPct val="87000"/>
              </a:lnSpc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kumimoji="0" lang="zh-CN" altLang="en-US" sz="2400" kern="0" cap="none" spc="0" normalizeH="0" baseline="0" noProof="0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</a:t>
            </a:r>
            <a:r>
              <a:rPr kumimoji="0" lang="zh-CN" altLang="en-US" sz="2400" b="1" kern="0" cap="none" spc="0" normalizeH="0" baseline="0" noProof="0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探究</a:t>
            </a:r>
            <a:r>
              <a:rPr kumimoji="0" lang="zh-CN" altLang="en-US" sz="2400" kern="0" cap="none" spc="0" normalizeH="0" baseline="0" noProof="0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性实验，</a:t>
            </a:r>
            <a:r>
              <a:rPr kumimoji="0" lang="zh-CN" altLang="en-US" sz="2400" kern="0" cap="none" spc="0" normalizeH="0" baseline="0" noProof="0" dirty="0"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学生为主，老师为辅</a:t>
            </a:r>
            <a:endParaRPr kumimoji="0" lang="zh-CN" altLang="en-US" sz="2400" kern="0" cap="none" spc="0" normalizeH="0" baseline="0" noProof="0" dirty="0"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2674938" y="2663825"/>
            <a:ext cx="6886575" cy="371475"/>
          </a:xfrm>
          <a:prstGeom prst="rect">
            <a:avLst/>
          </a:prstGeom>
          <a:noFill/>
          <a:ln w="12700">
            <a:noFill/>
            <a:miter lim="800000"/>
          </a:ln>
          <a:effectLst/>
        </p:spPr>
        <p:txBody>
          <a:bodyPr lIns="63500" tIns="25400" rIns="63500" bIns="25400">
            <a:spAutoFit/>
          </a:bodyPr>
          <a:lstStyle/>
          <a:p>
            <a:pPr marL="342900" marR="0" indent="-342900" defTabSz="914400">
              <a:lnSpc>
                <a:spcPct val="87000"/>
              </a:lnSpc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kumimoji="0" lang="zh-CN" altLang="en-US" sz="2400" kern="0" cap="none" spc="0" normalizeH="0" baseline="0" noProof="0" dirty="0"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 探索实验</a:t>
            </a:r>
            <a:r>
              <a:rPr kumimoji="0" lang="zh-CN" altLang="en-US" sz="2400" b="1" kern="0" cap="none" spc="0" normalizeH="0" baseline="0" noProof="0" dirty="0"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规律</a:t>
            </a:r>
            <a:r>
              <a:rPr kumimoji="0" lang="zh-CN" altLang="en-US" sz="2400" kern="0" cap="none" spc="0" normalizeH="0" baseline="0" noProof="0" dirty="0"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为主（具体实验仅是手段）</a:t>
            </a:r>
            <a:endParaRPr kumimoji="0" lang="zh-CN" altLang="en-US" sz="2400" kern="0" cap="none" spc="0" normalizeH="0" baseline="0" noProof="0" dirty="0"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8" name="Rectangle 2"/>
          <p:cNvSpPr txBox="1">
            <a:spLocks noChangeArrowheads="1"/>
          </p:cNvSpPr>
          <p:nvPr/>
        </p:nvSpPr>
        <p:spPr bwMode="auto">
          <a:xfrm>
            <a:off x="2674938" y="3473450"/>
            <a:ext cx="6886575" cy="373063"/>
          </a:xfrm>
          <a:prstGeom prst="rect">
            <a:avLst/>
          </a:prstGeom>
          <a:noFill/>
          <a:ln w="12700">
            <a:noFill/>
            <a:miter lim="800000"/>
          </a:ln>
          <a:effectLst/>
        </p:spPr>
        <p:txBody>
          <a:bodyPr lIns="63500" tIns="25400" rIns="63500" bIns="25400">
            <a:spAutoFit/>
          </a:bodyPr>
          <a:lstStyle/>
          <a:p>
            <a:pPr marL="342900" marR="0" indent="-342900" defTabSz="914400">
              <a:lnSpc>
                <a:spcPct val="87000"/>
              </a:lnSpc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kumimoji="0" lang="zh-CN" altLang="en-US" sz="2400" b="1" kern="0" cap="none" spc="0" normalizeH="0" baseline="0" noProof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 实验日志书写（记录重要体会</a:t>
            </a:r>
            <a:r>
              <a:rPr kumimoji="0" lang="zh-CN" altLang="en-US" sz="2400" kern="0" cap="none" spc="0" normalizeH="0" baseline="0" noProof="0" dirty="0"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）</a:t>
            </a:r>
            <a:endParaRPr kumimoji="0" lang="zh-CN" altLang="en-US" sz="2400" kern="0" cap="none" spc="0" normalizeH="0" baseline="0" noProof="0" dirty="0"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10" name="Rectangle 2"/>
          <p:cNvSpPr txBox="1">
            <a:spLocks noChangeArrowheads="1"/>
          </p:cNvSpPr>
          <p:nvPr/>
        </p:nvSpPr>
        <p:spPr bwMode="auto">
          <a:xfrm>
            <a:off x="2674938" y="4238625"/>
            <a:ext cx="6886575" cy="373063"/>
          </a:xfrm>
          <a:prstGeom prst="rect">
            <a:avLst/>
          </a:prstGeom>
          <a:noFill/>
          <a:ln w="12700">
            <a:noFill/>
            <a:miter lim="800000"/>
          </a:ln>
          <a:effectLst/>
        </p:spPr>
        <p:txBody>
          <a:bodyPr lIns="63500" tIns="25400" rIns="63500" bIns="25400">
            <a:spAutoFit/>
          </a:bodyPr>
          <a:lstStyle/>
          <a:p>
            <a:pPr marL="342900" marR="0" indent="-342900" defTabSz="914400">
              <a:lnSpc>
                <a:spcPct val="87000"/>
              </a:lnSpc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kumimoji="0" lang="zh-CN" altLang="en-US" sz="2400" kern="0" cap="none" spc="0" normalizeH="0" baseline="0" noProof="0" dirty="0"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 期末提交</a:t>
            </a:r>
            <a:r>
              <a:rPr kumimoji="0" lang="en-US" altLang="zh-CN" sz="2400" kern="0" cap="none" spc="0" normalizeH="0" baseline="0" noProof="0" dirty="0"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3K</a:t>
            </a:r>
            <a:r>
              <a:rPr kumimoji="0" lang="zh-CN" altLang="en-US" sz="2400" kern="0" cap="none" spc="0" normalizeH="0" baseline="0" noProof="0" dirty="0"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字的探究性实验体会</a:t>
            </a:r>
            <a:endParaRPr kumimoji="0" lang="zh-CN" altLang="en-US" sz="2400" kern="0" cap="none" spc="0" normalizeH="0" baseline="0" noProof="0" dirty="0"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8" grpId="0"/>
      <p:bldP spid="1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4" name="标题 1"/>
          <p:cNvSpPr>
            <a:spLocks noGrp="1"/>
          </p:cNvSpPr>
          <p:nvPr>
            <p:ph type="title"/>
          </p:nvPr>
        </p:nvSpPr>
        <p:spPr>
          <a:xfrm>
            <a:off x="2057400" y="228600"/>
            <a:ext cx="8153400" cy="422275"/>
          </a:xfrm>
          <a:ln/>
        </p:spPr>
        <p:txBody>
          <a:bodyPr vert="horz" wrap="square" lIns="0" tIns="45720" rIns="0" bIns="0" anchor="b" anchorCtr="0"/>
          <a:p>
            <a:pPr>
              <a:buClr>
                <a:schemeClr val="accent1"/>
              </a:buClr>
              <a:buFont typeface="Wingdings" panose="05000000000000000000" pitchFamily="2" charset="2"/>
              <a:buChar char="n"/>
            </a:pPr>
            <a:r>
              <a:rPr lang="zh-CN" altLang="en-US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电子电路实验课程实验报告要求</a:t>
            </a:r>
            <a:endParaRPr lang="zh-CN" altLang="en-US" sz="24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2405063" y="1943100"/>
            <a:ext cx="6886575" cy="373063"/>
          </a:xfrm>
          <a:prstGeom prst="rect">
            <a:avLst/>
          </a:prstGeom>
          <a:noFill/>
          <a:ln w="12700">
            <a:noFill/>
            <a:miter lim="800000"/>
          </a:ln>
          <a:effectLst/>
        </p:spPr>
        <p:txBody>
          <a:bodyPr lIns="63500" tIns="25400" rIns="63500" bIns="25400">
            <a:spAutoFit/>
          </a:bodyPr>
          <a:lstStyle/>
          <a:p>
            <a:pPr marR="0" defTabSz="914400">
              <a:lnSpc>
                <a:spcPct val="87000"/>
              </a:lnSpc>
              <a:buClrTx/>
              <a:buSzPct val="75000"/>
              <a:buFont typeface="Wingdings" panose="05000000000000000000" pitchFamily="2" charset="2"/>
              <a:buChar char="u"/>
              <a:defRPr/>
            </a:pPr>
            <a:r>
              <a:rPr kumimoji="0" lang="zh-CN" altLang="en-US" sz="2400" kern="0" cap="none" spc="0" normalizeH="0" baseline="0" noProof="0" dirty="0">
                <a:latin typeface="楷体" panose="02010609060101010101" pitchFamily="49" charset="-122"/>
                <a:ea typeface="楷体" panose="02010609060101010101" pitchFamily="49" charset="-122"/>
                <a:cs typeface="+mj-cs"/>
              </a:rPr>
              <a:t> 实验目的</a:t>
            </a:r>
            <a:endParaRPr kumimoji="0" lang="zh-CN" altLang="en-US" sz="2400" kern="0" cap="none" spc="0" normalizeH="0" baseline="0" noProof="0" dirty="0">
              <a:latin typeface="楷体" panose="02010609060101010101" pitchFamily="49" charset="-122"/>
              <a:ea typeface="楷体" panose="02010609060101010101" pitchFamily="49" charset="-122"/>
              <a:cs typeface="+mj-cs"/>
            </a:endParaRPr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2405063" y="2528888"/>
            <a:ext cx="6886575" cy="373063"/>
          </a:xfrm>
          <a:prstGeom prst="rect">
            <a:avLst/>
          </a:prstGeom>
          <a:noFill/>
          <a:ln w="12700">
            <a:noFill/>
            <a:miter lim="800000"/>
          </a:ln>
          <a:effectLst/>
        </p:spPr>
        <p:txBody>
          <a:bodyPr lIns="63500" tIns="25400" rIns="63500" bIns="25400">
            <a:spAutoFit/>
          </a:bodyPr>
          <a:lstStyle/>
          <a:p>
            <a:pPr marR="0" defTabSz="914400">
              <a:lnSpc>
                <a:spcPct val="87000"/>
              </a:lnSpc>
              <a:buClrTx/>
              <a:buSzPct val="75000"/>
              <a:buFont typeface="Wingdings" panose="05000000000000000000" pitchFamily="2" charset="2"/>
              <a:buChar char="u"/>
              <a:defRPr/>
            </a:pPr>
            <a:r>
              <a:rPr kumimoji="0" lang="zh-CN" altLang="en-US" sz="2400" kern="0" cap="none" spc="0" normalizeH="0" baseline="0" noProof="0" dirty="0">
                <a:latin typeface="楷体" panose="02010609060101010101" pitchFamily="49" charset="-122"/>
                <a:ea typeface="楷体" panose="02010609060101010101" pitchFamily="49" charset="-122"/>
                <a:cs typeface="+mj-cs"/>
              </a:rPr>
              <a:t> 基本实验内容</a:t>
            </a:r>
            <a:endParaRPr kumimoji="0" lang="zh-CN" altLang="en-US" sz="2400" kern="0" cap="none" spc="0" normalizeH="0" baseline="0" noProof="0" dirty="0">
              <a:latin typeface="楷体" panose="02010609060101010101" pitchFamily="49" charset="-122"/>
              <a:ea typeface="楷体" panose="02010609060101010101" pitchFamily="49" charset="-122"/>
              <a:cs typeface="+mj-cs"/>
            </a:endParaRPr>
          </a:p>
        </p:txBody>
      </p:sp>
      <p:sp>
        <p:nvSpPr>
          <p:cNvPr id="8" name="Rectangle 2"/>
          <p:cNvSpPr txBox="1">
            <a:spLocks noChangeArrowheads="1"/>
          </p:cNvSpPr>
          <p:nvPr/>
        </p:nvSpPr>
        <p:spPr bwMode="auto">
          <a:xfrm>
            <a:off x="2855913" y="3068638"/>
            <a:ext cx="6884988" cy="373063"/>
          </a:xfrm>
          <a:prstGeom prst="rect">
            <a:avLst/>
          </a:prstGeom>
          <a:noFill/>
          <a:ln w="12700">
            <a:noFill/>
            <a:miter lim="800000"/>
          </a:ln>
          <a:effectLst/>
        </p:spPr>
        <p:txBody>
          <a:bodyPr lIns="63500" tIns="25400" rIns="63500" bIns="25400">
            <a:spAutoFit/>
          </a:bodyPr>
          <a:lstStyle/>
          <a:p>
            <a:pPr marR="0" defTabSz="914400">
              <a:lnSpc>
                <a:spcPct val="87000"/>
              </a:lnSpc>
              <a:buClrTx/>
              <a:buSzTx/>
              <a:buFont typeface="Wingdings" panose="05000000000000000000" pitchFamily="2" charset="2"/>
              <a:buChar char="ü"/>
              <a:defRPr/>
            </a:pPr>
            <a:r>
              <a:rPr kumimoji="0" lang="zh-CN" altLang="en-US" sz="2400" kern="0" cap="none" spc="0" normalizeH="0" baseline="0" noProof="0" dirty="0">
                <a:latin typeface="楷体" panose="02010609060101010101" pitchFamily="49" charset="-122"/>
                <a:ea typeface="楷体" panose="02010609060101010101" pitchFamily="49" charset="-122"/>
                <a:cs typeface="+mj-cs"/>
              </a:rPr>
              <a:t>内容</a:t>
            </a:r>
            <a:r>
              <a:rPr kumimoji="0" lang="en-US" altLang="zh-CN" sz="2400" kern="0" cap="none" spc="0" normalizeH="0" baseline="0" noProof="0" dirty="0">
                <a:latin typeface="楷体" panose="02010609060101010101" pitchFamily="49" charset="-122"/>
                <a:ea typeface="楷体" panose="02010609060101010101" pitchFamily="49" charset="-122"/>
                <a:cs typeface="+mj-cs"/>
              </a:rPr>
              <a:t>x</a:t>
            </a:r>
            <a:endParaRPr kumimoji="0" lang="zh-CN" altLang="en-US" sz="2400" kern="0" cap="none" spc="0" normalizeH="0" baseline="0" noProof="0" dirty="0">
              <a:latin typeface="楷体" panose="02010609060101010101" pitchFamily="49" charset="-122"/>
              <a:ea typeface="楷体" panose="02010609060101010101" pitchFamily="49" charset="-122"/>
              <a:cs typeface="+mj-cs"/>
            </a:endParaRPr>
          </a:p>
        </p:txBody>
      </p:sp>
      <p:sp>
        <p:nvSpPr>
          <p:cNvPr id="10" name="Rectangle 2"/>
          <p:cNvSpPr txBox="1">
            <a:spLocks noChangeArrowheads="1"/>
          </p:cNvSpPr>
          <p:nvPr/>
        </p:nvSpPr>
        <p:spPr bwMode="auto">
          <a:xfrm>
            <a:off x="3170238" y="3654425"/>
            <a:ext cx="6111875" cy="371475"/>
          </a:xfrm>
          <a:prstGeom prst="rect">
            <a:avLst/>
          </a:prstGeom>
          <a:noFill/>
          <a:ln w="12700">
            <a:noFill/>
            <a:miter lim="800000"/>
          </a:ln>
          <a:effectLst/>
        </p:spPr>
        <p:txBody>
          <a:bodyPr lIns="63500" tIns="25400" rIns="63500" bIns="25400">
            <a:spAutoFit/>
          </a:bodyPr>
          <a:lstStyle/>
          <a:p>
            <a:pPr marR="0" defTabSz="914400">
              <a:lnSpc>
                <a:spcPct val="87000"/>
              </a:lnSpc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400" kern="0" cap="none" spc="0" normalizeH="0" baseline="0" noProof="0" dirty="0">
                <a:latin typeface="楷体" panose="02010609060101010101" pitchFamily="49" charset="-122"/>
                <a:ea typeface="楷体" panose="02010609060101010101" pitchFamily="49" charset="-122"/>
                <a:cs typeface="+mj-cs"/>
              </a:rPr>
              <a:t> 测试方案（含仿真与硬件测试两种类型）</a:t>
            </a:r>
            <a:endParaRPr kumimoji="0" lang="zh-CN" altLang="en-US" sz="2400" kern="0" cap="none" spc="0" normalizeH="0" baseline="0" noProof="0" dirty="0">
              <a:latin typeface="楷体" panose="02010609060101010101" pitchFamily="49" charset="-122"/>
              <a:ea typeface="楷体" panose="02010609060101010101" pitchFamily="49" charset="-122"/>
              <a:cs typeface="+mj-cs"/>
            </a:endParaRPr>
          </a:p>
        </p:txBody>
      </p:sp>
      <p:sp>
        <p:nvSpPr>
          <p:cNvPr id="9" name="Rectangle 2"/>
          <p:cNvSpPr txBox="1">
            <a:spLocks noChangeArrowheads="1"/>
          </p:cNvSpPr>
          <p:nvPr/>
        </p:nvSpPr>
        <p:spPr bwMode="auto">
          <a:xfrm>
            <a:off x="3170238" y="4194175"/>
            <a:ext cx="6751638" cy="373063"/>
          </a:xfrm>
          <a:prstGeom prst="rect">
            <a:avLst/>
          </a:prstGeom>
          <a:noFill/>
          <a:ln w="12700">
            <a:noFill/>
            <a:miter lim="800000"/>
          </a:ln>
          <a:effectLst/>
        </p:spPr>
        <p:txBody>
          <a:bodyPr lIns="63500" tIns="25400" rIns="63500" bIns="25400">
            <a:spAutoFit/>
          </a:bodyPr>
          <a:lstStyle/>
          <a:p>
            <a:pPr marR="0" defTabSz="914400">
              <a:lnSpc>
                <a:spcPct val="87000"/>
              </a:lnSpc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400" kern="0" cap="none" spc="0" normalizeH="0" baseline="0" noProof="0" dirty="0">
                <a:latin typeface="楷体" panose="02010609060101010101" pitchFamily="49" charset="-122"/>
                <a:ea typeface="楷体" panose="02010609060101010101" pitchFamily="49" charset="-122"/>
                <a:cs typeface="+mj-cs"/>
              </a:rPr>
              <a:t> 测试过程和结果（注明测试设备，原始数据）</a:t>
            </a:r>
            <a:endParaRPr kumimoji="0" lang="zh-CN" altLang="en-US" sz="2400" kern="0" cap="none" spc="0" normalizeH="0" baseline="0" noProof="0" dirty="0">
              <a:latin typeface="楷体" panose="02010609060101010101" pitchFamily="49" charset="-122"/>
              <a:ea typeface="楷体" panose="02010609060101010101" pitchFamily="49" charset="-122"/>
              <a:cs typeface="+mj-cs"/>
            </a:endParaRPr>
          </a:p>
        </p:txBody>
      </p:sp>
      <p:sp>
        <p:nvSpPr>
          <p:cNvPr id="11" name="Rectangle 2"/>
          <p:cNvSpPr txBox="1">
            <a:spLocks noChangeArrowheads="1"/>
          </p:cNvSpPr>
          <p:nvPr/>
        </p:nvSpPr>
        <p:spPr bwMode="auto">
          <a:xfrm>
            <a:off x="3170238" y="4778375"/>
            <a:ext cx="6751638" cy="373063"/>
          </a:xfrm>
          <a:prstGeom prst="rect">
            <a:avLst/>
          </a:prstGeom>
          <a:noFill/>
          <a:ln w="12700">
            <a:noFill/>
            <a:miter lim="800000"/>
          </a:ln>
          <a:effectLst/>
        </p:spPr>
        <p:txBody>
          <a:bodyPr lIns="63500" tIns="25400" rIns="63500" bIns="25400">
            <a:spAutoFit/>
          </a:bodyPr>
          <a:lstStyle/>
          <a:p>
            <a:pPr marR="0" defTabSz="914400">
              <a:lnSpc>
                <a:spcPct val="87000"/>
              </a:lnSpc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400" kern="0" cap="none" spc="0" normalizeH="0" baseline="0" noProof="0" dirty="0">
                <a:latin typeface="楷体" panose="02010609060101010101" pitchFamily="49" charset="-122"/>
                <a:ea typeface="楷体" panose="02010609060101010101" pitchFamily="49" charset="-122"/>
                <a:cs typeface="+mj-cs"/>
              </a:rPr>
              <a:t> 结果分析</a:t>
            </a:r>
            <a:endParaRPr kumimoji="0" lang="zh-CN" altLang="en-US" sz="2400" kern="0" cap="none" spc="0" normalizeH="0" baseline="0" noProof="0" dirty="0">
              <a:latin typeface="楷体" panose="02010609060101010101" pitchFamily="49" charset="-122"/>
              <a:ea typeface="楷体" panose="02010609060101010101" pitchFamily="49" charset="-122"/>
              <a:cs typeface="+mj-cs"/>
            </a:endParaRPr>
          </a:p>
        </p:txBody>
      </p:sp>
      <p:sp>
        <p:nvSpPr>
          <p:cNvPr id="12" name="Rectangle 2"/>
          <p:cNvSpPr txBox="1">
            <a:spLocks noChangeArrowheads="1"/>
          </p:cNvSpPr>
          <p:nvPr/>
        </p:nvSpPr>
        <p:spPr bwMode="auto">
          <a:xfrm>
            <a:off x="2360613" y="5229225"/>
            <a:ext cx="6884988" cy="373063"/>
          </a:xfrm>
          <a:prstGeom prst="rect">
            <a:avLst/>
          </a:prstGeom>
          <a:noFill/>
          <a:ln w="12700">
            <a:noFill/>
            <a:miter lim="800000"/>
          </a:ln>
          <a:effectLst/>
        </p:spPr>
        <p:txBody>
          <a:bodyPr lIns="63500" tIns="25400" rIns="63500" bIns="25400">
            <a:spAutoFit/>
          </a:bodyPr>
          <a:lstStyle/>
          <a:p>
            <a:pPr marR="0" defTabSz="914400">
              <a:lnSpc>
                <a:spcPct val="87000"/>
              </a:lnSpc>
              <a:buClrTx/>
              <a:buSzPct val="75000"/>
              <a:buFont typeface="Wingdings" panose="05000000000000000000" pitchFamily="2" charset="2"/>
              <a:buChar char="u"/>
              <a:defRPr/>
            </a:pPr>
            <a:r>
              <a:rPr kumimoji="0" lang="zh-CN" altLang="en-US" sz="2400" kern="0" cap="none" spc="0" normalizeH="0" baseline="0" noProof="0" dirty="0">
                <a:latin typeface="楷体" panose="02010609060101010101" pitchFamily="49" charset="-122"/>
                <a:ea typeface="楷体" panose="02010609060101010101" pitchFamily="49" charset="-122"/>
                <a:cs typeface="+mj-cs"/>
              </a:rPr>
              <a:t>探究性实验内容</a:t>
            </a:r>
            <a:endParaRPr kumimoji="0" lang="zh-CN" altLang="en-US" sz="2400" kern="0" cap="none" spc="0" normalizeH="0" baseline="0" noProof="0" dirty="0">
              <a:latin typeface="楷体" panose="02010609060101010101" pitchFamily="49" charset="-122"/>
              <a:ea typeface="楷体" panose="02010609060101010101" pitchFamily="49" charset="-122"/>
              <a:cs typeface="+mj-cs"/>
            </a:endParaRPr>
          </a:p>
        </p:txBody>
      </p:sp>
      <p:sp>
        <p:nvSpPr>
          <p:cNvPr id="13" name="Rectangle 2"/>
          <p:cNvSpPr txBox="1">
            <a:spLocks noChangeArrowheads="1"/>
          </p:cNvSpPr>
          <p:nvPr/>
        </p:nvSpPr>
        <p:spPr bwMode="auto">
          <a:xfrm>
            <a:off x="2360613" y="5678488"/>
            <a:ext cx="3375025" cy="373063"/>
          </a:xfrm>
          <a:prstGeom prst="rect">
            <a:avLst/>
          </a:prstGeom>
          <a:noFill/>
          <a:ln w="12700">
            <a:noFill/>
            <a:miter lim="800000"/>
          </a:ln>
          <a:effectLst/>
        </p:spPr>
        <p:txBody>
          <a:bodyPr lIns="63500" tIns="25400" rIns="63500" bIns="25400">
            <a:spAutoFit/>
          </a:bodyPr>
          <a:lstStyle/>
          <a:p>
            <a:pPr marR="0" defTabSz="914400">
              <a:lnSpc>
                <a:spcPct val="87000"/>
              </a:lnSpc>
              <a:buClrTx/>
              <a:buSzPct val="75000"/>
              <a:buFont typeface="Wingdings" panose="05000000000000000000" pitchFamily="2" charset="2"/>
              <a:buChar char="u"/>
              <a:defRPr/>
            </a:pPr>
            <a:r>
              <a:rPr kumimoji="0" lang="zh-CN" altLang="en-US" sz="2400" kern="0" cap="none" spc="0" normalizeH="0" baseline="0" noProof="0" dirty="0">
                <a:latin typeface="楷体" panose="02010609060101010101" pitchFamily="49" charset="-122"/>
                <a:ea typeface="楷体" panose="02010609060101010101" pitchFamily="49" charset="-122"/>
                <a:cs typeface="+mj-cs"/>
              </a:rPr>
              <a:t>实验体会</a:t>
            </a:r>
            <a:endParaRPr kumimoji="0" lang="zh-CN" altLang="en-US" sz="2400" kern="0" cap="none" spc="0" normalizeH="0" baseline="0" noProof="0" dirty="0">
              <a:latin typeface="楷体" panose="02010609060101010101" pitchFamily="49" charset="-122"/>
              <a:ea typeface="楷体" panose="02010609060101010101" pitchFamily="49" charset="-122"/>
              <a:cs typeface="+mj-cs"/>
            </a:endParaRPr>
          </a:p>
        </p:txBody>
      </p:sp>
      <p:sp>
        <p:nvSpPr>
          <p:cNvPr id="14" name="Rectangle 2"/>
          <p:cNvSpPr txBox="1">
            <a:spLocks noChangeArrowheads="1"/>
          </p:cNvSpPr>
          <p:nvPr/>
        </p:nvSpPr>
        <p:spPr bwMode="auto">
          <a:xfrm>
            <a:off x="2495550" y="908050"/>
            <a:ext cx="6886575" cy="373063"/>
          </a:xfrm>
          <a:prstGeom prst="rect">
            <a:avLst/>
          </a:prstGeom>
          <a:noFill/>
          <a:ln w="12700">
            <a:noFill/>
            <a:miter lim="800000"/>
          </a:ln>
          <a:effectLst/>
        </p:spPr>
        <p:txBody>
          <a:bodyPr lIns="63500" tIns="25400" rIns="63500" bIns="25400">
            <a:spAutoFit/>
          </a:bodyPr>
          <a:lstStyle/>
          <a:p>
            <a:pPr marR="0" defTabSz="914400">
              <a:lnSpc>
                <a:spcPct val="87000"/>
              </a:lnSpc>
              <a:buClrTx/>
              <a:buSzTx/>
              <a:buFontTx/>
              <a:buNone/>
              <a:defRPr/>
            </a:pPr>
            <a:r>
              <a:rPr kumimoji="0" lang="en-US" altLang="zh-CN" sz="2400" b="1" kern="0" cap="none" spc="0" normalizeH="0" baseline="0" noProof="0" dirty="0">
                <a:latin typeface="楷体" panose="02010609060101010101" pitchFamily="49" charset="-122"/>
                <a:ea typeface="楷体" panose="02010609060101010101" pitchFamily="49" charset="-122"/>
                <a:cs typeface="+mj-cs"/>
              </a:rPr>
              <a:t>XXX</a:t>
            </a:r>
            <a:r>
              <a:rPr kumimoji="0" lang="zh-CN" altLang="en-US" sz="2400" b="1" kern="0" cap="none" spc="0" normalizeH="0" baseline="0" noProof="0" dirty="0">
                <a:latin typeface="楷体" panose="02010609060101010101" pitchFamily="49" charset="-122"/>
                <a:ea typeface="楷体" panose="02010609060101010101" pitchFamily="49" charset="-122"/>
                <a:cs typeface="+mj-cs"/>
              </a:rPr>
              <a:t>（名称）实验</a:t>
            </a:r>
            <a:endParaRPr kumimoji="0" lang="zh-CN" altLang="en-US" sz="2400" b="1" kern="0" cap="none" spc="0" normalizeH="0" baseline="0" noProof="0" dirty="0">
              <a:latin typeface="楷体" panose="02010609060101010101" pitchFamily="49" charset="-122"/>
              <a:ea typeface="楷体" panose="02010609060101010101" pitchFamily="49" charset="-122"/>
              <a:cs typeface="+mj-cs"/>
            </a:endParaRPr>
          </a:p>
        </p:txBody>
      </p:sp>
      <p:sp>
        <p:nvSpPr>
          <p:cNvPr id="15" name="Rectangle 2"/>
          <p:cNvSpPr txBox="1">
            <a:spLocks noChangeArrowheads="1"/>
          </p:cNvSpPr>
          <p:nvPr/>
        </p:nvSpPr>
        <p:spPr bwMode="auto">
          <a:xfrm>
            <a:off x="2540000" y="1449388"/>
            <a:ext cx="5716588" cy="371475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accent1"/>
            </a:solidFill>
            <a:miter lim="800000"/>
          </a:ln>
          <a:effectLst/>
        </p:spPr>
        <p:txBody>
          <a:bodyPr lIns="63500" tIns="25400" rIns="63500" bIns="25400">
            <a:spAutoFit/>
          </a:bodyPr>
          <a:lstStyle/>
          <a:p>
            <a:pPr marR="0" defTabSz="914400">
              <a:lnSpc>
                <a:spcPct val="87000"/>
              </a:lnSpc>
              <a:buClrTx/>
              <a:buSzTx/>
              <a:buFontTx/>
              <a:buNone/>
              <a:defRPr/>
            </a:pPr>
            <a:r>
              <a:rPr kumimoji="0" lang="zh-CN" altLang="en-US" sz="2400" kern="0" cap="none" spc="0" normalizeH="0" baseline="0" noProof="0" dirty="0">
                <a:latin typeface="楷体" panose="02010609060101010101" pitchFamily="49" charset="-122"/>
                <a:ea typeface="楷体" panose="02010609060101010101" pitchFamily="49" charset="-122"/>
                <a:cs typeface="+mj-cs"/>
              </a:rPr>
              <a:t>实验日期，地点，人员，座位号</a:t>
            </a:r>
            <a:endParaRPr kumimoji="0" lang="zh-CN" altLang="en-US" sz="2400" kern="0" cap="none" spc="0" normalizeH="0" baseline="0" noProof="0" dirty="0">
              <a:latin typeface="楷体" panose="02010609060101010101" pitchFamily="49" charset="-122"/>
              <a:ea typeface="楷体" panose="02010609060101010101" pitchFamily="49" charset="-122"/>
              <a:cs typeface="+mj-cs"/>
            </a:endParaRPr>
          </a:p>
        </p:txBody>
      </p:sp>
      <p:sp>
        <p:nvSpPr>
          <p:cNvPr id="16" name="Rectangle 2"/>
          <p:cNvSpPr txBox="1">
            <a:spLocks noChangeArrowheads="1"/>
          </p:cNvSpPr>
          <p:nvPr/>
        </p:nvSpPr>
        <p:spPr bwMode="auto">
          <a:xfrm>
            <a:off x="6726555" y="5634355"/>
            <a:ext cx="3239770" cy="371475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accent1"/>
            </a:solidFill>
            <a:miter lim="800000"/>
          </a:ln>
          <a:effectLst/>
        </p:spPr>
        <p:txBody>
          <a:bodyPr wrap="square" lIns="63500" tIns="25400" rIns="63500" bIns="25400">
            <a:spAutoFit/>
          </a:bodyPr>
          <a:lstStyle/>
          <a:p>
            <a:pPr marR="0" defTabSz="914400">
              <a:lnSpc>
                <a:spcPct val="87000"/>
              </a:lnSpc>
              <a:buClrTx/>
              <a:buSzTx/>
              <a:buFontTx/>
              <a:buNone/>
              <a:defRPr/>
            </a:pPr>
            <a:r>
              <a:rPr kumimoji="0" lang="zh-CN" altLang="en-US" sz="2400" kern="0" cap="none" spc="0" normalizeH="0" baseline="0" noProof="0" dirty="0">
                <a:solidFill>
                  <a:srgbClr val="FF000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依据：能重复实验内容</a:t>
            </a:r>
            <a:endParaRPr kumimoji="0" lang="zh-CN" altLang="en-US" sz="2400" kern="0" cap="none" spc="0" normalizeH="0" baseline="0" noProof="0" dirty="0">
              <a:solidFill>
                <a:srgbClr val="FF0000"/>
              </a:solidFill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8" grpId="0"/>
      <p:bldP spid="10" grpId="0"/>
      <p:bldP spid="9" grpId="0"/>
      <p:bldP spid="11" grpId="0"/>
      <p:bldP spid="12" grpId="0"/>
      <p:bldP spid="13" grpId="0"/>
      <p:bldP spid="14" grpId="0"/>
      <p:bldP spid="15" grpId="0" animBg="1"/>
      <p:bldP spid="1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482" name="标题 1"/>
          <p:cNvSpPr>
            <a:spLocks noGrp="1"/>
          </p:cNvSpPr>
          <p:nvPr>
            <p:ph type="title"/>
          </p:nvPr>
        </p:nvSpPr>
        <p:spPr>
          <a:xfrm>
            <a:off x="1487488" y="765175"/>
            <a:ext cx="8153400" cy="422275"/>
          </a:xfrm>
          <a:ln/>
        </p:spPr>
        <p:txBody>
          <a:bodyPr vert="horz" wrap="square" lIns="0" tIns="45720" rIns="0" bIns="0" anchor="b" anchorCtr="0"/>
          <a:p>
            <a:pPr>
              <a:buClr>
                <a:schemeClr val="accent1"/>
              </a:buClr>
              <a:buFont typeface="Wingdings" panose="05000000000000000000" pitchFamily="2" charset="2"/>
              <a:buChar char="n"/>
            </a:pP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教学安排</a:t>
            </a:r>
            <a:r>
              <a:rPr lang="en-US" altLang="zh-CN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秋学期</a:t>
            </a:r>
            <a:endParaRPr lang="zh-CN" altLang="en-US" sz="24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1746250" y="1625600"/>
            <a:ext cx="8351838" cy="382588"/>
          </a:xfrm>
          <a:prstGeom prst="rect">
            <a:avLst/>
          </a:prstGeom>
          <a:noFill/>
          <a:ln w="12700">
            <a:noFill/>
            <a:miter lim="800000"/>
          </a:ln>
          <a:effectLst/>
        </p:spPr>
        <p:txBody>
          <a:bodyPr lIns="63500" tIns="25400" rIns="63500" bIns="25400">
            <a:spAutoFit/>
          </a:bodyPr>
          <a:lstStyle/>
          <a:p>
            <a:pPr marL="287655" marR="0" indent="-287655" defTabSz="914400">
              <a:lnSpc>
                <a:spcPct val="90000"/>
              </a:lnSpc>
              <a:spcBef>
                <a:spcPct val="65000"/>
              </a:spcBef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400" kern="0" cap="none" spc="0" normalizeH="0" baseline="0" noProof="0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第</a:t>
            </a:r>
            <a:r>
              <a:rPr kumimoji="0" lang="en-US" altLang="zh-CN" sz="2400" kern="0" cap="none" spc="0" normalizeH="0" baseline="0" noProof="0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</a:t>
            </a:r>
            <a:r>
              <a:rPr kumimoji="0" lang="zh-CN" altLang="en-US" sz="2400" kern="0" cap="none" spc="0" normalizeH="0" baseline="0" noProof="0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次：综述；设备使用，认识元器件</a:t>
            </a:r>
            <a:r>
              <a:rPr kumimoji="0" lang="en-US" altLang="zh-CN" sz="2400" kern="0" cap="none" spc="0" normalizeH="0" baseline="0" noProof="0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—</a:t>
            </a:r>
            <a:r>
              <a:rPr kumimoji="0" lang="zh-CN" altLang="en-US" sz="2400" kern="0" cap="none" spc="0" normalizeH="0" baseline="0" noProof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测量</a:t>
            </a:r>
            <a:r>
              <a:rPr kumimoji="0" lang="zh-CN" altLang="en-US" sz="2400" kern="0" cap="none" spc="0" normalizeH="0" baseline="0" noProof="0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常识</a:t>
            </a:r>
            <a:endParaRPr kumimoji="0" lang="en-US" altLang="zh-CN" sz="2400" kern="0" cap="none" spc="0" normalizeH="0" baseline="0" noProof="0" dirty="0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" name="Rectangle 4"/>
          <p:cNvSpPr/>
          <p:nvPr/>
        </p:nvSpPr>
        <p:spPr>
          <a:xfrm>
            <a:off x="1746250" y="3919538"/>
            <a:ext cx="7875588" cy="477837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marL="342900" indent="-342900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次：小车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检测电路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和电机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驱动电路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测试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746250" y="2173288"/>
            <a:ext cx="8235950" cy="423863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7655" marR="0" lvl="0" indent="-287655" algn="l" defTabSz="914400" rtl="0" eaLnBrk="0" fontAlgn="base" latinLnBrk="0" hangingPunct="0">
              <a:lnSpc>
                <a:spcPct val="90000"/>
              </a:lnSpc>
              <a:spcBef>
                <a:spcPct val="65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第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次：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元器件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特性测量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—VA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法、示波器观测</a:t>
            </a:r>
            <a:endParaRPr kumimoji="0" lang="zh-CN" altLang="en-US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746250" y="3335338"/>
            <a:ext cx="7907338" cy="423545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7655" marR="0" lvl="0" indent="-287655" algn="l" defTabSz="914400" rtl="0" eaLnBrk="0" fontAlgn="base" latinLnBrk="0" hangingPunct="0">
              <a:lnSpc>
                <a:spcPct val="90000"/>
              </a:lnSpc>
              <a:spcBef>
                <a:spcPct val="65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第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4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次：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三极管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及其应用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电路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/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门电路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及其特性</a:t>
            </a:r>
            <a:endParaRPr kumimoji="0" lang="zh-CN" altLang="en-US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746250" y="5135563"/>
            <a:ext cx="8101013" cy="4238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marL="342900" indent="-342900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次：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PWM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调速和复杂导航控制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1746250" y="4549775"/>
            <a:ext cx="8010525" cy="4254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marL="342900" indent="-342900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次：简单小车导航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控制</a:t>
            </a:r>
            <a:endParaRPr lang="zh-CN" altLang="en-US" sz="2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1746250" y="2705100"/>
            <a:ext cx="8235950" cy="4238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marL="342900" indent="-342900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次：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数字电路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设计基础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1746250" y="5729288"/>
            <a:ext cx="5000625" cy="4238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marL="342900" indent="-342900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次：测试与答辩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9048750" y="1575435"/>
            <a:ext cx="2459355" cy="41541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400"/>
              <a:t>预备</a:t>
            </a:r>
            <a:endParaRPr lang="zh-CN" altLang="en-US" sz="2400"/>
          </a:p>
          <a:p>
            <a:pPr algn="ctr"/>
            <a:r>
              <a:rPr lang="en-US" altLang="zh-CN" sz="2400"/>
              <a:t>|</a:t>
            </a:r>
            <a:endParaRPr lang="zh-CN" altLang="en-US" sz="2400"/>
          </a:p>
          <a:p>
            <a:pPr algn="ctr"/>
            <a:r>
              <a:rPr lang="zh-CN" altLang="en-US" sz="2400"/>
              <a:t>电路元件</a:t>
            </a:r>
            <a:endParaRPr lang="zh-CN" altLang="en-US" sz="2400"/>
          </a:p>
          <a:p>
            <a:pPr algn="ctr"/>
            <a:r>
              <a:rPr lang="en-US" altLang="zh-CN" sz="2400"/>
              <a:t>|</a:t>
            </a:r>
            <a:endParaRPr lang="zh-CN" altLang="en-US" sz="2400"/>
          </a:p>
          <a:p>
            <a:pPr algn="ctr"/>
            <a:r>
              <a:rPr lang="zh-CN" altLang="en-US" sz="2400"/>
              <a:t>数字电路入门</a:t>
            </a:r>
            <a:endParaRPr lang="zh-CN" altLang="en-US" sz="2400"/>
          </a:p>
          <a:p>
            <a:pPr algn="ctr"/>
            <a:r>
              <a:rPr lang="en-US" altLang="zh-CN" sz="2400"/>
              <a:t>|</a:t>
            </a:r>
            <a:endParaRPr lang="zh-CN" altLang="en-US" sz="2400"/>
          </a:p>
          <a:p>
            <a:pPr algn="ctr"/>
            <a:r>
              <a:rPr lang="zh-CN" altLang="en-US" sz="2400"/>
              <a:t>模拟电路入门</a:t>
            </a:r>
            <a:endParaRPr lang="zh-CN" altLang="en-US" sz="2400"/>
          </a:p>
          <a:p>
            <a:pPr algn="ctr"/>
            <a:r>
              <a:rPr lang="en-US" altLang="zh-CN" sz="2400"/>
              <a:t>|</a:t>
            </a:r>
            <a:endParaRPr lang="zh-CN" altLang="en-US" sz="2400"/>
          </a:p>
          <a:p>
            <a:pPr algn="ctr"/>
            <a:r>
              <a:rPr lang="zh-CN" altLang="en-US" sz="2400"/>
              <a:t>控制入门</a:t>
            </a:r>
            <a:endParaRPr lang="zh-CN" altLang="en-US" sz="2400"/>
          </a:p>
          <a:p>
            <a:pPr algn="ctr"/>
            <a:r>
              <a:rPr lang="en-US" altLang="zh-CN" sz="2400"/>
              <a:t>|</a:t>
            </a:r>
            <a:endParaRPr lang="zh-CN" altLang="en-US" sz="2400"/>
          </a:p>
          <a:p>
            <a:pPr algn="ctr"/>
            <a:r>
              <a:rPr lang="zh-CN" altLang="en-US" sz="2400"/>
              <a:t>拓展探究</a:t>
            </a:r>
            <a:endParaRPr lang="zh-CN" altLang="en-US" sz="240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10" grpId="0"/>
      <p:bldP spid="11" grpId="0"/>
      <p:bldP spid="12" grpId="0"/>
      <p:bldP spid="13" grpId="0"/>
      <p:bldP spid="14" grpId="0"/>
      <p:bldP spid="1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" name="Rectangle 3"/>
          <p:cNvSpPr txBox="1">
            <a:spLocks noChangeArrowheads="1"/>
          </p:cNvSpPr>
          <p:nvPr/>
        </p:nvSpPr>
        <p:spPr bwMode="auto">
          <a:xfrm>
            <a:off x="2049463" y="1412875"/>
            <a:ext cx="7129463" cy="382588"/>
          </a:xfrm>
          <a:prstGeom prst="rect">
            <a:avLst/>
          </a:prstGeom>
          <a:noFill/>
          <a:ln w="12700">
            <a:noFill/>
            <a:miter lim="800000"/>
          </a:ln>
          <a:effectLst/>
        </p:spPr>
        <p:txBody>
          <a:bodyPr lIns="63500" tIns="25400" rIns="63500" bIns="25400">
            <a:spAutoFit/>
          </a:bodyPr>
          <a:lstStyle/>
          <a:p>
            <a:pPr marL="514350" marR="0" indent="-514350" defTabSz="914400">
              <a:lnSpc>
                <a:spcPct val="90000"/>
              </a:lnSpc>
              <a:spcBef>
                <a:spcPct val="65000"/>
              </a:spcBef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400" kern="0" cap="none" spc="0" normalizeH="0" baseline="0" noProof="0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第</a:t>
            </a:r>
            <a:r>
              <a:rPr kumimoji="0" lang="en-US" altLang="zh-CN" sz="2400" kern="0" cap="none" spc="0" normalizeH="0" baseline="0" noProof="0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</a:t>
            </a:r>
            <a:r>
              <a:rPr kumimoji="0" lang="zh-CN" altLang="en-US" sz="2400" kern="0" cap="none" spc="0" normalizeH="0" baseline="0" noProof="0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次：电路实验综述</a:t>
            </a:r>
            <a:endParaRPr kumimoji="0" lang="zh-CN" altLang="en-US" sz="2400" kern="0" cap="none" spc="0" normalizeH="0" baseline="0" noProof="0" dirty="0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7" name="Rectangle 4"/>
          <p:cNvSpPr/>
          <p:nvPr/>
        </p:nvSpPr>
        <p:spPr>
          <a:xfrm>
            <a:off x="2033588" y="3721100"/>
            <a:ext cx="8010525" cy="5842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marL="514350" indent="-514350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次：调谐电路功效研究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14350" indent="-514350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2033588" y="1952625"/>
            <a:ext cx="8145463" cy="425450"/>
          </a:xfrm>
          <a:prstGeom prst="rect">
            <a:avLst/>
          </a:prstGeom>
        </p:spPr>
        <p:txBody>
          <a:bodyPr>
            <a:spAutoFit/>
          </a:bodyPr>
          <a:lstStyle/>
          <a:p>
            <a:pPr marL="514350" marR="0" lvl="0" indent="-514350" algn="l" defTabSz="914400" rtl="0" eaLnBrk="0" fontAlgn="base" latinLnBrk="0" hangingPunct="0">
              <a:lnSpc>
                <a:spcPct val="90000"/>
              </a:lnSpc>
              <a:spcBef>
                <a:spcPct val="65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第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次：直流电路测量</a:t>
            </a:r>
            <a:endParaRPr kumimoji="0" lang="zh-CN" altLang="en-US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2033588" y="3135313"/>
            <a:ext cx="4270375" cy="4254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514350" marR="0" lvl="0" indent="-514350" algn="l" defTabSz="914400" rtl="0" eaLnBrk="0" fontAlgn="base" latinLnBrk="0" hangingPunct="0">
              <a:lnSpc>
                <a:spcPct val="90000"/>
              </a:lnSpc>
              <a:spcBef>
                <a:spcPct val="65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第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4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次：电路暂态响应观测</a:t>
            </a:r>
            <a:endParaRPr kumimoji="0" lang="zh-CN" altLang="en-US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2033588" y="4395788"/>
            <a:ext cx="7291387" cy="4254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marL="514350" indent="-514350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次：整流与稳压电路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2033588" y="5033963"/>
            <a:ext cx="6480175" cy="4238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marL="514350" indent="-514350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次：晶体管共射放大电路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2033588" y="5648325"/>
            <a:ext cx="4859337" cy="4254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marL="514350" indent="-514350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次：研究性实验或实验考查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标题 1"/>
          <p:cNvSpPr txBox="1"/>
          <p:nvPr/>
        </p:nvSpPr>
        <p:spPr>
          <a:xfrm>
            <a:off x="1774825" y="692150"/>
            <a:ext cx="8153400" cy="422275"/>
          </a:xfrm>
          <a:prstGeom prst="rect">
            <a:avLst/>
          </a:prstGeom>
        </p:spPr>
        <p:txBody>
          <a:bodyPr/>
          <a:lstStyle/>
          <a:p>
            <a:pPr marR="0" defTabSz="914400">
              <a:lnSpc>
                <a:spcPct val="87000"/>
              </a:lnSpc>
              <a:buClr>
                <a:schemeClr val="accent1"/>
              </a:buClr>
              <a:buSzTx/>
              <a:buFont typeface="Wingdings" panose="05000000000000000000" pitchFamily="2" charset="2"/>
              <a:buChar char="n"/>
              <a:defRPr/>
            </a:pPr>
            <a:r>
              <a:rPr kumimoji="0" lang="zh-CN" altLang="en-US" sz="2400" b="1" kern="0" cap="none" spc="0" normalizeH="0" baseline="0" noProof="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  教学安排</a:t>
            </a:r>
            <a:r>
              <a:rPr kumimoji="0" lang="en-US" altLang="zh-CN" sz="2400" b="1" kern="0" cap="none" spc="0" normalizeH="0" baseline="0" noProof="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——</a:t>
            </a:r>
            <a:r>
              <a:rPr kumimoji="0" lang="zh-CN" altLang="en-US" sz="2400" b="1" kern="0" cap="none" spc="0" normalizeH="0" baseline="0" noProof="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冬学期</a:t>
            </a:r>
            <a:endParaRPr kumimoji="0" lang="zh-CN" altLang="en-US" sz="2400" b="1" kern="0" cap="none" spc="0" normalizeH="0" baseline="0" noProof="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2024063" y="2524125"/>
            <a:ext cx="8145463" cy="423863"/>
          </a:xfrm>
          <a:prstGeom prst="rect">
            <a:avLst/>
          </a:prstGeom>
        </p:spPr>
        <p:txBody>
          <a:bodyPr>
            <a:spAutoFit/>
          </a:bodyPr>
          <a:lstStyle/>
          <a:p>
            <a:pPr marL="514350" marR="0" lvl="0" indent="-514350" algn="l" defTabSz="914400" rtl="0" eaLnBrk="0" fontAlgn="base" latinLnBrk="0" hangingPunct="0">
              <a:lnSpc>
                <a:spcPct val="90000"/>
              </a:lnSpc>
              <a:spcBef>
                <a:spcPct val="65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第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3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次：交流阻抗等效参数测量</a:t>
            </a:r>
            <a:endParaRPr kumimoji="0" lang="zh-CN" altLang="en-US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/>
      <p:bldP spid="19" grpId="0"/>
      <p:bldP spid="21" grpId="0"/>
      <p:bldP spid="22" grpId="0"/>
      <p:bldP spid="23" grpId="0"/>
      <p:bldP spid="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578" name="标题 1"/>
          <p:cNvSpPr>
            <a:spLocks noGrp="1"/>
          </p:cNvSpPr>
          <p:nvPr>
            <p:ph type="title"/>
          </p:nvPr>
        </p:nvSpPr>
        <p:spPr>
          <a:xfrm>
            <a:off x="1847850" y="692150"/>
            <a:ext cx="8153400" cy="422275"/>
          </a:xfrm>
          <a:ln/>
        </p:spPr>
        <p:txBody>
          <a:bodyPr vert="horz" wrap="square" lIns="0" tIns="45720" rIns="0" bIns="0" anchor="b" anchorCtr="0"/>
          <a:p>
            <a:pPr>
              <a:buClr>
                <a:schemeClr val="accent1"/>
              </a:buClr>
              <a:buFont typeface="Wingdings" panose="05000000000000000000" pitchFamily="2" charset="2"/>
              <a:buChar char="n"/>
            </a:pPr>
            <a:r>
              <a:rPr lang="zh-CN" altLang="en-US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教学资源</a:t>
            </a:r>
            <a:endParaRPr lang="zh-CN" altLang="en-US" sz="24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579" name="Text Box 2"/>
          <p:cNvSpPr txBox="1"/>
          <p:nvPr/>
        </p:nvSpPr>
        <p:spPr>
          <a:xfrm>
            <a:off x="2105025" y="1179513"/>
            <a:ext cx="7216775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  <a:buSzPct val="75000"/>
              <a:buFont typeface="Wingdings" panose="05000000000000000000" pitchFamily="2" charset="2"/>
              <a:buChar char="u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 课程网站：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eelab.zju.edu.cn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sym typeface="Wingdings" panose="05000000000000000000" pitchFamily="2" charset="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2162175" y="3533775"/>
            <a:ext cx="7807325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  <a:buSzPct val="75000"/>
              <a:buFont typeface="Wingdings" panose="05000000000000000000" pitchFamily="2" charset="2"/>
              <a:buChar char="u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 课件资料：</a:t>
            </a:r>
            <a:r>
              <a:rPr lang="en-US" altLang="zh-CN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  <a:hlinkClick r:id="rId1"/>
              </a:rPr>
              <a:t>ftp://10.71.21.18:8021</a:t>
            </a:r>
            <a:r>
              <a:rPr lang="en-US" altLang="zh-CN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  </a:t>
            </a:r>
            <a:r>
              <a:rPr lang="zh-CN" altLang="en-US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学在浙大  浙大钉</a:t>
            </a:r>
            <a:r>
              <a:rPr lang="en-US" altLang="zh-CN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   </a:t>
            </a:r>
            <a:endParaRPr lang="en-US" altLang="zh-CN" sz="24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Wingdings" panose="05000000000000000000" pitchFamily="2" charset="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2162175" y="3984625"/>
            <a:ext cx="9625013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  <a:buSzPct val="75000"/>
              <a:buFont typeface="Wingdings" panose="05000000000000000000" pitchFamily="2" charset="2"/>
              <a:buChar char="u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邮箱：</a:t>
            </a:r>
            <a:r>
              <a:rPr lang="en-US" altLang="zh-CN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eedhzh@zju.edu.cn</a:t>
            </a:r>
            <a:r>
              <a:rPr lang="en-US" altLang="zh-CN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</a:t>
            </a:r>
            <a:r>
              <a:rPr lang="en-US" altLang="zh-CN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3"/>
              </a:rPr>
              <a:t>wangee@zju.edu.cn</a:t>
            </a:r>
            <a:endParaRPr lang="en-US" altLang="zh-CN" sz="24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2162175" y="4383088"/>
            <a:ext cx="4572000" cy="4968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lnSpc>
                <a:spcPct val="120000"/>
              </a:lnSpc>
              <a:buSzPct val="75000"/>
              <a:buFont typeface="Wingdings" panose="05000000000000000000" pitchFamily="2" charset="2"/>
              <a:buChar char="u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参考教材：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2719388" y="4843463"/>
            <a:ext cx="5940425" cy="4984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《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电路实验教程（第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版）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》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2690813" y="5334000"/>
            <a:ext cx="5940425" cy="53403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《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电子技术基础实验教程（第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版）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》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2743200" y="5805488"/>
            <a:ext cx="5940425" cy="4984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《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电路与电子技术基础实验指导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》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讲义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586" name="Text Box 2"/>
          <p:cNvSpPr txBox="1"/>
          <p:nvPr/>
        </p:nvSpPr>
        <p:spPr>
          <a:xfrm>
            <a:off x="2119313" y="1608138"/>
            <a:ext cx="7216775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  <a:buSzPct val="75000"/>
              <a:buFont typeface="Wingdings" panose="05000000000000000000" pitchFamily="2" charset="2"/>
              <a:buChar char="u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 在线开放课程：“爱课程”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sym typeface="Wingdings" panose="05000000000000000000" pitchFamily="2" charset="2"/>
            </a:endParaRPr>
          </a:p>
        </p:txBody>
      </p:sp>
      <p:sp>
        <p:nvSpPr>
          <p:cNvPr id="24587" name="文本框 4"/>
          <p:cNvSpPr txBox="1"/>
          <p:nvPr/>
        </p:nvSpPr>
        <p:spPr>
          <a:xfrm>
            <a:off x="2414588" y="2108200"/>
            <a:ext cx="8640762" cy="16319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b="1" dirty="0">
                <a:latin typeface="Arial" panose="020B0604020202020204" pitchFamily="34" charset="0"/>
              </a:rPr>
              <a:t>数字电路分析与设计实验</a:t>
            </a:r>
            <a:endParaRPr lang="en-US" altLang="zh-CN" b="1" dirty="0">
              <a:latin typeface="Arial" panose="020B0604020202020204" pitchFamily="34" charset="0"/>
            </a:endParaRPr>
          </a:p>
          <a:p>
            <a:r>
              <a:rPr lang="en-US" altLang="zh-CN" b="1" dirty="0">
                <a:latin typeface="Arial" panose="020B0604020202020204" pitchFamily="34" charset="0"/>
                <a:hlinkClick r:id="rId4"/>
              </a:rPr>
              <a:t>https://www.icourse163.org/course/ZJU-1461787180</a:t>
            </a:r>
            <a:endParaRPr lang="en-US" altLang="zh-CN" b="1" dirty="0">
              <a:latin typeface="Arial" panose="020B0604020202020204" pitchFamily="34" charset="0"/>
            </a:endParaRPr>
          </a:p>
          <a:p>
            <a:r>
              <a:rPr lang="zh-CN" altLang="en-US" b="1" dirty="0">
                <a:latin typeface="Arial" panose="020B0604020202020204" pitchFamily="34" charset="0"/>
              </a:rPr>
              <a:t>模拟电子技术基础实验</a:t>
            </a:r>
            <a:endParaRPr lang="zh-CN" altLang="en-US" b="1" dirty="0">
              <a:latin typeface="Arial" panose="020B0604020202020204" pitchFamily="34" charset="0"/>
            </a:endParaRPr>
          </a:p>
          <a:p>
            <a:r>
              <a:rPr lang="en-US" altLang="zh-CN" b="1" dirty="0">
                <a:latin typeface="Arial" panose="020B0604020202020204" pitchFamily="34" charset="0"/>
                <a:hlinkClick r:id="rId5"/>
              </a:rPr>
              <a:t>https://www.icourse163.org/course/ZJU-1470434185</a:t>
            </a:r>
            <a:endParaRPr lang="en-US" altLang="zh-CN" b="1" dirty="0">
              <a:latin typeface="Arial" panose="020B0604020202020204" pitchFamily="34" charset="0"/>
            </a:endParaRPr>
          </a:p>
          <a:p>
            <a:endParaRPr lang="zh-CN" altLang="en-US" b="1" dirty="0">
              <a:latin typeface="Arial" panose="020B0604020202020204" pitchFamily="34" charset="0"/>
            </a:endParaRPr>
          </a:p>
        </p:txBody>
      </p:sp>
      <p:pic>
        <p:nvPicPr>
          <p:cNvPr id="24588" name="图片 2"/>
          <p:cNvPicPr>
            <a:picLocks noChangeAspect="1"/>
          </p:cNvPicPr>
          <p:nvPr/>
        </p:nvPicPr>
        <p:blipFill>
          <a:blip r:embed="rId6"/>
          <a:srcRect l="19287" t="19978" r="19287" b="6786"/>
          <a:stretch>
            <a:fillRect/>
          </a:stretch>
        </p:blipFill>
        <p:spPr>
          <a:xfrm>
            <a:off x="10118725" y="4603750"/>
            <a:ext cx="1873250" cy="223361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4589" name="图片 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10563" y="4603750"/>
            <a:ext cx="1658937" cy="2233613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3" grpId="1"/>
      <p:bldP spid="14" grpId="0"/>
      <p:bldP spid="14" grpId="1"/>
      <p:bldP spid="15" grpId="0"/>
      <p:bldP spid="15" grpId="1"/>
      <p:bldP spid="24" grpId="0"/>
      <p:bldP spid="24" grpId="1"/>
      <p:bldP spid="25" grpId="0"/>
      <p:bldP spid="25" grpId="1"/>
      <p:bldP spid="26" grpId="0"/>
      <p:bldP spid="26" grpId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6626" name="文本框 2"/>
          <p:cNvSpPr txBox="1"/>
          <p:nvPr/>
        </p:nvSpPr>
        <p:spPr>
          <a:xfrm>
            <a:off x="1992313" y="1412875"/>
            <a:ext cx="6107112" cy="19383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dirty="0">
                <a:latin typeface="Arial" panose="020B0604020202020204" pitchFamily="34" charset="0"/>
              </a:rPr>
              <a:t>秋学期实验成绩</a:t>
            </a:r>
            <a:r>
              <a:rPr lang="en-US" altLang="zh-CN" dirty="0">
                <a:latin typeface="Arial" panose="020B0604020202020204" pitchFamily="34" charset="0"/>
              </a:rPr>
              <a:t>50%+</a:t>
            </a:r>
            <a:r>
              <a:rPr lang="zh-CN" altLang="en-US" dirty="0">
                <a:latin typeface="Arial" panose="020B0604020202020204" pitchFamily="34" charset="0"/>
              </a:rPr>
              <a:t>冬学期实验成绩</a:t>
            </a:r>
            <a:r>
              <a:rPr lang="en-US" altLang="zh-CN" dirty="0">
                <a:latin typeface="Arial" panose="020B0604020202020204" pitchFamily="34" charset="0"/>
              </a:rPr>
              <a:t>50%</a:t>
            </a:r>
            <a:r>
              <a:rPr lang="zh-CN" altLang="en-US" dirty="0">
                <a:latin typeface="Arial" panose="020B0604020202020204" pitchFamily="34" charset="0"/>
              </a:rPr>
              <a:t>；</a:t>
            </a:r>
            <a:endParaRPr lang="zh-CN" altLang="en-US" dirty="0">
              <a:latin typeface="Arial" panose="020B0604020202020204" pitchFamily="34" charset="0"/>
            </a:endParaRPr>
          </a:p>
          <a:p>
            <a:r>
              <a:rPr lang="zh-CN" altLang="en-US" dirty="0">
                <a:latin typeface="Arial" panose="020B0604020202020204" pitchFamily="34" charset="0"/>
              </a:rPr>
              <a:t>成绩组成：</a:t>
            </a:r>
            <a:endParaRPr lang="zh-CN" altLang="en-US" dirty="0">
              <a:latin typeface="Arial" panose="020B0604020202020204" pitchFamily="34" charset="0"/>
            </a:endParaRPr>
          </a:p>
          <a:p>
            <a:r>
              <a:rPr lang="en-US" altLang="zh-CN" dirty="0">
                <a:latin typeface="Arial" panose="020B0604020202020204" pitchFamily="34" charset="0"/>
              </a:rPr>
              <a:t>      </a:t>
            </a:r>
            <a:r>
              <a:rPr lang="zh-CN" altLang="en-US" dirty="0">
                <a:latin typeface="Arial" panose="020B0604020202020204" pitchFamily="34" charset="0"/>
              </a:rPr>
              <a:t>平时报告</a:t>
            </a:r>
            <a:r>
              <a:rPr lang="en-US" altLang="zh-CN" dirty="0">
                <a:latin typeface="Arial" panose="020B0604020202020204" pitchFamily="34" charset="0"/>
              </a:rPr>
              <a:t>=25%</a:t>
            </a:r>
            <a:r>
              <a:rPr lang="zh-CN" altLang="en-US" dirty="0">
                <a:latin typeface="Arial" panose="020B0604020202020204" pitchFamily="34" charset="0"/>
              </a:rPr>
              <a:t>； </a:t>
            </a:r>
            <a:endParaRPr lang="zh-CN" altLang="en-US" dirty="0">
              <a:latin typeface="Arial" panose="020B0604020202020204" pitchFamily="34" charset="0"/>
            </a:endParaRPr>
          </a:p>
          <a:p>
            <a:pPr lvl="1"/>
            <a:r>
              <a:rPr lang="zh-CN" altLang="en-US" dirty="0">
                <a:latin typeface="Arial" panose="020B0604020202020204" pitchFamily="34" charset="0"/>
              </a:rPr>
              <a:t>操作分</a:t>
            </a:r>
            <a:r>
              <a:rPr lang="en-US" altLang="zh-CN" dirty="0">
                <a:latin typeface="Arial" panose="020B0604020202020204" pitchFamily="34" charset="0"/>
              </a:rPr>
              <a:t>=30% </a:t>
            </a:r>
            <a:r>
              <a:rPr lang="zh-CN" altLang="en-US" dirty="0">
                <a:latin typeface="Arial" panose="020B0604020202020204" pitchFamily="34" charset="0"/>
              </a:rPr>
              <a:t>；</a:t>
            </a:r>
            <a:endParaRPr lang="zh-CN" altLang="en-US" dirty="0">
              <a:latin typeface="Arial" panose="020B0604020202020204" pitchFamily="34" charset="0"/>
            </a:endParaRPr>
          </a:p>
          <a:p>
            <a:pPr lvl="1"/>
            <a:r>
              <a:rPr lang="zh-CN" altLang="en-US" dirty="0">
                <a:latin typeface="Arial" panose="020B0604020202020204" pitchFamily="34" charset="0"/>
              </a:rPr>
              <a:t>总结和体会</a:t>
            </a:r>
            <a:r>
              <a:rPr lang="en-US" altLang="zh-CN" dirty="0">
                <a:latin typeface="Arial" panose="020B0604020202020204" pitchFamily="34" charset="0"/>
              </a:rPr>
              <a:t>=20%</a:t>
            </a:r>
            <a:r>
              <a:rPr lang="zh-CN" altLang="en-US" dirty="0">
                <a:latin typeface="Arial" panose="020B0604020202020204" pitchFamily="34" charset="0"/>
              </a:rPr>
              <a:t>；</a:t>
            </a:r>
            <a:endParaRPr lang="en-US" altLang="zh-CN" dirty="0">
              <a:latin typeface="Arial" panose="020B0604020202020204" pitchFamily="34" charset="0"/>
            </a:endParaRPr>
          </a:p>
          <a:p>
            <a:pPr lvl="1"/>
            <a:r>
              <a:rPr lang="zh-CN" altLang="en-US" dirty="0">
                <a:latin typeface="Arial" panose="020B0604020202020204" pitchFamily="34" charset="0"/>
              </a:rPr>
              <a:t>理论测验</a:t>
            </a:r>
            <a:r>
              <a:rPr lang="en-US" altLang="zh-CN" dirty="0">
                <a:latin typeface="Arial" panose="020B0604020202020204" pitchFamily="34" charset="0"/>
              </a:rPr>
              <a:t>=25%</a:t>
            </a:r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26627" name="标题 1"/>
          <p:cNvSpPr txBox="1"/>
          <p:nvPr/>
        </p:nvSpPr>
        <p:spPr>
          <a:xfrm>
            <a:off x="1847850" y="692150"/>
            <a:ext cx="8153400" cy="422275"/>
          </a:xfrm>
          <a:prstGeom prst="rect">
            <a:avLst/>
          </a:prstGeom>
          <a:noFill/>
          <a:ln w="9525">
            <a:noFill/>
          </a:ln>
        </p:spPr>
        <p:txBody>
          <a:bodyPr lIns="0" rIns="0" bIns="0" anchor="b" anchorCtr="0"/>
          <a:lstStyle>
            <a:lvl1pPr marL="273050" indent="-2730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463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463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87450" indent="-2095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62405" indent="-2095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Clr>
                <a:schemeClr val="accent1"/>
              </a:buClr>
              <a:buSzTx/>
              <a:buFont typeface="Wingdings" panose="05000000000000000000" pitchFamily="2" charset="2"/>
              <a:buChar char="n"/>
            </a:pPr>
            <a:r>
              <a:rPr lang="zh-CN" altLang="en-US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总成绩组成</a:t>
            </a:r>
            <a:endParaRPr lang="zh-CN" altLang="en-US" sz="24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/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3.jpeg"/></Relationships>
</file>

<file path=ppt/theme/theme1.xml><?xml version="1.0" encoding="utf-8"?>
<a:theme xmlns:a="http://schemas.openxmlformats.org/drawingml/2006/main" name="流畅">
  <a:themeElements>
    <a:clrScheme name="流畅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流畅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流畅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0</TotalTime>
  <Words>1327</Words>
  <Application>WPS 演示</Application>
  <PresentationFormat>宽屏</PresentationFormat>
  <Paragraphs>211</Paragraphs>
  <Slides>11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5" baseType="lpstr">
      <vt:lpstr>Arial</vt:lpstr>
      <vt:lpstr>宋体</vt:lpstr>
      <vt:lpstr>Wingdings</vt:lpstr>
      <vt:lpstr>Calibri</vt:lpstr>
      <vt:lpstr>Constantia</vt:lpstr>
      <vt:lpstr>Wingdings 2</vt:lpstr>
      <vt:lpstr>Times New Roman</vt:lpstr>
      <vt:lpstr>微软雅黑</vt:lpstr>
      <vt:lpstr>楷体</vt:lpstr>
      <vt:lpstr>黑体</vt:lpstr>
      <vt:lpstr>Wingdings 2</vt:lpstr>
      <vt:lpstr>Arial Unicode MS</vt:lpstr>
      <vt:lpstr>隶书</vt:lpstr>
      <vt:lpstr>流畅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UCIrvine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keyue smedley</dc:creator>
  <cp:lastModifiedBy>小杭妈</cp:lastModifiedBy>
  <cp:revision>685</cp:revision>
  <dcterms:created xsi:type="dcterms:W3CDTF">2001-11-26T03:50:59Z</dcterms:created>
  <dcterms:modified xsi:type="dcterms:W3CDTF">2025-09-09T08:23:50Z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5E8EED48575F4625BCC85A171289E0DD_12</vt:lpwstr>
  </property>
  <property fmtid="{D5CDD505-2E9C-101B-9397-08002B2CF9AE}" pid="3" name="KSOProductBuildVer">
    <vt:lpwstr>2052-12.1.0.22529</vt:lpwstr>
  </property>
</Properties>
</file>