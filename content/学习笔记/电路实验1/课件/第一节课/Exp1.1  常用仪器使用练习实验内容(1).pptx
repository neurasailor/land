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32"/>
  </p:handoutMasterIdLst>
  <p:sldIdLst>
    <p:sldId id="364" r:id="rId3"/>
    <p:sldId id="707" r:id="rId4"/>
    <p:sldId id="403" r:id="rId6"/>
    <p:sldId id="433" r:id="rId7"/>
    <p:sldId id="405" r:id="rId8"/>
    <p:sldId id="406" r:id="rId9"/>
    <p:sldId id="408" r:id="rId10"/>
    <p:sldId id="410" r:id="rId11"/>
    <p:sldId id="411" r:id="rId12"/>
    <p:sldId id="412" r:id="rId13"/>
    <p:sldId id="413" r:id="rId14"/>
    <p:sldId id="414" r:id="rId15"/>
    <p:sldId id="434" r:id="rId16"/>
    <p:sldId id="415" r:id="rId17"/>
    <p:sldId id="416" r:id="rId18"/>
    <p:sldId id="418" r:id="rId19"/>
    <p:sldId id="421" r:id="rId20"/>
    <p:sldId id="424" r:id="rId21"/>
    <p:sldId id="422" r:id="rId22"/>
    <p:sldId id="423" r:id="rId23"/>
    <p:sldId id="435" r:id="rId24"/>
    <p:sldId id="367" r:id="rId25"/>
    <p:sldId id="368" r:id="rId26"/>
    <p:sldId id="370" r:id="rId27"/>
    <p:sldId id="366" r:id="rId28"/>
    <p:sldId id="371" r:id="rId29"/>
    <p:sldId id="372" r:id="rId30"/>
    <p:sldId id="458" r:id="rId31"/>
  </p:sldIdLst>
  <p:sldSz cx="12192000" cy="6858000"/>
  <p:notesSz cx="7099300" cy="1023429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0000CC"/>
    <a:srgbClr val="9933FF"/>
    <a:srgbClr val="FF0000"/>
    <a:srgbClr val="CC00FF"/>
    <a:srgbClr val="008A3E"/>
    <a:srgbClr val="000000"/>
    <a:srgbClr val="DC06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09" autoAdjust="0"/>
    <p:restoredTop sz="92362" autoAdjust="0"/>
  </p:normalViewPr>
  <p:slideViewPr>
    <p:cSldViewPr showGuides="1">
      <p:cViewPr varScale="1">
        <p:scale>
          <a:sx n="96" d="100"/>
          <a:sy n="96" d="100"/>
        </p:scale>
        <p:origin x="108" y="439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2922" y="90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handoutMaster" Target="handoutMasters/handoutMaster1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 eaLnBrk="1" hangingPunct="1"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 eaLnBrk="1" hangingPunct="1"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0196A58-F4DA-4767-B52B-6835C4128E75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 eaLnBrk="1" hangingPunct="1"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/>
          <a:lstStyle>
            <a:lvl1pPr algn="r" eaLnBrk="1" hangingPunct="1">
              <a:defRPr sz="1300"/>
            </a:lvl1pPr>
          </a:lstStyle>
          <a:p>
            <a:pPr>
              <a:defRPr/>
            </a:pPr>
            <a:fld id="{85B0805F-AE39-4936-BB8C-82092A673662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eaLnBrk="1" hangingPunct="1">
              <a:defRPr sz="13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algn="r" eaLnBrk="1" hangingPunct="1">
              <a:defRPr sz="13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9700" y="768350"/>
            <a:ext cx="68199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  <a:p>
            <a:pPr lvl="1"/>
            <a:r>
              <a:rPr lang="en-US" altLang="zh-CN" noProof="0"/>
              <a:t>Second level</a:t>
            </a:r>
            <a:endParaRPr lang="en-US" altLang="zh-CN" noProof="0"/>
          </a:p>
          <a:p>
            <a:pPr lvl="2"/>
            <a:r>
              <a:rPr lang="en-US" altLang="zh-CN" noProof="0"/>
              <a:t>Third level</a:t>
            </a:r>
            <a:endParaRPr lang="en-US" altLang="zh-CN" noProof="0"/>
          </a:p>
          <a:p>
            <a:pPr lvl="3"/>
            <a:r>
              <a:rPr lang="en-US" altLang="zh-CN" noProof="0"/>
              <a:t>Fourth level</a:t>
            </a:r>
            <a:endParaRPr lang="en-US" altLang="zh-CN" noProof="0"/>
          </a:p>
          <a:p>
            <a:pPr lvl="4"/>
            <a:r>
              <a:rPr lang="en-US" altLang="zh-CN" noProof="0"/>
              <a:t>Fifth level</a:t>
            </a:r>
            <a:endParaRPr lang="en-US" altLang="zh-CN" noProof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eaLnBrk="1" hangingPunct="1">
              <a:defRPr sz="13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algn="r" eaLnBrk="1" hangingPunct="1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989DE6E1-9C17-4BC5-8F3D-158F3980C454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3" name="Rectangle 3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3"/>
          <p:cNvSpPr/>
          <p:nvPr/>
        </p:nvSpPr>
        <p:spPr bwMode="auto">
          <a:xfrm>
            <a:off x="-12700" y="-7938"/>
            <a:ext cx="1221740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3" name="任意多边形 15"/>
          <p:cNvSpPr/>
          <p:nvPr/>
        </p:nvSpPr>
        <p:spPr bwMode="auto">
          <a:xfrm>
            <a:off x="5842000" y="-7938"/>
            <a:ext cx="63500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+mn-lt"/>
              <a:ea typeface="+mn-ea"/>
            </a:endParaRPr>
          </a:p>
        </p:txBody>
      </p:sp>
      <p:grpSp>
        <p:nvGrpSpPr>
          <p:cNvPr id="4" name="组合 16"/>
          <p:cNvGrpSpPr/>
          <p:nvPr/>
        </p:nvGrpSpPr>
        <p:grpSpPr bwMode="auto">
          <a:xfrm>
            <a:off x="-25400" y="203200"/>
            <a:ext cx="12241213" cy="647700"/>
            <a:chOff x="-19045" y="216550"/>
            <a:chExt cx="9180548" cy="649224"/>
          </a:xfrm>
        </p:grpSpPr>
        <p:sp>
          <p:nvSpPr>
            <p:cNvPr id="5" name="任意多边形 18"/>
            <p:cNvSpPr/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6" name="任意多边形 19"/>
            <p:cNvSpPr/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panose="020B0604020202020204" pitchFamily="34" charset="0"/>
              </a:endParaRPr>
            </a:p>
          </p:txBody>
        </p:sp>
      </p:grpSp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7" name="日期占位符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pPr>
              <a:defRPr/>
            </a:pPr>
            <a:fld id="{D99828A2-EDAE-422C-9FB2-EA2FE3183F9F}" type="slidenum">
              <a:rPr lang="zh-CN" altLang="en-US"/>
            </a:fld>
            <a:endParaRPr lang="en-US" altLang="zh-C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3D751D-872B-4F8D-A1C8-C20A77A10DB0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13"/>
          <p:cNvSpPr/>
          <p:nvPr/>
        </p:nvSpPr>
        <p:spPr bwMode="auto">
          <a:xfrm>
            <a:off x="-12700" y="-7938"/>
            <a:ext cx="1221740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5" name="任意多边形 15"/>
          <p:cNvSpPr/>
          <p:nvPr/>
        </p:nvSpPr>
        <p:spPr bwMode="auto">
          <a:xfrm>
            <a:off x="5842000" y="-7938"/>
            <a:ext cx="63500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+mn-lt"/>
              <a:ea typeface="+mn-ea"/>
            </a:endParaRPr>
          </a:p>
        </p:txBody>
      </p:sp>
      <p:grpSp>
        <p:nvGrpSpPr>
          <p:cNvPr id="6" name="组合 1"/>
          <p:cNvGrpSpPr/>
          <p:nvPr/>
        </p:nvGrpSpPr>
        <p:grpSpPr bwMode="auto">
          <a:xfrm>
            <a:off x="-25400" y="203200"/>
            <a:ext cx="12241213" cy="647700"/>
            <a:chOff x="-19045" y="216550"/>
            <a:chExt cx="9180548" cy="649224"/>
          </a:xfrm>
        </p:grpSpPr>
        <p:sp>
          <p:nvSpPr>
            <p:cNvPr id="7" name="任意多边形 18"/>
            <p:cNvSpPr/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8" name="任意多边形 19"/>
            <p:cNvSpPr/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panose="020B0604020202020204" pitchFamily="34" charset="0"/>
              </a:endParaRPr>
            </a:p>
          </p:txBody>
        </p:sp>
      </p:grpSp>
      <p:sp>
        <p:nvSpPr>
          <p:cNvPr id="9" name="Rectangle 29"/>
          <p:cNvSpPr>
            <a:spLocks noChangeArrowheads="1"/>
          </p:cNvSpPr>
          <p:nvPr userDrawn="1"/>
        </p:nvSpPr>
        <p:spPr bwMode="auto">
          <a:xfrm>
            <a:off x="6827838" y="71438"/>
            <a:ext cx="4022725" cy="369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1800" b="1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集成电子技术基础教程  第二版 下册</a:t>
            </a:r>
            <a:endParaRPr lang="zh-CN" altLang="en-US" sz="1800" b="1">
              <a:solidFill>
                <a:schemeClr val="accent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pPr>
              <a:defRPr/>
            </a:pPr>
            <a:fld id="{DC57EABA-684E-4070-8AAB-857E3317EF0B}" type="slidenum">
              <a:rPr lang="zh-CN" altLang="en-US"/>
            </a:fld>
            <a:endParaRPr lang="en-US" altLang="zh-C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A3FE1F-2A6D-47FC-8A6F-A65E740FD845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D3A718-A81C-4507-B4F9-962CAECBB5AB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86178A-152A-4AE1-A801-CA8A09392B6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B504DC-1575-4F43-AC7A-93A635CCC01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EF5BE5-ACEB-43A9-AC7E-43C15A658A7C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单圆角矩形 13"/>
          <p:cNvSpPr/>
          <p:nvPr/>
        </p:nvSpPr>
        <p:spPr>
          <a:xfrm rot="420000" flipV="1">
            <a:off x="4221163" y="1108075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直角三角形 5"/>
          <p:cNvSpPr/>
          <p:nvPr/>
        </p:nvSpPr>
        <p:spPr>
          <a:xfrm rot="420000" flipV="1">
            <a:off x="10672763" y="5359400"/>
            <a:ext cx="2063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任意多边形 16"/>
          <p:cNvSpPr/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8" name="任意多边形 18"/>
          <p:cNvSpPr/>
          <p:nvPr/>
        </p:nvSpPr>
        <p:spPr bwMode="auto">
          <a:xfrm flipV="1">
            <a:off x="5842000" y="6219825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0769600" y="6356350"/>
            <a:ext cx="812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7467DD-CDE3-4DA8-B35E-FB68474AAE6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D2FBD-D499-421B-94DB-F009A23B3361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D88752-E784-4E34-9B5F-E2A04A4DC195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200" y="228600"/>
            <a:ext cx="10871200" cy="4222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711200" y="1219200"/>
            <a:ext cx="5334000" cy="23939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248400" y="1219200"/>
            <a:ext cx="5334000" cy="1120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248400" y="2492375"/>
            <a:ext cx="5334000" cy="1120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>
  <p:cSld name="标题和两项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200" y="228600"/>
            <a:ext cx="10871200" cy="4222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711200" y="1219200"/>
            <a:ext cx="5334000" cy="1120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248400" y="1219200"/>
            <a:ext cx="5334000" cy="1120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half" idx="3"/>
          </p:nvPr>
        </p:nvSpPr>
        <p:spPr>
          <a:xfrm>
            <a:off x="711200" y="2492375"/>
            <a:ext cx="10871200" cy="1120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标题和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200" y="228600"/>
            <a:ext cx="10871200" cy="4222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11200" y="1219200"/>
            <a:ext cx="10871200" cy="1120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11200" y="2492375"/>
            <a:ext cx="10871200" cy="1120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2.jpeg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/>
        </p:nvSpPr>
        <p:spPr bwMode="auto">
          <a:xfrm>
            <a:off x="-12700" y="-7938"/>
            <a:ext cx="1221740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8" name="任意多边形 7"/>
          <p:cNvSpPr/>
          <p:nvPr/>
        </p:nvSpPr>
        <p:spPr bwMode="auto">
          <a:xfrm>
            <a:off x="5842000" y="-7938"/>
            <a:ext cx="63500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solidFill>
                <a:srgbClr val="FFCC00"/>
              </a:solidFill>
              <a:latin typeface="+mn-lt"/>
              <a:ea typeface="+mn-ea"/>
            </a:endParaRPr>
          </a:p>
        </p:txBody>
      </p:sp>
      <p:sp>
        <p:nvSpPr>
          <p:cNvPr id="1028" name="标题占位符 8"/>
          <p:cNvSpPr>
            <a:spLocks noGrp="1"/>
          </p:cNvSpPr>
          <p:nvPr>
            <p:ph type="title"/>
          </p:nvPr>
        </p:nvSpPr>
        <p:spPr bwMode="auto"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9" name="文本占位符 29"/>
          <p:cNvSpPr>
            <a:spLocks noGrp="1"/>
          </p:cNvSpPr>
          <p:nvPr>
            <p:ph type="body" idx="1"/>
          </p:nvPr>
        </p:nvSpPr>
        <p:spPr bwMode="auto">
          <a:xfrm>
            <a:off x="609600" y="1935163"/>
            <a:ext cx="10972800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" name="页脚占位符 21"/>
          <p:cNvSpPr>
            <a:spLocks noGrp="1"/>
          </p:cNvSpPr>
          <p:nvPr>
            <p:ph type="ftr" sz="quarter" idx="3"/>
          </p:nvPr>
        </p:nvSpPr>
        <p:spPr>
          <a:xfrm>
            <a:off x="3556000" y="6356350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"/>
          </p:nvPr>
        </p:nvSpPr>
        <p:spPr>
          <a:xfrm>
            <a:off x="10566400" y="6356350"/>
            <a:ext cx="1016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/>
          <a:lstStyle>
            <a:lvl1pPr algn="r" eaLnBrk="1" hangingPunct="1">
              <a:defRPr sz="1200">
                <a:solidFill>
                  <a:srgbClr val="045C75"/>
                </a:solidFill>
              </a:defRPr>
            </a:lvl1pPr>
          </a:lstStyle>
          <a:p>
            <a:pPr>
              <a:defRPr/>
            </a:pPr>
            <a:fld id="{C7267B4B-3D63-4C8E-B596-66AB4989540E}" type="slidenum">
              <a:rPr lang="zh-CN" altLang="en-US"/>
            </a:fld>
            <a:endParaRPr lang="en-US" altLang="zh-CN"/>
          </a:p>
        </p:txBody>
      </p:sp>
      <p:grpSp>
        <p:nvGrpSpPr>
          <p:cNvPr id="1033" name="组合 1"/>
          <p:cNvGrpSpPr/>
          <p:nvPr/>
        </p:nvGrpSpPr>
        <p:grpSpPr bwMode="auto">
          <a:xfrm>
            <a:off x="-25400" y="203200"/>
            <a:ext cx="12241213" cy="647700"/>
            <a:chOff x="-19045" y="216550"/>
            <a:chExt cx="9180548" cy="649224"/>
          </a:xfrm>
        </p:grpSpPr>
        <p:sp>
          <p:nvSpPr>
            <p:cNvPr id="12" name="任意多边形 11"/>
            <p:cNvSpPr/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13" name="任意多边形 12"/>
            <p:cNvSpPr/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panose="020B0604020202020204" pitchFamily="34" charset="0"/>
              </a:endParaRPr>
            </a:p>
          </p:txBody>
        </p:sp>
      </p:grpSp>
      <p:sp>
        <p:nvSpPr>
          <p:cNvPr id="1034" name="Rectangle 29"/>
          <p:cNvSpPr>
            <a:spLocks noChangeArrowheads="1"/>
          </p:cNvSpPr>
          <p:nvPr userDrawn="1"/>
        </p:nvSpPr>
        <p:spPr bwMode="auto">
          <a:xfrm>
            <a:off x="9336088" y="92075"/>
            <a:ext cx="268287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1800" b="1" kern="2500" spc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电路与电子技术实验</a:t>
            </a:r>
            <a:r>
              <a:rPr lang="en-US" altLang="zh-CN" sz="1800" b="1" kern="2500" spc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endParaRPr lang="zh-CN" altLang="en-US" sz="1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38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3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405" indent="-209550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185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 panose="05020102010507070707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 panose="05020102010507070707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hyperlink" Target="&#21069;&#35328;-&#30005;&#36335;&#19982;&#30005;&#23376;&#25216;&#26415;&#22522;&#30784;&#23454;&#39564;&#27010;&#36848;20170912.pptx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7.jpeg"/><Relationship Id="rId3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3.jpe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5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14.wmf"/><Relationship Id="rId1" Type="http://schemas.openxmlformats.org/officeDocument/2006/relationships/oleObject" Target="../embeddings/oleObject2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3.vml"/><Relationship Id="rId8" Type="http://schemas.openxmlformats.org/officeDocument/2006/relationships/slideLayout" Target="../slideLayouts/slideLayout14.xml"/><Relationship Id="rId7" Type="http://schemas.openxmlformats.org/officeDocument/2006/relationships/image" Target="../media/image21.jpeg"/><Relationship Id="rId6" Type="http://schemas.openxmlformats.org/officeDocument/2006/relationships/image" Target="../media/image20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9.w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23.jpeg"/><Relationship Id="rId1" Type="http://schemas.openxmlformats.org/officeDocument/2006/relationships/image" Target="../media/image22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26.w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25.png"/><Relationship Id="rId1" Type="http://schemas.openxmlformats.org/officeDocument/2006/relationships/oleObject" Target="../embeddings/oleObject6.bin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15"/>
          <p:cNvSpPr txBox="1">
            <a:spLocks noChangeArrowheads="1"/>
          </p:cNvSpPr>
          <p:nvPr/>
        </p:nvSpPr>
        <p:spPr bwMode="auto">
          <a:xfrm>
            <a:off x="2351881" y="1844824"/>
            <a:ext cx="69850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4400" b="1" dirty="0">
                <a:solidFill>
                  <a:srgbClr val="FFC000"/>
                </a:solidFill>
                <a:latin typeface="宋体" panose="02010600030101010101" pitchFamily="2" charset="-122"/>
              </a:rPr>
              <a:t>常用电子仪器的使用练习</a:t>
            </a:r>
            <a:endParaRPr lang="zh-CN" altLang="en-US" sz="4400" b="1" dirty="0">
              <a:solidFill>
                <a:srgbClr val="FFC000"/>
              </a:solidFill>
              <a:latin typeface="宋体" panose="02010600030101010101" pitchFamily="2" charset="-122"/>
            </a:endParaRPr>
          </a:p>
        </p:txBody>
      </p:sp>
      <p:sp>
        <p:nvSpPr>
          <p:cNvPr id="8195" name="矩形 1"/>
          <p:cNvSpPr>
            <a:spLocks noChangeArrowheads="1"/>
          </p:cNvSpPr>
          <p:nvPr/>
        </p:nvSpPr>
        <p:spPr bwMode="auto">
          <a:xfrm>
            <a:off x="3503613" y="4581525"/>
            <a:ext cx="46815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None/>
            </a:pPr>
            <a:r>
              <a:rPr lang="zh-CN" altLang="en-US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浙江大学电工电子教学中心    张德华</a:t>
            </a:r>
            <a:endParaRPr lang="en-US" altLang="zh-CN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Rectangle 7"/>
          <p:cNvSpPr/>
          <p:nvPr/>
        </p:nvSpPr>
        <p:spPr bwMode="auto">
          <a:xfrm>
            <a:off x="3395663" y="1943100"/>
            <a:ext cx="5194300" cy="8985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>
              <a:defRPr/>
            </a:pPr>
            <a:endParaRPr lang="en-US" altLang="zh-CN" sz="4000" b="1" dirty="0">
              <a:solidFill>
                <a:schemeClr val="accent1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1" tooltip="笔" action="ppaction://hlinkpres?slideindex=1&amp;slidetitle="/>
          </p:cNvPr>
          <p:cNvSpPr txBox="1">
            <a:spLocks noChangeArrowheads="1"/>
          </p:cNvSpPr>
          <p:nvPr/>
        </p:nvSpPr>
        <p:spPr bwMode="auto">
          <a:xfrm>
            <a:off x="2000545" y="638690"/>
            <a:ext cx="6993132" cy="45692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vert="horz" wrap="square" lIns="63500" tIns="25400" rIns="63500" bIns="25400" numCol="1" anchor="t" anchorCtr="0" compatLnSpc="1">
            <a:spAutoFit/>
          </a:bodyPr>
          <a:lstStyle/>
          <a:p>
            <a:pPr marL="342900" marR="0" lvl="0" indent="-342900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实验目的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40604" y="1583795"/>
            <a:ext cx="7380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认识和学会选择常用无源电子器件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RLC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40605" y="2393885"/>
            <a:ext cx="52280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掌握常用电子仪器的使用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40604" y="3203975"/>
            <a:ext cx="52280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掌握实验硬件平台的使用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占位符 11"/>
          <p:cNvSpPr txBox="1"/>
          <p:nvPr/>
        </p:nvSpPr>
        <p:spPr bwMode="auto">
          <a:xfrm>
            <a:off x="3080385" y="2033905"/>
            <a:ext cx="4528820" cy="38290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wrap="square" lIns="63500" tIns="25400" rIns="63500" bIns="25400">
            <a:spAutoFit/>
          </a:bodyPr>
          <a:lstStyle/>
          <a:p>
            <a:pPr marL="457200" indent="-457200" eaLnBrk="0" hangingPunct="0">
              <a:lnSpc>
                <a:spcPct val="90000"/>
              </a:lnSpc>
              <a:spcBef>
                <a:spcPct val="650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u"/>
              <a:defRPr/>
            </a:pPr>
            <a:r>
              <a:rPr lang="zh-CN" altLang="en-US" sz="24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电阻</a:t>
            </a:r>
            <a:r>
              <a:rPr lang="en-US" altLang="zh-CN" sz="24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R——</a:t>
            </a:r>
            <a:r>
              <a:rPr lang="zh-CN" altLang="en-US" sz="24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耗能</a:t>
            </a:r>
            <a:endParaRPr lang="zh-CN" altLang="en-US" sz="2400" b="1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3080385" y="2933700"/>
            <a:ext cx="5580380" cy="423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eaLnBrk="0" hangingPunct="0">
              <a:lnSpc>
                <a:spcPct val="90000"/>
              </a:lnSpc>
              <a:spcBef>
                <a:spcPct val="650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u"/>
              <a:defRPr/>
            </a:pPr>
            <a:r>
              <a:rPr lang="zh-CN" altLang="en-US" sz="24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电容</a:t>
            </a:r>
            <a:r>
              <a:rPr lang="en-US" altLang="zh-CN" sz="24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C——</a:t>
            </a:r>
            <a:r>
              <a:rPr lang="zh-CN" altLang="en-US" sz="24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储能（电场</a:t>
            </a:r>
            <a:r>
              <a:rPr lang="zh-CN" altLang="en-US" sz="24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能量）</a:t>
            </a:r>
            <a:endParaRPr lang="zh-CN" altLang="en-US" sz="2400" b="1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3080385" y="3743960"/>
            <a:ext cx="4663440" cy="423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eaLnBrk="0" hangingPunct="0">
              <a:lnSpc>
                <a:spcPct val="90000"/>
              </a:lnSpc>
              <a:spcBef>
                <a:spcPct val="650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u"/>
              <a:defRPr/>
            </a:pPr>
            <a:r>
              <a:rPr lang="zh-CN" altLang="en-US" sz="24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电感</a:t>
            </a:r>
            <a:r>
              <a:rPr lang="en-US" altLang="zh-CN" sz="24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L——</a:t>
            </a:r>
            <a:r>
              <a:rPr lang="zh-CN" altLang="en-US" sz="24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储能（磁场</a:t>
            </a:r>
            <a:r>
              <a:rPr lang="zh-CN" altLang="en-US" sz="24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能量）</a:t>
            </a:r>
            <a:endParaRPr lang="zh-CN" altLang="en-US" sz="2400" b="1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3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540605" y="908720"/>
            <a:ext cx="4450305" cy="479425"/>
          </a:xfr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buClr>
                <a:schemeClr val="accent1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典型无源电子元件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2495600" y="1944802"/>
            <a:ext cx="7740860" cy="49720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标称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功率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（瓦）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安全工作的功率值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747" name="标题 3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电阻器的主要参数</a:t>
            </a:r>
            <a:endParaRPr lang="zh-CN" altLang="en-US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40" name="矩形 4"/>
          <p:cNvSpPr>
            <a:spLocks noChangeArrowheads="1"/>
          </p:cNvSpPr>
          <p:nvPr/>
        </p:nvSpPr>
        <p:spPr bwMode="auto">
          <a:xfrm>
            <a:off x="2495600" y="2529002"/>
            <a:ext cx="6300788" cy="47025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最大工作电压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41" name="矩形 5"/>
          <p:cNvSpPr>
            <a:spLocks noChangeArrowheads="1"/>
          </p:cNvSpPr>
          <p:nvPr/>
        </p:nvSpPr>
        <p:spPr bwMode="auto">
          <a:xfrm>
            <a:off x="2495600" y="3654025"/>
            <a:ext cx="7696200" cy="47025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温度系数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42" name="Text Box 2"/>
          <p:cNvSpPr txBox="1">
            <a:spLocks noChangeArrowheads="1"/>
          </p:cNvSpPr>
          <p:nvPr/>
        </p:nvSpPr>
        <p:spPr bwMode="auto">
          <a:xfrm>
            <a:off x="2495600" y="863715"/>
            <a:ext cx="3690938" cy="49720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阻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（欧姆）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43" name="Text Box 2"/>
          <p:cNvSpPr txBox="1">
            <a:spLocks noChangeArrowheads="1"/>
          </p:cNvSpPr>
          <p:nvPr/>
        </p:nvSpPr>
        <p:spPr bwMode="auto">
          <a:xfrm>
            <a:off x="2495600" y="1359015"/>
            <a:ext cx="3690938" cy="49720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误差百分比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44" name="矩形 8"/>
          <p:cNvSpPr>
            <a:spLocks noChangeArrowheads="1"/>
          </p:cNvSpPr>
          <p:nvPr/>
        </p:nvSpPr>
        <p:spPr bwMode="auto">
          <a:xfrm>
            <a:off x="2811512" y="3114790"/>
            <a:ext cx="7244927" cy="47025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  <a:buClr>
                <a:schemeClr val="accent1"/>
              </a:buClr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电阻器不发生电击穿两端所允许施加的最大电压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45" name="矩形 9"/>
          <p:cNvSpPr>
            <a:spLocks noChangeArrowheads="1"/>
          </p:cNvSpPr>
          <p:nvPr/>
        </p:nvSpPr>
        <p:spPr bwMode="auto">
          <a:xfrm>
            <a:off x="2765630" y="4239090"/>
            <a:ext cx="7605712" cy="15696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buClr>
                <a:schemeClr val="accent1"/>
              </a:buClr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温度系数是温度每变化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1℃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所产生的电阻值的变化量，与标准温度下（一般为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25 ℃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）的电阻值之比，单位为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1/ ℃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，或写成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ppm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℃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。温度系数可正（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）也可负（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NCT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），可以是线性的，也可以是非线性的。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/>
      <p:bldP spid="14340" grpId="0"/>
      <p:bldP spid="14341" grpId="0"/>
      <p:bldP spid="14342" grpId="0"/>
      <p:bldP spid="14343" grpId="0"/>
      <p:bldP spid="14344" grpId="0"/>
      <p:bldP spid="1434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909763" y="188913"/>
            <a:ext cx="4321252" cy="479425"/>
          </a:xfr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buClr>
                <a:schemeClr val="accent1"/>
              </a:buClr>
              <a:buFont typeface="Wingdings" panose="05000000000000000000" pitchFamily="2" charset="2"/>
              <a:buChar char="u"/>
            </a:pPr>
            <a:r>
              <a:rPr lang="zh-CN" altLang="en-US" sz="2400" b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各种电阻封装</a:t>
            </a:r>
            <a:endParaRPr lang="zh-CN" altLang="en-US" sz="2400" b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3976" y="925804"/>
            <a:ext cx="9694077" cy="5932196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/>
          <p:nvPr/>
        </p:nvGrpSpPr>
        <p:grpSpPr bwMode="auto">
          <a:xfrm>
            <a:off x="1865313" y="4842718"/>
            <a:ext cx="5673725" cy="1898650"/>
            <a:chOff x="907" y="1298"/>
            <a:chExt cx="3946" cy="1485"/>
          </a:xfrm>
        </p:grpSpPr>
        <p:pic>
          <p:nvPicPr>
            <p:cNvPr id="1097" name="Picture 4"/>
            <p:cNvPicPr>
              <a:picLocks noChangeAspect="1" noChangeArrowheads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>
              <a:off x="907" y="1298"/>
              <a:ext cx="3946" cy="1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aphicFrame>
          <p:nvGraphicFramePr>
            <p:cNvPr id="1026" name="Object 5"/>
            <p:cNvGraphicFramePr>
              <a:graphicFrameLocks noChangeAspect="1"/>
            </p:cNvGraphicFramePr>
            <p:nvPr/>
          </p:nvGraphicFramePr>
          <p:xfrm>
            <a:off x="1882" y="2432"/>
            <a:ext cx="1995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0" name="Microsoft 公式 3.0" r:id="rId2" imgW="27736800" imgH="4876800" progId="Equation.3">
                    <p:embed/>
                  </p:oleObj>
                </mc:Choice>
                <mc:Fallback>
                  <p:oleObj name="Microsoft 公式 3.0" r:id="rId2" imgW="27736800" imgH="4876800" progId="Equation.3">
                    <p:embed/>
                    <p:pic>
                      <p:nvPicPr>
                        <p:cNvPr id="0" name="Object 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882" y="2432"/>
                          <a:ext cx="1995" cy="35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2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909762" y="188913"/>
            <a:ext cx="6706517" cy="479425"/>
          </a:xfr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buClr>
                <a:schemeClr val="accent1"/>
              </a:buClr>
              <a:buFont typeface="Wingdings" panose="05000000000000000000" pitchFamily="2" charset="2"/>
              <a:buChar char="n"/>
            </a:pPr>
            <a:r>
              <a:rPr lang="zh-CN" altLang="en-US" sz="2400" b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直插封装色环电阻的阻值表示</a:t>
            </a:r>
            <a:endParaRPr lang="zh-CN" altLang="en-US" sz="2400" b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9" name="Rectangle 7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2855913" y="4752231"/>
            <a:ext cx="4545012" cy="546100"/>
          </a:xfr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269875" indent="-269875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>
                <a:latin typeface="楷体" panose="02010609060101010101" pitchFamily="49" charset="-122"/>
                <a:ea typeface="楷体" panose="02010609060101010101" pitchFamily="49" charset="-122"/>
              </a:rPr>
              <a:t>色道：</a:t>
            </a:r>
            <a:r>
              <a:rPr lang="en-US" altLang="zh-CN" sz="1800">
                <a:latin typeface="楷体" panose="02010609060101010101" pitchFamily="49" charset="-122"/>
                <a:ea typeface="楷体" panose="02010609060101010101" pitchFamily="49" charset="-122"/>
              </a:rPr>
              <a:t>1  2   3       4</a:t>
            </a:r>
            <a:endParaRPr lang="en-US" altLang="zh-CN" sz="180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69875" indent="-269875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>
                <a:latin typeface="楷体" panose="02010609060101010101" pitchFamily="49" charset="-122"/>
                <a:ea typeface="楷体" panose="02010609060101010101" pitchFamily="49" charset="-122"/>
              </a:rPr>
              <a:t>     红  黑  黄     棕</a:t>
            </a:r>
            <a:endParaRPr lang="zh-CN" altLang="en-US" sz="18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126984" name="Group 8"/>
          <p:cNvGraphicFramePr>
            <a:graphicFrameLocks noGrp="1"/>
          </p:cNvGraphicFramePr>
          <p:nvPr/>
        </p:nvGraphicFramePr>
        <p:xfrm>
          <a:off x="1524000" y="3434606"/>
          <a:ext cx="9144000" cy="1249045"/>
        </p:xfrm>
        <a:graphic>
          <a:graphicData uri="http://schemas.openxmlformats.org/drawingml/2006/table">
            <a:tbl>
              <a:tblPr/>
              <a:tblGrid>
                <a:gridCol w="1325880"/>
                <a:gridCol w="434975"/>
                <a:gridCol w="552450"/>
                <a:gridCol w="550545"/>
                <a:gridCol w="434975"/>
                <a:gridCol w="434975"/>
                <a:gridCol w="728980"/>
                <a:gridCol w="842645"/>
                <a:gridCol w="727075"/>
                <a:gridCol w="558800"/>
                <a:gridCol w="668655"/>
                <a:gridCol w="549275"/>
                <a:gridCol w="666750"/>
                <a:gridCol w="668020"/>
              </a:tblGrid>
              <a:tr h="33528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色  别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黑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棕</a:t>
                      </a: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红</a:t>
                      </a: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橙</a:t>
                      </a: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黄</a:t>
                      </a: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绿</a:t>
                      </a: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蓝</a:t>
                      </a: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紫</a:t>
                      </a: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灰</a:t>
                      </a: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白</a:t>
                      </a: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金</a:t>
                      </a: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银</a:t>
                      </a: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本色</a:t>
                      </a: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01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对应数值</a:t>
                      </a: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75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允许误差％</a:t>
                      </a: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±1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±2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±0.5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±0.25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±0.1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±50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－</a:t>
                      </a: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±5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±10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±20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092" name="Picture 70" descr="20071218782018559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851775" y="4925268"/>
            <a:ext cx="2435225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93" name="Rectangle 71"/>
          <p:cNvSpPr>
            <a:spLocks noChangeArrowheads="1"/>
          </p:cNvSpPr>
          <p:nvPr/>
        </p:nvSpPr>
        <p:spPr bwMode="auto">
          <a:xfrm>
            <a:off x="7761288" y="5684252"/>
            <a:ext cx="2781300" cy="9442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bIns="-25392" anchor="ctr">
            <a:spAutoFit/>
          </a:bodyPr>
          <a:lstStyle/>
          <a:p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  <a:t>色环： 黄紫红橙棕</a:t>
            </a:r>
            <a:b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  <a:t>阻值：</a:t>
            </a:r>
            <a:r>
              <a:rPr lang="en-US" altLang="zh-CN" sz="2000">
                <a:latin typeface="楷体" panose="02010609060101010101" pitchFamily="49" charset="-122"/>
                <a:ea typeface="楷体" panose="02010609060101010101" pitchFamily="49" charset="-122"/>
              </a:rPr>
              <a:t>472×1000=472K</a:t>
            </a:r>
            <a:endParaRPr lang="en-US" altLang="zh-CN" sz="200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  <a:t>误差为</a:t>
            </a:r>
            <a:r>
              <a:rPr lang="en-US" altLang="zh-CN" sz="2000">
                <a:latin typeface="楷体" panose="02010609060101010101" pitchFamily="49" charset="-122"/>
                <a:ea typeface="楷体" panose="02010609060101010101" pitchFamily="49" charset="-122"/>
              </a:rPr>
              <a:t>1%</a:t>
            </a:r>
            <a:endParaRPr lang="en-US" altLang="zh-CN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94" name="矩形 10"/>
          <p:cNvSpPr>
            <a:spLocks noChangeArrowheads="1"/>
          </p:cNvSpPr>
          <p:nvPr/>
        </p:nvSpPr>
        <p:spPr bwMode="auto">
          <a:xfrm>
            <a:off x="2135560" y="773705"/>
            <a:ext cx="7875588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阻值与误差的色环表示法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5" name="矩形 11"/>
          <p:cNvSpPr>
            <a:spLocks noChangeArrowheads="1"/>
          </p:cNvSpPr>
          <p:nvPr/>
        </p:nvSpPr>
        <p:spPr bwMode="auto">
          <a:xfrm>
            <a:off x="2135560" y="2759298"/>
            <a:ext cx="42519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色环对应数字和对应误差关系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6" name="矩形 12"/>
          <p:cNvSpPr>
            <a:spLocks noChangeArrowheads="1"/>
          </p:cNvSpPr>
          <p:nvPr/>
        </p:nvSpPr>
        <p:spPr bwMode="auto">
          <a:xfrm>
            <a:off x="2315716" y="1313542"/>
            <a:ext cx="5625405" cy="1323439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四或五道色环定阻值和误差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色环分别表示第一、第二两位数字，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色环表示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的方次，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色环表示阻值的容许误差。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最后一环最粗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6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9" grpId="0" build="p"/>
      <p:bldP spid="1093" grpId="0"/>
      <p:bldP spid="1094" grpId="0"/>
      <p:bldP spid="1095" grpId="0"/>
      <p:bldP spid="1096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3" descr="SNAG-000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524000" y="1143000"/>
            <a:ext cx="9144000" cy="298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4"/>
          <p:cNvSpPr>
            <a:spLocks noChangeArrowheads="1"/>
          </p:cNvSpPr>
          <p:nvPr/>
        </p:nvSpPr>
        <p:spPr bwMode="auto">
          <a:xfrm>
            <a:off x="4881563" y="4445000"/>
            <a:ext cx="293751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kumimoji="1"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电阻器的允许误差表</a:t>
            </a:r>
            <a:endParaRPr kumimoji="1" lang="zh-CN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28029" name="Group 29"/>
          <p:cNvGraphicFramePr>
            <a:graphicFrameLocks noGrp="1"/>
          </p:cNvGraphicFramePr>
          <p:nvPr/>
        </p:nvGraphicFramePr>
        <p:xfrm>
          <a:off x="3890963" y="4991100"/>
          <a:ext cx="4362450" cy="676910"/>
        </p:xfrm>
        <a:graphic>
          <a:graphicData uri="http://schemas.openxmlformats.org/drawingml/2006/table">
            <a:tbl>
              <a:tblPr/>
              <a:tblGrid>
                <a:gridCol w="1104900"/>
                <a:gridCol w="871220"/>
                <a:gridCol w="871855"/>
                <a:gridCol w="756920"/>
                <a:gridCol w="757555"/>
              </a:tblGrid>
              <a:tr h="33845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方正黑体简体" pitchFamily="2" charset="-122"/>
                        </a:rPr>
                        <a:t>系列代号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方正黑体简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方正黑体简体" pitchFamily="2" charset="-122"/>
                        </a:rPr>
                        <a:t>E6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方正黑体简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方正黑体简体" pitchFamily="2" charset="-122"/>
                        </a:rPr>
                        <a:t>E12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方正黑体简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方正黑体简体" pitchFamily="2" charset="-122"/>
                        </a:rPr>
                        <a:t>E24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方正黑体简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方正黑体简体" pitchFamily="2" charset="-122"/>
                        </a:rPr>
                        <a:t>E48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方正黑体简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方正黑体简体" pitchFamily="2" charset="-122"/>
                        </a:rPr>
                        <a:t>允许误差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方正黑体简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方正黑体简体" pitchFamily="2" charset="-122"/>
                        </a:rPr>
                        <a:t>±20%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方正黑体简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方正黑体简体" pitchFamily="2" charset="-122"/>
                        </a:rPr>
                        <a:t>±10%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方正黑体简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方正黑体简体" pitchFamily="2" charset="-122"/>
                        </a:rPr>
                        <a:t>±5%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方正黑体简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方正黑体简体" pitchFamily="2" charset="-122"/>
                        </a:rPr>
                        <a:t>±2%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方正黑体简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0744" name="Rectangle 25"/>
          <p:cNvSpPr>
            <a:spLocks noChangeArrowheads="1"/>
          </p:cNvSpPr>
          <p:nvPr/>
        </p:nvSpPr>
        <p:spPr bwMode="auto">
          <a:xfrm>
            <a:off x="1727200" y="1536700"/>
            <a:ext cx="419100" cy="10795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745" name="Rectangle 26"/>
          <p:cNvSpPr>
            <a:spLocks noChangeArrowheads="1"/>
          </p:cNvSpPr>
          <p:nvPr/>
        </p:nvSpPr>
        <p:spPr bwMode="auto">
          <a:xfrm>
            <a:off x="1739900" y="3009900"/>
            <a:ext cx="419100" cy="2794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38" name="AutoShape 27"/>
          <p:cNvSpPr>
            <a:spLocks noChangeArrowheads="1"/>
          </p:cNvSpPr>
          <p:nvPr/>
        </p:nvSpPr>
        <p:spPr bwMode="auto">
          <a:xfrm>
            <a:off x="2674938" y="819150"/>
            <a:ext cx="1306512" cy="442913"/>
          </a:xfrm>
          <a:prstGeom prst="wedgeRectCallout">
            <a:avLst>
              <a:gd name="adj1" fmla="val -93407"/>
              <a:gd name="adj2" fmla="val 17053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/>
          <a:p>
            <a:pPr algn="ctr"/>
            <a:r>
              <a:rPr kumimoji="1"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四色环</a:t>
            </a:r>
            <a:endParaRPr kumimoji="1" lang="zh-CN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39" name="AutoShape 28"/>
          <p:cNvSpPr>
            <a:spLocks noChangeArrowheads="1"/>
          </p:cNvSpPr>
          <p:nvPr/>
        </p:nvSpPr>
        <p:spPr bwMode="auto">
          <a:xfrm>
            <a:off x="1905000" y="4533900"/>
            <a:ext cx="1155700" cy="533400"/>
          </a:xfrm>
          <a:prstGeom prst="wedgeRectCallout">
            <a:avLst>
              <a:gd name="adj1" fmla="val -41759"/>
              <a:gd name="adj2" fmla="val -286606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/>
          <a:p>
            <a:pPr algn="ctr"/>
            <a:r>
              <a:rPr kumimoji="1"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五色环</a:t>
            </a:r>
            <a:endParaRPr kumimoji="1" lang="zh-CN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1685510" y="368660"/>
            <a:ext cx="6165850" cy="479425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7000"/>
              </a:lnSpc>
              <a:buFont typeface="Wingdings" panose="05000000000000000000" pitchFamily="2" charset="2"/>
              <a:buChar char="u"/>
              <a:defRPr/>
            </a:pPr>
            <a:r>
              <a:rPr lang="zh-CN" altLang="en-US" sz="2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不同系列电阻值</a:t>
            </a:r>
            <a:endParaRPr lang="zh-CN" altLang="en-US" sz="24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8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/>
      <p:bldP spid="13338" grpId="0" bldLvl="0" animBg="1"/>
      <p:bldP spid="13339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2450595" y="1133745"/>
            <a:ext cx="6030670" cy="4349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根据电阻的体积来判断电阻的功率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50883" name="Group 3"/>
          <p:cNvGraphicFramePr>
            <a:graphicFrameLocks noGrp="1"/>
          </p:cNvGraphicFramePr>
          <p:nvPr>
            <p:ph idx="4294967295"/>
          </p:nvPr>
        </p:nvGraphicFramePr>
        <p:xfrm>
          <a:off x="1910535" y="2078850"/>
          <a:ext cx="8496300" cy="3087370"/>
        </p:xfrm>
        <a:graphic>
          <a:graphicData uri="http://schemas.openxmlformats.org/drawingml/2006/table">
            <a:tbl>
              <a:tblPr/>
              <a:tblGrid>
                <a:gridCol w="1809750"/>
                <a:gridCol w="1543050"/>
                <a:gridCol w="1744345"/>
                <a:gridCol w="1700530"/>
                <a:gridCol w="1698625"/>
              </a:tblGrid>
              <a:tr h="46863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额定功率（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W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）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碳膜电阻（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RT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）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金属电阻（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RJ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）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长度（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mm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）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直径（ 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mm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）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长度（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mm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）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直径（ 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mm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）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624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1/8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3.9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6~8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2~2.5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624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1/4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18.5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5.5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7~8.3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2.5~2.9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624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1/2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28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5.5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10.8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4.2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30.5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7.2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13.0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6.6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48.5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9.5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18.5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8.6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819" name="标题 3"/>
          <p:cNvSpPr>
            <a:spLocks noGrp="1"/>
          </p:cNvSpPr>
          <p:nvPr>
            <p:ph type="title" idx="4294967295"/>
          </p:nvPr>
        </p:nvSpPr>
        <p:spPr bwMode="auto">
          <a:xfrm>
            <a:off x="2057400" y="228600"/>
            <a:ext cx="8153400" cy="422275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pPr>
              <a:buClr>
                <a:schemeClr val="accent1"/>
              </a:buClr>
              <a:buFont typeface="Wingdings" panose="05000000000000000000" pitchFamily="2" charset="2"/>
              <a:buChar char="n"/>
            </a:pPr>
            <a:r>
              <a:rPr lang="zh-CN" altLang="en-US" sz="2400" b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直插电阻的功率识别</a:t>
            </a:r>
            <a:endParaRPr lang="zh-CN" altLang="en-US" sz="2400" b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advClick="0" advTm="12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0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4825" y="233363"/>
            <a:ext cx="8540750" cy="422275"/>
          </a:xfr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buClr>
                <a:schemeClr val="accent1"/>
              </a:buClr>
              <a:buFont typeface="Wingdings" panose="05000000000000000000" pitchFamily="2" charset="2"/>
              <a:buChar char="n"/>
            </a:pPr>
            <a:r>
              <a:rPr lang="zh-CN" altLang="en-US" sz="2400" b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碳膜电阻（</a:t>
            </a:r>
            <a:r>
              <a:rPr lang="en-US" altLang="zh-CN" sz="2400" b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RT</a:t>
            </a:r>
            <a:r>
              <a:rPr lang="zh-CN" altLang="en-US" sz="2400" b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）的特性</a:t>
            </a:r>
            <a:endParaRPr lang="zh-CN" altLang="en-US" sz="2400" b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sz="half" idx="3"/>
          </p:nvPr>
        </p:nvSpPr>
        <p:spPr bwMode="auto">
          <a:xfrm>
            <a:off x="1776110" y="1022890"/>
            <a:ext cx="9009310" cy="384175"/>
          </a:xfr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indent="0"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特性：具有较好的稳定性，适用于高频电路，用色环标注　</a:t>
            </a:r>
            <a:endParaRPr lang="zh-CN" altLang="en-US" sz="2400" baseline="28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1524000" y="-225455"/>
            <a:ext cx="184731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2657358" y="1404085"/>
            <a:ext cx="5472112" cy="3455988"/>
            <a:chOff x="1133358" y="1404085"/>
            <a:chExt cx="5472112" cy="3455988"/>
          </a:xfrm>
        </p:grpSpPr>
        <p:pic>
          <p:nvPicPr>
            <p:cNvPr id="3077" name="Picture 4" descr="DSCN3726"/>
            <p:cNvPicPr>
              <a:picLocks noGrp="1" noChangeAspect="1" noChangeArrowheads="1"/>
            </p:cNvPicPr>
            <p:nvPr>
              <p:ph sz="quarter" idx="1"/>
            </p:nvPr>
          </p:nvPicPr>
          <p:blipFill>
            <a:blip r:embed="rId1" cstate="print">
              <a:lum bright="12000"/>
            </a:blip>
            <a:srcRect l="16341" t="31375" r="16455" b="25960"/>
            <a:stretch>
              <a:fillRect/>
            </a:stretch>
          </p:blipFill>
          <p:spPr bwMode="auto">
            <a:xfrm>
              <a:off x="1601670" y="1943835"/>
              <a:ext cx="5003800" cy="2384425"/>
            </a:xfrm>
            <a:noFill/>
            <a:ln>
              <a:miter lim="800000"/>
              <a:headEnd/>
              <a:tailEnd/>
            </a:ln>
          </p:spPr>
        </p:pic>
        <p:grpSp>
          <p:nvGrpSpPr>
            <p:cNvPr id="2" name="组合 13"/>
            <p:cNvGrpSpPr/>
            <p:nvPr/>
          </p:nvGrpSpPr>
          <p:grpSpPr bwMode="auto">
            <a:xfrm>
              <a:off x="1133358" y="4175860"/>
              <a:ext cx="4140200" cy="684213"/>
              <a:chOff x="179388" y="3429000"/>
              <a:chExt cx="4140200" cy="684213"/>
            </a:xfrm>
          </p:grpSpPr>
          <p:sp>
            <p:nvSpPr>
              <p:cNvPr id="3084" name="AutoShape 8"/>
              <p:cNvSpPr>
                <a:spLocks noChangeArrowheads="1"/>
              </p:cNvSpPr>
              <p:nvPr/>
            </p:nvSpPr>
            <p:spPr bwMode="auto">
              <a:xfrm>
                <a:off x="179388" y="3429000"/>
                <a:ext cx="1584325" cy="684213"/>
              </a:xfrm>
              <a:prstGeom prst="wedgeRoundRectCallout">
                <a:avLst>
                  <a:gd name="adj1" fmla="val 70042"/>
                  <a:gd name="adj2" fmla="val -127495"/>
                  <a:gd name="adj3" fmla="val 16667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/>
              <a:lstStyle/>
              <a:p>
                <a:pPr algn="ctr" eaLnBrk="0" hangingPunct="0"/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棕色</a:t>
                </a:r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eaLnBrk="0" hangingPunct="0"/>
                <a:r>
                  <a:rPr lang="zh-CN" altLang="en-US" sz="160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第一位有效数</a:t>
                </a:r>
                <a:endParaRPr lang="zh-CN" altLang="en-US" sz="160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eaLnBrk="0" hangingPunct="0"/>
                <a:endParaRPr lang="zh-CN" altLang="en-US" sz="16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85" name="AutoShape 9"/>
              <p:cNvSpPr>
                <a:spLocks noChangeArrowheads="1"/>
              </p:cNvSpPr>
              <p:nvPr/>
            </p:nvSpPr>
            <p:spPr bwMode="auto">
              <a:xfrm>
                <a:off x="1800225" y="3429000"/>
                <a:ext cx="1584325" cy="684213"/>
              </a:xfrm>
              <a:prstGeom prst="wedgeRoundRectCallout">
                <a:avLst>
                  <a:gd name="adj1" fmla="val -3306"/>
                  <a:gd name="adj2" fmla="val -144431"/>
                  <a:gd name="adj3" fmla="val 16667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/>
              <a:lstStyle/>
              <a:p>
                <a:pPr algn="ctr" eaLnBrk="0" hangingPunct="0"/>
                <a:r>
                  <a:rPr lang="zh-CN" altLang="en-US" sz="160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黑色</a:t>
                </a:r>
                <a:endParaRPr lang="zh-CN" altLang="en-US" sz="160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eaLnBrk="0" hangingPunct="0"/>
                <a:r>
                  <a:rPr lang="zh-CN" altLang="en-US" sz="160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第二位有效数</a:t>
                </a:r>
                <a:endParaRPr lang="zh-CN" altLang="en-US" sz="160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eaLnBrk="0" hangingPunct="0"/>
                <a:endParaRPr lang="zh-CN" altLang="en-US" sz="16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86" name="AutoShape 10"/>
              <p:cNvSpPr>
                <a:spLocks noChangeArrowheads="1"/>
              </p:cNvSpPr>
              <p:nvPr/>
            </p:nvSpPr>
            <p:spPr bwMode="auto">
              <a:xfrm>
                <a:off x="3455988" y="3536950"/>
                <a:ext cx="863600" cy="576263"/>
              </a:xfrm>
              <a:prstGeom prst="wedgeRoundRectCallout">
                <a:avLst>
                  <a:gd name="adj1" fmla="val -92829"/>
                  <a:gd name="adj2" fmla="val -169560"/>
                  <a:gd name="adj3" fmla="val 16667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/>
              <a:lstStyle/>
              <a:p>
                <a:pPr algn="ctr" eaLnBrk="0" hangingPunct="0"/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黄色</a:t>
                </a:r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eaLnBrk="0" hangingPunct="0"/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倍数</a:t>
                </a:r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eaLnBrk="0" hangingPunct="0"/>
                <a:endParaRPr lang="zh-CN" altLang="en-US" sz="16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081" name="AutoShape 11"/>
            <p:cNvSpPr>
              <a:spLocks noChangeArrowheads="1"/>
            </p:cNvSpPr>
            <p:nvPr/>
          </p:nvSpPr>
          <p:spPr bwMode="auto">
            <a:xfrm>
              <a:off x="5381508" y="4283810"/>
              <a:ext cx="1152525" cy="576263"/>
            </a:xfrm>
            <a:prstGeom prst="wedgeRoundRectCallout">
              <a:avLst>
                <a:gd name="adj1" fmla="val -122454"/>
                <a:gd name="adj2" fmla="val -204819"/>
                <a:gd name="adj3" fmla="val 16667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pPr algn="ctr" eaLnBrk="0" hangingPunct="0"/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银色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/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允许偏差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/>
              <a:endParaRPr lang="zh-CN" altLang="en-US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82" name="Text Box 12"/>
            <p:cNvSpPr txBox="1">
              <a:spLocks noChangeArrowheads="1"/>
            </p:cNvSpPr>
            <p:nvPr/>
          </p:nvSpPr>
          <p:spPr bwMode="auto">
            <a:xfrm>
              <a:off x="3222508" y="1404085"/>
              <a:ext cx="2341562" cy="5219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8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28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色标法</a:t>
              </a:r>
              <a:r>
                <a:rPr lang="en-US" altLang="zh-CN" sz="28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lang="en-US" altLang="zh-CN" sz="2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083" name="矩形 12"/>
          <p:cNvSpPr>
            <a:spLocks noChangeArrowheads="1"/>
          </p:cNvSpPr>
          <p:nvPr/>
        </p:nvSpPr>
        <p:spPr bwMode="auto">
          <a:xfrm>
            <a:off x="2045550" y="5049180"/>
            <a:ext cx="8054975" cy="8299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参数识别：１０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×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１０</a:t>
            </a:r>
            <a:r>
              <a:rPr lang="zh-CN" altLang="en-US" sz="2400" baseline="3800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４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＝１０００００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欧＝１００Ｋ欧（</a:t>
            </a:r>
            <a:r>
              <a:rPr lang="el-GR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Ω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），误差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±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１０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%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，功率３Ｗ。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advClick="0" advTm="12000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6" grpId="0" build="p"/>
      <p:bldP spid="308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4"/>
          <p:cNvSpPr>
            <a:spLocks noGrp="1" noChangeArrowheads="1"/>
          </p:cNvSpPr>
          <p:nvPr>
            <p:ph type="body" sz="half" idx="3"/>
          </p:nvPr>
        </p:nvSpPr>
        <p:spPr bwMode="auto">
          <a:xfrm>
            <a:off x="2090555" y="863715"/>
            <a:ext cx="8262938" cy="715963"/>
          </a:xfr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特性：具有较好的稳定性，误差很小，适用于高频电路，用色环标注。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02" name="Rectangle 5"/>
          <p:cNvSpPr>
            <a:spLocks noChangeArrowheads="1"/>
          </p:cNvSpPr>
          <p:nvPr/>
        </p:nvSpPr>
        <p:spPr bwMode="auto">
          <a:xfrm>
            <a:off x="1524000" y="-243532"/>
            <a:ext cx="184731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2495600" y="1853825"/>
            <a:ext cx="6264275" cy="2916237"/>
            <a:chOff x="377720" y="763935"/>
            <a:chExt cx="6264275" cy="2916237"/>
          </a:xfrm>
        </p:grpSpPr>
        <p:pic>
          <p:nvPicPr>
            <p:cNvPr id="4099" name="Picture 2" descr="DSCN3733"/>
            <p:cNvPicPr>
              <a:picLocks noGrp="1" noChangeAspect="1" noChangeArrowheads="1"/>
            </p:cNvPicPr>
            <p:nvPr>
              <p:ph sz="quarter" idx="1"/>
            </p:nvPr>
          </p:nvPicPr>
          <p:blipFill>
            <a:blip r:embed="rId1" cstate="print">
              <a:lum bright="18000" contrast="24000"/>
            </a:blip>
            <a:srcRect l="32974" t="37172" r="28705" b="47469"/>
            <a:stretch>
              <a:fillRect/>
            </a:stretch>
          </p:blipFill>
          <p:spPr bwMode="auto">
            <a:xfrm>
              <a:off x="701570" y="1268760"/>
              <a:ext cx="5400675" cy="1624012"/>
            </a:xfrm>
            <a:noFill/>
            <a:ln>
              <a:miter lim="800000"/>
              <a:headEnd/>
              <a:tailEnd/>
            </a:ln>
          </p:spPr>
        </p:pic>
        <p:sp>
          <p:nvSpPr>
            <p:cNvPr id="4104" name="AutoShape 10"/>
            <p:cNvSpPr>
              <a:spLocks noChangeArrowheads="1"/>
            </p:cNvSpPr>
            <p:nvPr/>
          </p:nvSpPr>
          <p:spPr bwMode="auto">
            <a:xfrm>
              <a:off x="5489470" y="1016347"/>
              <a:ext cx="1152525" cy="576263"/>
            </a:xfrm>
            <a:prstGeom prst="wedgeRoundRectCallout">
              <a:avLst>
                <a:gd name="adj1" fmla="val -155509"/>
                <a:gd name="adj2" fmla="val 42838"/>
                <a:gd name="adj3" fmla="val 16667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pPr eaLnBrk="0" hangingPunct="0"/>
              <a:r>
                <a:rPr lang="zh-CN" altLang="en-US" sz="1400" dirty="0">
                  <a:solidFill>
                    <a:srgbClr val="996633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　棕色</a:t>
              </a:r>
              <a:endParaRPr lang="zh-CN" altLang="en-US" sz="1400" dirty="0">
                <a:solidFill>
                  <a:srgbClr val="996633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 eaLnBrk="0" hangingPunct="0"/>
              <a:r>
                <a:rPr lang="zh-CN" altLang="en-US" sz="1600" dirty="0">
                  <a:solidFill>
                    <a:schemeClr val="tx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允许偏差</a:t>
              </a:r>
              <a:endParaRPr lang="zh-CN" altLang="en-US" sz="16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 algn="ctr" eaLnBrk="0" hangingPunct="0"/>
              <a:endParaRPr lang="zh-CN" altLang="en-US" sz="16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pSp>
          <p:nvGrpSpPr>
            <p:cNvPr id="2" name="组合 14"/>
            <p:cNvGrpSpPr/>
            <p:nvPr/>
          </p:nvGrpSpPr>
          <p:grpSpPr bwMode="auto">
            <a:xfrm>
              <a:off x="377720" y="2924522"/>
              <a:ext cx="4824413" cy="755650"/>
              <a:chOff x="0" y="2889250"/>
              <a:chExt cx="4824413" cy="755650"/>
            </a:xfrm>
          </p:grpSpPr>
          <p:sp>
            <p:nvSpPr>
              <p:cNvPr id="4109" name="AutoShape 8"/>
              <p:cNvSpPr>
                <a:spLocks noChangeArrowheads="1"/>
              </p:cNvSpPr>
              <p:nvPr/>
            </p:nvSpPr>
            <p:spPr bwMode="auto">
              <a:xfrm>
                <a:off x="0" y="2889250"/>
                <a:ext cx="1584325" cy="684213"/>
              </a:xfrm>
              <a:prstGeom prst="wedgeRoundRectCallout">
                <a:avLst>
                  <a:gd name="adj1" fmla="val 87778"/>
                  <a:gd name="adj2" fmla="val -150463"/>
                  <a:gd name="adj3" fmla="val 16667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/>
              <a:lstStyle/>
              <a:p>
                <a:pPr algn="ctr" eaLnBrk="0" hangingPunct="0"/>
                <a:r>
                  <a:rPr lang="zh-CN" altLang="en-US" sz="1600">
                    <a:latin typeface="楷体" panose="02010609060101010101" pitchFamily="49" charset="-122"/>
                    <a:ea typeface="楷体" panose="02010609060101010101" pitchFamily="49" charset="-122"/>
                  </a:rPr>
                  <a:t>蓝色</a:t>
                </a:r>
                <a:endParaRPr lang="zh-CN" altLang="en-US" sz="160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 eaLnBrk="0" hangingPunct="0"/>
                <a:r>
                  <a:rPr lang="zh-CN" altLang="en-US" sz="1600">
                    <a:solidFill>
                      <a:schemeClr val="tx2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第一位有效数</a:t>
                </a:r>
                <a:endParaRPr lang="zh-CN" altLang="en-US" sz="1600">
                  <a:solidFill>
                    <a:schemeClr val="tx2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 eaLnBrk="0" hangingPunct="0"/>
                <a:endParaRPr lang="zh-CN" altLang="en-US" sz="160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4110" name="AutoShape 9"/>
              <p:cNvSpPr>
                <a:spLocks noChangeArrowheads="1"/>
              </p:cNvSpPr>
              <p:nvPr/>
            </p:nvSpPr>
            <p:spPr bwMode="auto">
              <a:xfrm>
                <a:off x="1619250" y="2960688"/>
                <a:ext cx="1584325" cy="684212"/>
              </a:xfrm>
              <a:prstGeom prst="wedgeRoundRectCallout">
                <a:avLst>
                  <a:gd name="adj1" fmla="val 15028"/>
                  <a:gd name="adj2" fmla="val -112644"/>
                  <a:gd name="adj3" fmla="val 16667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/>
              <a:lstStyle/>
              <a:p>
                <a:pPr algn="ctr" eaLnBrk="0" hangingPunct="0"/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橙色</a:t>
                </a:r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 eaLnBrk="0" hangingPunct="0"/>
                <a:r>
                  <a:rPr lang="zh-CN" altLang="en-US" sz="1600" dirty="0">
                    <a:solidFill>
                      <a:schemeClr val="tx2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第二位有效数</a:t>
                </a:r>
                <a:endParaRPr lang="zh-CN" altLang="en-US" sz="1600" dirty="0">
                  <a:solidFill>
                    <a:schemeClr val="tx2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 eaLnBrk="0" hangingPunct="0"/>
                <a:endParaRPr lang="zh-CN" altLang="en-US" sz="16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4111" name="AutoShape 11"/>
              <p:cNvSpPr>
                <a:spLocks noChangeArrowheads="1"/>
              </p:cNvSpPr>
              <p:nvPr/>
            </p:nvSpPr>
            <p:spPr bwMode="auto">
              <a:xfrm>
                <a:off x="3240088" y="2960688"/>
                <a:ext cx="1584325" cy="684212"/>
              </a:xfrm>
              <a:prstGeom prst="wedgeRoundRectCallout">
                <a:avLst>
                  <a:gd name="adj1" fmla="val -66532"/>
                  <a:gd name="adj2" fmla="val -127495"/>
                  <a:gd name="adj3" fmla="val 16667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/>
              <a:lstStyle/>
              <a:p>
                <a:pPr algn="ctr" eaLnBrk="0" hangingPunct="0"/>
                <a:r>
                  <a:rPr lang="zh-CN" altLang="en-US" sz="1600">
                    <a:solidFill>
                      <a:schemeClr val="tx2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黑色</a:t>
                </a:r>
                <a:endParaRPr lang="zh-CN" altLang="en-US" sz="1600">
                  <a:solidFill>
                    <a:schemeClr val="tx2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 eaLnBrk="0" hangingPunct="0"/>
                <a:r>
                  <a:rPr lang="zh-CN" altLang="en-US" sz="1600">
                    <a:solidFill>
                      <a:schemeClr val="tx2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第三位有效数</a:t>
                </a:r>
                <a:endParaRPr lang="zh-CN" altLang="en-US" sz="1600">
                  <a:solidFill>
                    <a:schemeClr val="tx2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 eaLnBrk="0" hangingPunct="0"/>
                <a:endParaRPr lang="zh-CN" altLang="en-US" sz="160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p:grpSp>
        <p:sp>
          <p:nvSpPr>
            <p:cNvPr id="4106" name="AutoShape 12"/>
            <p:cNvSpPr>
              <a:spLocks noChangeArrowheads="1"/>
            </p:cNvSpPr>
            <p:nvPr/>
          </p:nvSpPr>
          <p:spPr bwMode="auto">
            <a:xfrm>
              <a:off x="5381520" y="2995960"/>
              <a:ext cx="863600" cy="576262"/>
            </a:xfrm>
            <a:prstGeom prst="wedgeRoundRectCallout">
              <a:avLst>
                <a:gd name="adj1" fmla="val -231250"/>
                <a:gd name="adj2" fmla="val -150829"/>
                <a:gd name="adj3" fmla="val 16667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pPr algn="ctr" eaLnBrk="0" hangingPunct="0"/>
              <a:r>
                <a:rPr lang="zh-CN" altLang="en-US" sz="1600">
                  <a:latin typeface="楷体" panose="02010609060101010101" pitchFamily="49" charset="-122"/>
                  <a:ea typeface="楷体" panose="02010609060101010101" pitchFamily="49" charset="-122"/>
                </a:rPr>
                <a:t>棕色</a:t>
              </a:r>
              <a:endParaRPr lang="zh-CN" altLang="en-US" sz="1600"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 algn="ctr" eaLnBrk="0" hangingPunct="0"/>
              <a:r>
                <a:rPr lang="zh-CN" altLang="en-US" sz="1600">
                  <a:solidFill>
                    <a:schemeClr val="tx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倍数</a:t>
              </a:r>
              <a:endParaRPr lang="zh-CN" altLang="en-US" sz="160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 algn="ctr" eaLnBrk="0" hangingPunct="0"/>
              <a:endParaRPr lang="zh-CN" altLang="en-US" sz="16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107" name="Text Box 13"/>
            <p:cNvSpPr txBox="1">
              <a:spLocks noChangeArrowheads="1"/>
            </p:cNvSpPr>
            <p:nvPr/>
          </p:nvSpPr>
          <p:spPr bwMode="auto">
            <a:xfrm>
              <a:off x="2646258" y="763935"/>
              <a:ext cx="2341562" cy="5219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80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(</a:t>
              </a:r>
              <a:r>
                <a:rPr lang="zh-CN" altLang="en-US" sz="280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色标法</a:t>
              </a:r>
              <a:r>
                <a:rPr lang="en-US" altLang="zh-CN" sz="280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)</a:t>
              </a:r>
              <a:endParaRPr lang="en-US" altLang="zh-CN" sz="28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4108" name="矩形 13"/>
          <p:cNvSpPr>
            <a:spLocks noChangeArrowheads="1"/>
          </p:cNvSpPr>
          <p:nvPr/>
        </p:nvSpPr>
        <p:spPr bwMode="auto">
          <a:xfrm>
            <a:off x="2045550" y="5139203"/>
            <a:ext cx="8010525" cy="8299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参数识别：６３０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×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１０</a:t>
            </a:r>
            <a:r>
              <a:rPr lang="zh-CN" altLang="en-US" sz="2400" baseline="3800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１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＝６３００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欧＝６．３Ｋ欧（</a:t>
            </a:r>
            <a:r>
              <a:rPr lang="el-GR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Ω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），误差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±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１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%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，功率１／４Ｗ。　</a:t>
            </a:r>
            <a:endParaRPr lang="zh-CN" altLang="en-US" sz="2400" baseline="28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4825" y="233363"/>
            <a:ext cx="8540750" cy="422275"/>
          </a:xfr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buClr>
                <a:schemeClr val="accent1"/>
              </a:buClr>
              <a:buFont typeface="Wingdings" panose="05000000000000000000" pitchFamily="2" charset="2"/>
              <a:buChar char="n"/>
            </a:pPr>
            <a:r>
              <a:rPr lang="zh-CN" altLang="en-US" sz="2400" b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金属电阻（</a:t>
            </a:r>
            <a:r>
              <a:rPr lang="en-US" altLang="zh-CN" sz="2400" b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RJ</a:t>
            </a:r>
            <a:r>
              <a:rPr lang="zh-CN" altLang="en-US" sz="2400" b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）的特性</a:t>
            </a:r>
            <a:endParaRPr lang="zh-CN" altLang="en-US" sz="2400" b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advClick="0" advTm="12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1" grpId="0" build="p"/>
      <p:bldP spid="410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/>
          <p:cNvGrpSpPr/>
          <p:nvPr/>
        </p:nvGrpSpPr>
        <p:grpSpPr>
          <a:xfrm>
            <a:off x="1820525" y="953725"/>
            <a:ext cx="8316912" cy="4880003"/>
            <a:chOff x="296525" y="953725"/>
            <a:chExt cx="8316912" cy="4880003"/>
          </a:xfrm>
        </p:grpSpPr>
        <p:sp>
          <p:nvSpPr>
            <p:cNvPr id="16392" name="Rectangle 9"/>
            <p:cNvSpPr>
              <a:spLocks noChangeArrowheads="1"/>
            </p:cNvSpPr>
            <p:nvPr/>
          </p:nvSpPr>
          <p:spPr bwMode="auto">
            <a:xfrm>
              <a:off x="656565" y="4779150"/>
              <a:ext cx="3257550" cy="98425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阻值为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220</a:t>
              </a:r>
              <a:r>
                <a:rPr lang="el-GR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Ω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，误差值一般标在外包装盒上</a:t>
              </a:r>
              <a:endParaRPr lang="zh-CN" altLang="el-GR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6393" name="Rectangle 10"/>
            <p:cNvSpPr>
              <a:spLocks noChangeArrowheads="1"/>
            </p:cNvSpPr>
            <p:nvPr/>
          </p:nvSpPr>
          <p:spPr bwMode="auto">
            <a:xfrm>
              <a:off x="5067055" y="4689140"/>
              <a:ext cx="3041650" cy="1144588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阻值为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10K</a:t>
              </a:r>
              <a:r>
                <a:rPr lang="el-GR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Ω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，误差值一般标在外包装盒上</a:t>
              </a:r>
              <a:endParaRPr lang="zh-CN" altLang="el-GR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296525" y="953725"/>
              <a:ext cx="8316912" cy="3600450"/>
              <a:chOff x="179388" y="981075"/>
              <a:chExt cx="8316912" cy="3600450"/>
            </a:xfrm>
          </p:grpSpPr>
          <p:sp>
            <p:nvSpPr>
              <p:cNvPr id="33795" name="Rectangle 4"/>
              <p:cNvSpPr>
                <a:spLocks noChangeArrowheads="1"/>
              </p:cNvSpPr>
              <p:nvPr/>
            </p:nvSpPr>
            <p:spPr bwMode="auto">
              <a:xfrm>
                <a:off x="5543550" y="4113213"/>
                <a:ext cx="1800225" cy="46831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pPr algn="ctr"/>
                <a:r>
                  <a:rPr lang="zh-CN" altLang="en-US" sz="24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精密型</a:t>
                </a:r>
                <a:endPara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796" name="Rectangle 5"/>
              <p:cNvSpPr>
                <a:spLocks noChangeArrowheads="1"/>
              </p:cNvSpPr>
              <p:nvPr/>
            </p:nvSpPr>
            <p:spPr bwMode="auto">
              <a:xfrm>
                <a:off x="1403350" y="4076700"/>
                <a:ext cx="1800225" cy="46831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pPr algn="ctr"/>
                <a:r>
                  <a:rPr lang="zh-CN" altLang="en-US" sz="24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普通型</a:t>
                </a:r>
                <a:endPara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389" name="Text Box 6"/>
              <p:cNvSpPr txBox="1">
                <a:spLocks noChangeArrowheads="1"/>
              </p:cNvSpPr>
              <p:nvPr/>
            </p:nvSpPr>
            <p:spPr bwMode="auto">
              <a:xfrm>
                <a:off x="3635375" y="981075"/>
                <a:ext cx="1971740" cy="4616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数标法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endParaRPr lang="en-US" altLang="zh-CN" sz="2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16390" name="Picture 7" descr="DSCN1158"/>
              <p:cNvPicPr>
                <a:picLocks noChangeAspect="1" noChangeArrowheads="1"/>
              </p:cNvPicPr>
              <p:nvPr/>
            </p:nvPicPr>
            <p:blipFill>
              <a:blip r:embed="rId1" cstate="print">
                <a:lum bright="6000"/>
              </a:blip>
              <a:srcRect l="22508" t="35368" r="47195" b="39214"/>
              <a:stretch>
                <a:fillRect/>
              </a:stretch>
            </p:blipFill>
            <p:spPr bwMode="auto">
              <a:xfrm>
                <a:off x="4464050" y="1592263"/>
                <a:ext cx="4032250" cy="25368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391" name="Picture 8" descr="DSCN1158"/>
              <p:cNvPicPr>
                <a:picLocks noChangeAspect="1" noChangeArrowheads="1"/>
              </p:cNvPicPr>
              <p:nvPr/>
            </p:nvPicPr>
            <p:blipFill>
              <a:blip r:embed="rId1" cstate="print">
                <a:lum bright="12000" contrast="18000"/>
              </a:blip>
              <a:srcRect l="22508" t="59796" r="45778" b="10783"/>
              <a:stretch>
                <a:fillRect/>
              </a:stretch>
            </p:blipFill>
            <p:spPr bwMode="auto">
              <a:xfrm>
                <a:off x="576263" y="1592263"/>
                <a:ext cx="3636962" cy="25304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grpSp>
            <p:nvGrpSpPr>
              <p:cNvPr id="2" name="组合 17"/>
              <p:cNvGrpSpPr/>
              <p:nvPr/>
            </p:nvGrpSpPr>
            <p:grpSpPr bwMode="auto">
              <a:xfrm>
                <a:off x="179388" y="3608388"/>
                <a:ext cx="3240087" cy="433387"/>
                <a:chOff x="179388" y="3608388"/>
                <a:chExt cx="3240087" cy="433387"/>
              </a:xfrm>
            </p:grpSpPr>
            <p:sp>
              <p:nvSpPr>
                <p:cNvPr id="33810" name="AutoShape 11"/>
                <p:cNvSpPr>
                  <a:spLocks noChangeArrowheads="1"/>
                </p:cNvSpPr>
                <p:nvPr/>
              </p:nvSpPr>
              <p:spPr bwMode="auto">
                <a:xfrm>
                  <a:off x="179388" y="3608388"/>
                  <a:ext cx="1584325" cy="433387"/>
                </a:xfrm>
                <a:prstGeom prst="wedgeRoundRectCallout">
                  <a:avLst>
                    <a:gd name="adj1" fmla="val 55713"/>
                    <a:gd name="adj2" fmla="val -202745"/>
                    <a:gd name="adj3" fmla="val 16667"/>
                  </a:avLst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/>
                <a:lstStyle/>
                <a:p>
                  <a:pPr algn="ctr" eaLnBrk="0" hangingPunct="0"/>
                  <a:r>
                    <a:rPr lang="zh-CN" altLang="en-US" sz="1600">
                      <a:solidFill>
                        <a:schemeClr val="tx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第一位有效数</a:t>
                  </a:r>
                  <a:endParaRPr lang="zh-CN" altLang="en-US" sz="160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 eaLnBrk="0" hangingPunct="0"/>
                  <a:endParaRPr lang="zh-CN" altLang="en-US" sz="160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3811" name="AutoShape 12"/>
                <p:cNvSpPr>
                  <a:spLocks noChangeArrowheads="1"/>
                </p:cNvSpPr>
                <p:nvPr/>
              </p:nvSpPr>
              <p:spPr bwMode="auto">
                <a:xfrm>
                  <a:off x="1835150" y="3608388"/>
                  <a:ext cx="1584325" cy="433387"/>
                </a:xfrm>
                <a:prstGeom prst="wedgeRoundRectCallout">
                  <a:avLst>
                    <a:gd name="adj1" fmla="val -16431"/>
                    <a:gd name="adj2" fmla="val -205676"/>
                    <a:gd name="adj3" fmla="val 16667"/>
                  </a:avLst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/>
                <a:lstStyle/>
                <a:p>
                  <a:pPr algn="ctr" eaLnBrk="0" hangingPunct="0"/>
                  <a:r>
                    <a:rPr lang="zh-CN" altLang="en-US" sz="1600">
                      <a:solidFill>
                        <a:schemeClr val="tx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第二位有效数</a:t>
                  </a:r>
                  <a:endParaRPr lang="zh-CN" altLang="en-US" sz="160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 eaLnBrk="0" hangingPunct="0"/>
                  <a:endParaRPr lang="zh-CN" altLang="en-US" sz="160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6395" name="AutoShape 13"/>
              <p:cNvSpPr>
                <a:spLocks noChangeArrowheads="1"/>
              </p:cNvSpPr>
              <p:nvPr/>
            </p:nvSpPr>
            <p:spPr bwMode="auto">
              <a:xfrm>
                <a:off x="3455988" y="3608388"/>
                <a:ext cx="720725" cy="433387"/>
              </a:xfrm>
              <a:prstGeom prst="wedgeRoundRectCallout">
                <a:avLst>
                  <a:gd name="adj1" fmla="val -109690"/>
                  <a:gd name="adj2" fmla="val -227657"/>
                  <a:gd name="adj3" fmla="val 16667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/>
              <a:lstStyle/>
              <a:p>
                <a:pPr algn="ctr" eaLnBrk="0" hangingPunct="0"/>
                <a:r>
                  <a:rPr lang="zh-CN" altLang="en-US" sz="160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倍数</a:t>
                </a:r>
                <a:endParaRPr lang="zh-CN" altLang="en-US" sz="160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eaLnBrk="0" hangingPunct="0"/>
                <a:endParaRPr lang="zh-CN" altLang="en-US" sz="16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" name="组合 19"/>
              <p:cNvGrpSpPr/>
              <p:nvPr/>
            </p:nvGrpSpPr>
            <p:grpSpPr bwMode="auto">
              <a:xfrm>
                <a:off x="4608513" y="3465513"/>
                <a:ext cx="3024187" cy="647700"/>
                <a:chOff x="4608513" y="3465513"/>
                <a:chExt cx="3024187" cy="647700"/>
              </a:xfrm>
            </p:grpSpPr>
            <p:grpSp>
              <p:nvGrpSpPr>
                <p:cNvPr id="4" name="组合 18"/>
                <p:cNvGrpSpPr/>
                <p:nvPr/>
              </p:nvGrpSpPr>
              <p:grpSpPr bwMode="auto">
                <a:xfrm>
                  <a:off x="4608513" y="3500438"/>
                  <a:ext cx="2087562" cy="612775"/>
                  <a:chOff x="4608513" y="3500438"/>
                  <a:chExt cx="2087562" cy="612775"/>
                </a:xfrm>
              </p:grpSpPr>
              <p:sp>
                <p:nvSpPr>
                  <p:cNvPr id="33808" name="AutoShape 14"/>
                  <p:cNvSpPr>
                    <a:spLocks noChangeArrowheads="1"/>
                  </p:cNvSpPr>
                  <p:nvPr/>
                </p:nvSpPr>
                <p:spPr bwMode="auto">
                  <a:xfrm>
                    <a:off x="4608513" y="3500438"/>
                    <a:ext cx="1008062" cy="611187"/>
                  </a:xfrm>
                  <a:prstGeom prst="wedgeRoundRectCallout">
                    <a:avLst>
                      <a:gd name="adj1" fmla="val 59449"/>
                      <a:gd name="adj2" fmla="val -122986"/>
                      <a:gd name="adj3" fmla="val 16667"/>
                    </a:avLst>
                  </a:prstGeom>
                  <a:solidFill>
                    <a:srgbClr val="FFFF00"/>
                  </a:solidFill>
                  <a:ln w="9525">
                    <a:solidFill>
                      <a:schemeClr val="tx1"/>
                    </a:solidFill>
                    <a:miter lim="800000"/>
                  </a:ln>
                </p:spPr>
                <p:txBody>
                  <a:bodyPr/>
                  <a:lstStyle/>
                  <a:p>
                    <a:pPr algn="ctr" eaLnBrk="0" hangingPunct="0"/>
                    <a:r>
                      <a:rPr lang="zh-CN" altLang="en-US" sz="16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第一位有效数</a:t>
                    </a:r>
                    <a:endParaRPr lang="zh-CN" altLang="en-US" sz="1600">
                      <a:solidFill>
                        <a:schemeClr val="tx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  <a:p>
                    <a:pPr algn="ctr" eaLnBrk="0" hangingPunct="0"/>
                    <a:endParaRPr lang="zh-CN" altLang="en-US" sz="160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3809" name="AutoShape 15"/>
                  <p:cNvSpPr>
                    <a:spLocks noChangeArrowheads="1"/>
                  </p:cNvSpPr>
                  <p:nvPr/>
                </p:nvSpPr>
                <p:spPr bwMode="auto">
                  <a:xfrm>
                    <a:off x="5795963" y="3500438"/>
                    <a:ext cx="900112" cy="612775"/>
                  </a:xfrm>
                  <a:prstGeom prst="wedgeRoundRectCallout">
                    <a:avLst>
                      <a:gd name="adj1" fmla="val -440"/>
                      <a:gd name="adj2" fmla="val -116060"/>
                      <a:gd name="adj3" fmla="val 16667"/>
                    </a:avLst>
                  </a:prstGeom>
                  <a:solidFill>
                    <a:srgbClr val="FFFF00"/>
                  </a:solidFill>
                  <a:ln w="9525">
                    <a:solidFill>
                      <a:schemeClr val="tx1"/>
                    </a:solidFill>
                    <a:miter lim="800000"/>
                  </a:ln>
                </p:spPr>
                <p:txBody>
                  <a:bodyPr/>
                  <a:lstStyle/>
                  <a:p>
                    <a:pPr algn="ctr" eaLnBrk="0" hangingPunct="0"/>
                    <a:r>
                      <a:rPr lang="zh-CN" altLang="en-US" sz="16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第二位有效数</a:t>
                    </a:r>
                    <a:endParaRPr lang="zh-CN" altLang="en-US" sz="1600">
                      <a:solidFill>
                        <a:schemeClr val="tx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  <a:p>
                    <a:pPr algn="ctr" eaLnBrk="0" hangingPunct="0"/>
                    <a:endParaRPr lang="zh-CN" altLang="en-US" sz="160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33807" name="AutoShape 16"/>
                <p:cNvSpPr>
                  <a:spLocks noChangeArrowheads="1"/>
                </p:cNvSpPr>
                <p:nvPr/>
              </p:nvSpPr>
              <p:spPr bwMode="auto">
                <a:xfrm>
                  <a:off x="6732588" y="3465513"/>
                  <a:ext cx="900112" cy="612775"/>
                </a:xfrm>
                <a:prstGeom prst="wedgeRoundRectCallout">
                  <a:avLst>
                    <a:gd name="adj1" fmla="val -53000"/>
                    <a:gd name="adj2" fmla="val -111657"/>
                    <a:gd name="adj3" fmla="val 16667"/>
                  </a:avLst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/>
                <a:lstStyle/>
                <a:p>
                  <a:pPr algn="ctr" eaLnBrk="0" hangingPunct="0"/>
                  <a:r>
                    <a:rPr lang="zh-CN" altLang="en-US" sz="1600">
                      <a:solidFill>
                        <a:schemeClr val="tx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第三位有效数</a:t>
                  </a:r>
                  <a:endParaRPr lang="zh-CN" altLang="en-US" sz="160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 eaLnBrk="0" hangingPunct="0"/>
                  <a:endParaRPr lang="zh-CN" altLang="en-US" sz="160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6397" name="AutoShape 17"/>
              <p:cNvSpPr>
                <a:spLocks noChangeArrowheads="1"/>
              </p:cNvSpPr>
              <p:nvPr/>
            </p:nvSpPr>
            <p:spPr bwMode="auto">
              <a:xfrm>
                <a:off x="7451725" y="1628775"/>
                <a:ext cx="684213" cy="396875"/>
              </a:xfrm>
              <a:prstGeom prst="wedgeRoundRectCallout">
                <a:avLst>
                  <a:gd name="adj1" fmla="val -78074"/>
                  <a:gd name="adj2" fmla="val 117199"/>
                  <a:gd name="adj3" fmla="val 16667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/>
              <a:lstStyle/>
              <a:p>
                <a:pPr algn="ctr" eaLnBrk="0" hangingPunct="0"/>
                <a:r>
                  <a:rPr lang="zh-CN" altLang="en-US" sz="160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倍数</a:t>
                </a:r>
                <a:endParaRPr lang="zh-CN" altLang="en-US" sz="160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eaLnBrk="0" hangingPunct="0"/>
                <a:endParaRPr lang="zh-CN" altLang="en-US" sz="16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20" name="Rectangle 2"/>
          <p:cNvSpPr txBox="1">
            <a:spLocks noChangeArrowheads="1"/>
          </p:cNvSpPr>
          <p:nvPr/>
        </p:nvSpPr>
        <p:spPr bwMode="auto">
          <a:xfrm>
            <a:off x="1774825" y="233363"/>
            <a:ext cx="8540750" cy="422275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贴片封装电阻（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RT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）的特性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</p:cSld>
  <p:clrMapOvr>
    <a:masterClrMapping/>
  </p:clrMapOvr>
  <p:transition advClick="0" advTm="1200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3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2000545" y="998730"/>
            <a:ext cx="8540750" cy="715962"/>
          </a:xfr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特性：具有较好的散热性，适用电流较大、温度较高的电子布线中，其材质较脆、体积偏大。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25" name="Rectangle 4"/>
          <p:cNvSpPr>
            <a:spLocks noChangeArrowheads="1"/>
          </p:cNvSpPr>
          <p:nvPr/>
        </p:nvSpPr>
        <p:spPr bwMode="auto">
          <a:xfrm>
            <a:off x="1524000" y="-230832"/>
            <a:ext cx="184731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2900645" y="2258870"/>
            <a:ext cx="4824413" cy="2261890"/>
            <a:chOff x="863600" y="1341438"/>
            <a:chExt cx="4824413" cy="2261890"/>
          </a:xfrm>
        </p:grpSpPr>
        <p:pic>
          <p:nvPicPr>
            <p:cNvPr id="5127" name="Picture 7" descr="DSCN3730"/>
            <p:cNvPicPr>
              <a:picLocks noGrp="1" noChangeAspect="1" noChangeArrowheads="1"/>
            </p:cNvPicPr>
            <p:nvPr>
              <p:ph sz="half" idx="1"/>
            </p:nvPr>
          </p:nvPicPr>
          <p:blipFill>
            <a:blip r:embed="rId1" cstate="print">
              <a:lum bright="6000"/>
            </a:blip>
            <a:srcRect l="15729" t="38936" r="20238" b="30350"/>
            <a:stretch>
              <a:fillRect/>
            </a:stretch>
          </p:blipFill>
          <p:spPr bwMode="auto">
            <a:xfrm>
              <a:off x="863600" y="1341438"/>
              <a:ext cx="4824413" cy="1736725"/>
            </a:xfrm>
            <a:noFill/>
            <a:ln>
              <a:miter lim="800000"/>
              <a:headEnd/>
              <a:tailEnd/>
            </a:ln>
          </p:spPr>
        </p:pic>
        <p:sp>
          <p:nvSpPr>
            <p:cNvPr id="5128" name="Text Box 8"/>
            <p:cNvSpPr txBox="1">
              <a:spLocks noChangeArrowheads="1"/>
            </p:cNvSpPr>
            <p:nvPr/>
          </p:nvSpPr>
          <p:spPr bwMode="auto">
            <a:xfrm>
              <a:off x="2555875" y="3141663"/>
              <a:ext cx="2341563" cy="4616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2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直标法</a:t>
              </a:r>
              <a:r>
                <a:rPr lang="en-US" altLang="zh-CN" sz="2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129" name="矩形 8"/>
          <p:cNvSpPr>
            <a:spLocks noChangeArrowheads="1"/>
          </p:cNvSpPr>
          <p:nvPr/>
        </p:nvSpPr>
        <p:spPr bwMode="auto">
          <a:xfrm>
            <a:off x="2090555" y="5184195"/>
            <a:ext cx="8101013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参数识别：３３欧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（</a:t>
            </a:r>
            <a:r>
              <a:rPr lang="el-GR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Ω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）、功率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Ｗ、误差（Ｊ）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±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５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%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endParaRPr lang="zh-CN" altLang="en-US" sz="2400" baseline="28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1774825" y="233363"/>
            <a:ext cx="8540750" cy="422275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水泥电阻的特性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</p:cSld>
  <p:clrMapOvr>
    <a:masterClrMapping/>
  </p:clrMapOvr>
  <p:transition advClick="0" advTm="12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build="p"/>
      <p:bldP spid="512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2315580" y="1088740"/>
            <a:ext cx="5762625" cy="49720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179705" indent="-179705">
              <a:lnSpc>
                <a:spcPct val="110000"/>
              </a:lnSpc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标称电容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（法拉）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2000545" y="278650"/>
            <a:ext cx="8234363" cy="372603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lIns="63500" tIns="25400" rIns="63500" bIns="25400">
            <a:spAutoFit/>
          </a:bodyPr>
          <a:lstStyle/>
          <a:p>
            <a:pPr eaLnBrk="0" hangingPunct="0">
              <a:lnSpc>
                <a:spcPct val="87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sz="2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电容器的主要参数指标</a:t>
            </a:r>
            <a:endParaRPr lang="zh-CN" altLang="en-US" sz="24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21508" name="矩形 4"/>
          <p:cNvSpPr>
            <a:spLocks noChangeArrowheads="1"/>
          </p:cNvSpPr>
          <p:nvPr/>
        </p:nvSpPr>
        <p:spPr bwMode="auto">
          <a:xfrm>
            <a:off x="2315580" y="1638015"/>
            <a:ext cx="7740650" cy="4972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179705" indent="-179705">
              <a:lnSpc>
                <a:spcPct val="110000"/>
              </a:lnSpc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最大工作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耐压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（伏）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09" name="矩形 5"/>
          <p:cNvSpPr>
            <a:spLocks noChangeArrowheads="1"/>
          </p:cNvSpPr>
          <p:nvPr/>
        </p:nvSpPr>
        <p:spPr bwMode="auto">
          <a:xfrm>
            <a:off x="2315580" y="3435796"/>
            <a:ext cx="7515225" cy="47025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179705" indent="-179705">
              <a:lnSpc>
                <a:spcPct val="110000"/>
              </a:lnSpc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容许误差（百分比）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10" name="矩形 6"/>
          <p:cNvSpPr>
            <a:spLocks noChangeArrowheads="1"/>
          </p:cNvSpPr>
          <p:nvPr/>
        </p:nvSpPr>
        <p:spPr bwMode="auto">
          <a:xfrm>
            <a:off x="2315580" y="4065866"/>
            <a:ext cx="4572000" cy="47025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179705" indent="-179705">
              <a:lnSpc>
                <a:spcPct val="110000"/>
              </a:lnSpc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电容值温度系数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11" name="矩形 10"/>
          <p:cNvSpPr>
            <a:spLocks noChangeArrowheads="1"/>
          </p:cNvSpPr>
          <p:nvPr/>
        </p:nvSpPr>
        <p:spPr bwMode="auto">
          <a:xfrm>
            <a:off x="2783632" y="2216272"/>
            <a:ext cx="7954974" cy="12003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规定温度长期工作时，电容器两端所能承受的最大安全工作直流电压。纸介质和瓷介质电容器的工作电压可从几十伏到几万伏；电解电容器的工作电压从几伏到上千伏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2315580" y="4605926"/>
            <a:ext cx="5041900" cy="47025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179705" indent="-179705">
              <a:lnSpc>
                <a:spcPct val="110000"/>
              </a:lnSpc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绝缘电阻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5"/>
          <p:cNvSpPr>
            <a:spLocks noChangeArrowheads="1"/>
          </p:cNvSpPr>
          <p:nvPr/>
        </p:nvSpPr>
        <p:spPr bwMode="auto">
          <a:xfrm>
            <a:off x="2315580" y="5235996"/>
            <a:ext cx="6660740" cy="47025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179705" indent="-179705">
              <a:lnSpc>
                <a:spcPct val="110000"/>
              </a:lnSpc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能量损耗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两端加交流电压所产生的功耗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6"/>
          <p:cNvSpPr>
            <a:spLocks noChangeArrowheads="1"/>
          </p:cNvSpPr>
          <p:nvPr/>
        </p:nvSpPr>
        <p:spPr bwMode="auto">
          <a:xfrm>
            <a:off x="2315580" y="5911071"/>
            <a:ext cx="7065962" cy="47025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179705" indent="-179705">
              <a:lnSpc>
                <a:spcPct val="110000"/>
              </a:lnSpc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固有电感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/>
      <p:bldP spid="21508" grpId="0"/>
      <p:bldP spid="21509" grpId="0"/>
      <p:bldP spid="21510" grpId="0"/>
      <p:bldP spid="21511" grpId="0"/>
      <p:bldP spid="9" grpId="0"/>
      <p:bldP spid="10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3"/>
          <p:cNvSpPr>
            <a:spLocks noGrp="1"/>
          </p:cNvSpPr>
          <p:nvPr>
            <p:ph type="title" idx="4294967295"/>
          </p:nvPr>
        </p:nvSpPr>
        <p:spPr bwMode="auto">
          <a:xfrm>
            <a:off x="1865530" y="233645"/>
            <a:ext cx="8153400" cy="422275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pPr>
              <a:buClr>
                <a:schemeClr val="accent1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常见电容器的封装</a:t>
            </a:r>
            <a:endParaRPr lang="zh-CN" altLang="en-US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4819" name="Picture 5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774825" y="1089025"/>
            <a:ext cx="8389938" cy="490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advClick="0" advTm="1200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2000545" y="188640"/>
            <a:ext cx="8234363" cy="425450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pPr>
              <a:buClr>
                <a:schemeClr val="accent1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电容用途和电容值识别 </a:t>
            </a:r>
            <a:endParaRPr lang="zh-CN" altLang="en-US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2270575" y="818710"/>
            <a:ext cx="8199437" cy="604838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pPr>
              <a:buSzPct val="100000"/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电容用途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436" name="矩形 4"/>
          <p:cNvSpPr>
            <a:spLocks noChangeArrowheads="1"/>
          </p:cNvSpPr>
          <p:nvPr/>
        </p:nvSpPr>
        <p:spPr bwMode="auto">
          <a:xfrm>
            <a:off x="2450595" y="2978950"/>
            <a:ext cx="715645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色标法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与电阻同，或直接标数值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437" name="矩形 5"/>
          <p:cNvSpPr>
            <a:spLocks noChangeArrowheads="1"/>
          </p:cNvSpPr>
          <p:nvPr/>
        </p:nvSpPr>
        <p:spPr bwMode="auto">
          <a:xfrm>
            <a:off x="2495600" y="3564015"/>
            <a:ext cx="7335838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单位                           ，缺省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439" name="矩形 7"/>
          <p:cNvSpPr>
            <a:spLocks noChangeArrowheads="1"/>
          </p:cNvSpPr>
          <p:nvPr/>
        </p:nvSpPr>
        <p:spPr bwMode="auto">
          <a:xfrm>
            <a:off x="2270575" y="2339470"/>
            <a:ext cx="823595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buClr>
                <a:schemeClr val="accent1"/>
              </a:buClr>
              <a:buFont typeface="Wingdings" panose="05000000000000000000" pitchFamily="2" charset="2"/>
              <a:buChar char="u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电容值识别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585609" y="1403775"/>
            <a:ext cx="720080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用于滤波、隔直、交流耦合，交流旁路以及与电感构成振荡回路等 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9634" name="Object 2"/>
          <p:cNvGraphicFramePr>
            <a:graphicFrameLocks noChangeAspect="1"/>
          </p:cNvGraphicFramePr>
          <p:nvPr/>
        </p:nvGraphicFramePr>
        <p:xfrm>
          <a:off x="3440705" y="3654025"/>
          <a:ext cx="1695562" cy="371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1" imgW="22250400" imgH="4876800" progId="Equation.DSMT4">
                  <p:embed/>
                </p:oleObj>
              </mc:Choice>
              <mc:Fallback>
                <p:oleObj name="Equation" r:id="rId1" imgW="22250400" imgH="4876800" progId="Equation.DSMT4">
                  <p:embed/>
                  <p:pic>
                    <p:nvPicPr>
                      <p:cNvPr id="0" name="Object 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440705" y="3654025"/>
                        <a:ext cx="1695562" cy="3716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"/>
          <p:cNvGraphicFramePr>
            <a:graphicFrameLocks noChangeAspect="1"/>
          </p:cNvGraphicFramePr>
          <p:nvPr/>
        </p:nvGraphicFramePr>
        <p:xfrm>
          <a:off x="6096000" y="3609020"/>
          <a:ext cx="4635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6096000" imgH="4876800" progId="Equation.DSMT4">
                  <p:embed/>
                </p:oleObj>
              </mc:Choice>
              <mc:Fallback>
                <p:oleObj name="Equation" r:id="rId3" imgW="6096000" imgH="4876800" progId="Equation.DSMT4">
                  <p:embed/>
                  <p:pic>
                    <p:nvPicPr>
                      <p:cNvPr id="0" name="Object 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96000" y="3609020"/>
                        <a:ext cx="463550" cy="3714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2270575" y="4364695"/>
            <a:ext cx="5768950" cy="384175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287655" marR="0" lvl="0" indent="-287655" algn="l" defTabSz="914400" rtl="0" eaLnBrk="0" fontAlgn="base" latinLnBrk="0" hangingPunct="0">
              <a:lnSpc>
                <a:spcPct val="90000"/>
              </a:lnSpc>
              <a:spcBef>
                <a:spcPct val="65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u"/>
              <a:defRPr/>
            </a:pP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电容容量误差表</a:t>
            </a:r>
            <a:endParaRPr kumimoji="0" lang="zh-CN" altLang="en-US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2" name="Group 3"/>
          <p:cNvGraphicFramePr/>
          <p:nvPr/>
        </p:nvGraphicFramePr>
        <p:xfrm>
          <a:off x="2522538" y="5022360"/>
          <a:ext cx="7480300" cy="828675"/>
        </p:xfrm>
        <a:graphic>
          <a:graphicData uri="http://schemas.openxmlformats.org/drawingml/2006/table">
            <a:tbl>
              <a:tblPr/>
              <a:tblGrid>
                <a:gridCol w="1179195"/>
                <a:gridCol w="1012825"/>
                <a:gridCol w="1085850"/>
                <a:gridCol w="1090930"/>
                <a:gridCol w="1093470"/>
                <a:gridCol w="1090930"/>
                <a:gridCol w="927100"/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符号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允许误差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±1%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±2%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±5%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±10%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±15%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3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±20%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12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/>
      <p:bldP spid="18436" grpId="0"/>
      <p:bldP spid="18437" grpId="0"/>
      <p:bldP spid="18439" grpId="0"/>
      <p:bldP spid="11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95325" y="2438400"/>
            <a:ext cx="8153400" cy="373063"/>
          </a:xfr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ctr"/>
            <a:r>
              <a:rPr lang="zh-CN" altLang="en-US" sz="2400" b="0">
                <a:solidFill>
                  <a:schemeClr val="tx1"/>
                </a:solidFill>
                <a:ea typeface="宋体" panose="02010600030101010101" pitchFamily="2" charset="-122"/>
              </a:rPr>
              <a:t>电容器型号</a:t>
            </a:r>
            <a:endParaRPr lang="zh-CN" altLang="en-US" sz="2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37891" name="Picture 3" descr="SNAG-0051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063875" y="728663"/>
            <a:ext cx="6046788" cy="573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2225675" y="188913"/>
            <a:ext cx="4725420" cy="372603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wrap="square" lIns="63500" tIns="25400" rIns="63500" bIns="25400">
            <a:spAutoFit/>
          </a:bodyPr>
          <a:lstStyle/>
          <a:p>
            <a:pPr eaLnBrk="0" hangingPunct="0">
              <a:lnSpc>
                <a:spcPct val="87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不同材质的电容</a:t>
            </a:r>
            <a:endParaRPr lang="zh-CN" altLang="en-US" sz="24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3"/>
          <p:cNvSpPr>
            <a:spLocks noGrp="1"/>
          </p:cNvSpPr>
          <p:nvPr>
            <p:ph type="title"/>
          </p:nvPr>
        </p:nvSpPr>
        <p:spPr bwMode="auto">
          <a:xfrm>
            <a:off x="2057400" y="585835"/>
            <a:ext cx="8153400" cy="425450"/>
          </a:xfr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buClr>
                <a:schemeClr val="accent1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铝电解电容器的特性</a:t>
            </a:r>
            <a:endParaRPr lang="zh-CN" altLang="en-US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555" name="矩形 4"/>
          <p:cNvSpPr>
            <a:spLocks noChangeArrowheads="1"/>
          </p:cNvSpPr>
          <p:nvPr/>
        </p:nvSpPr>
        <p:spPr bwMode="auto">
          <a:xfrm>
            <a:off x="2270575" y="3651220"/>
            <a:ext cx="8189912" cy="19380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铝电解电容器的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损耗也比较大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且具有极性，使用中不能超过规定的直流工作值，极性也不能接反。如果一旦极性接反，漏电流急剧加大，最终因发热膨胀而使外壳破裂。一般在铝电解电容器的外壳上都有刻痕，以适当降低该处的机械强度，减弱铝电解电容器因极性接反引起的爆炸力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556" name="矩形 6"/>
          <p:cNvSpPr>
            <a:spLocks noChangeArrowheads="1"/>
          </p:cNvSpPr>
          <p:nvPr/>
        </p:nvSpPr>
        <p:spPr bwMode="auto">
          <a:xfrm>
            <a:off x="2270575" y="1446183"/>
            <a:ext cx="7694612" cy="8299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铝电解电容器的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容量大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，一般用于具有交直流分量的滤波、耦合和旁路电路中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557" name="矩形 7"/>
          <p:cNvSpPr>
            <a:spLocks noChangeArrowheads="1"/>
          </p:cNvSpPr>
          <p:nvPr/>
        </p:nvSpPr>
        <p:spPr bwMode="auto">
          <a:xfrm>
            <a:off x="2270575" y="2390745"/>
            <a:ext cx="7289800" cy="8299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铝电解电容器的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自身电感比较大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，所以交流信号的频率不宜过高，一般用于低频电路中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/>
      <p:bldP spid="23556" grpId="0"/>
      <p:bldP spid="2355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1524002" y="1673805"/>
            <a:ext cx="9071335" cy="3570133"/>
            <a:chOff x="-269546" y="800100"/>
            <a:chExt cx="9721521" cy="3840163"/>
          </a:xfrm>
        </p:grpSpPr>
        <p:grpSp>
          <p:nvGrpSpPr>
            <p:cNvPr id="2" name="组合 26"/>
            <p:cNvGrpSpPr/>
            <p:nvPr/>
          </p:nvGrpSpPr>
          <p:grpSpPr bwMode="auto">
            <a:xfrm>
              <a:off x="-269546" y="1125538"/>
              <a:ext cx="3617584" cy="3059112"/>
              <a:chOff x="-269546" y="1125538"/>
              <a:chExt cx="3617584" cy="3059112"/>
            </a:xfrm>
          </p:grpSpPr>
          <p:pic>
            <p:nvPicPr>
              <p:cNvPr id="7194" name="Picture 5" descr="200911221053474005"/>
              <p:cNvPicPr>
                <a:picLocks noChangeAspect="1" noChangeArrowheads="1"/>
              </p:cNvPicPr>
              <p:nvPr/>
            </p:nvPicPr>
            <p:blipFill>
              <a:blip r:embed="rId1" cstate="print"/>
              <a:srcRect/>
              <a:stretch>
                <a:fillRect/>
              </a:stretch>
            </p:blipFill>
            <p:spPr bwMode="auto">
              <a:xfrm>
                <a:off x="684213" y="1125538"/>
                <a:ext cx="2663825" cy="23510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7195" name="AutoShape 21"/>
              <p:cNvSpPr>
                <a:spLocks noChangeArrowheads="1"/>
              </p:cNvSpPr>
              <p:nvPr/>
            </p:nvSpPr>
            <p:spPr bwMode="auto">
              <a:xfrm>
                <a:off x="-269546" y="3824288"/>
                <a:ext cx="2428547" cy="360362"/>
              </a:xfrm>
              <a:prstGeom prst="wedgeRoundRectCallout">
                <a:avLst>
                  <a:gd name="adj1" fmla="val 47847"/>
                  <a:gd name="adj2" fmla="val -260134"/>
                  <a:gd name="adj3" fmla="val 16667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/>
              <a:lstStyle/>
              <a:p>
                <a:pPr algn="ctr" eaLnBrk="0" hangingPunct="0"/>
                <a:r>
                  <a:rPr lang="zh-CN" altLang="en-US" dirty="0">
                    <a:solidFill>
                      <a:schemeClr val="accent2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短脚负极“</a:t>
                </a:r>
                <a:r>
                  <a:rPr lang="en-US" altLang="zh-CN" dirty="0">
                    <a:solidFill>
                      <a:schemeClr val="accent2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-”</a:t>
                </a:r>
                <a:endParaRPr lang="zh-CN" altLang="en-US" dirty="0">
                  <a:solidFill>
                    <a:schemeClr val="accent2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p:grpSp>
        <p:grpSp>
          <p:nvGrpSpPr>
            <p:cNvPr id="3" name="组合 26"/>
            <p:cNvGrpSpPr/>
            <p:nvPr/>
          </p:nvGrpSpPr>
          <p:grpSpPr bwMode="auto">
            <a:xfrm>
              <a:off x="0" y="800100"/>
              <a:ext cx="9451975" cy="3840163"/>
              <a:chOff x="0" y="800100"/>
              <a:chExt cx="9451975" cy="3840163"/>
            </a:xfrm>
          </p:grpSpPr>
          <p:sp>
            <p:nvSpPr>
              <p:cNvPr id="7178" name="Rectangle 5"/>
              <p:cNvSpPr>
                <a:spLocks noChangeArrowheads="1"/>
              </p:cNvSpPr>
              <p:nvPr/>
            </p:nvSpPr>
            <p:spPr bwMode="auto">
              <a:xfrm>
                <a:off x="0" y="2759434"/>
                <a:ext cx="332091" cy="39615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179" name="Rectangle 6"/>
              <p:cNvSpPr>
                <a:spLocks noChangeArrowheads="1"/>
              </p:cNvSpPr>
              <p:nvPr/>
            </p:nvSpPr>
            <p:spPr bwMode="auto">
              <a:xfrm>
                <a:off x="0" y="2354622"/>
                <a:ext cx="332091" cy="39615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180" name="Text Box 7"/>
              <p:cNvSpPr txBox="1">
                <a:spLocks noChangeArrowheads="1"/>
              </p:cNvSpPr>
              <p:nvPr/>
            </p:nvSpPr>
            <p:spPr bwMode="auto">
              <a:xfrm>
                <a:off x="1619250" y="800100"/>
                <a:ext cx="1044575" cy="42894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sz="200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181" name="Text Box 8"/>
              <p:cNvSpPr txBox="1">
                <a:spLocks noChangeArrowheads="1"/>
              </p:cNvSpPr>
              <p:nvPr/>
            </p:nvSpPr>
            <p:spPr bwMode="auto">
              <a:xfrm>
                <a:off x="719138" y="2024063"/>
                <a:ext cx="539750" cy="109148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zh-CN" altLang="en-US" sz="200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直标法</a:t>
                </a:r>
                <a:endParaRPr lang="zh-CN" altLang="en-US" sz="200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182" name="Rectangle 10"/>
              <p:cNvSpPr>
                <a:spLocks noChangeArrowheads="1"/>
              </p:cNvSpPr>
              <p:nvPr/>
            </p:nvSpPr>
            <p:spPr bwMode="auto">
              <a:xfrm>
                <a:off x="0" y="2221272"/>
                <a:ext cx="332091" cy="39615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grpSp>
            <p:nvGrpSpPr>
              <p:cNvPr id="4" name="组合 25"/>
              <p:cNvGrpSpPr/>
              <p:nvPr/>
            </p:nvGrpSpPr>
            <p:grpSpPr bwMode="auto">
              <a:xfrm>
                <a:off x="2277564" y="800101"/>
                <a:ext cx="4339644" cy="3408417"/>
                <a:chOff x="2277564" y="800101"/>
                <a:chExt cx="4339644" cy="3408417"/>
              </a:xfrm>
            </p:grpSpPr>
            <p:pic>
              <p:nvPicPr>
                <p:cNvPr id="7191" name="Picture 9" descr="DSCN3741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 l="24004" t="5266" r="42128" b="8435"/>
                <a:stretch>
                  <a:fillRect/>
                </a:stretch>
              </p:blipFill>
              <p:spPr bwMode="auto">
                <a:xfrm>
                  <a:off x="3563938" y="1016000"/>
                  <a:ext cx="1338262" cy="25558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7192" name="AutoShape 12"/>
                <p:cNvSpPr>
                  <a:spLocks noChangeArrowheads="1"/>
                </p:cNvSpPr>
                <p:nvPr/>
              </p:nvSpPr>
              <p:spPr bwMode="auto">
                <a:xfrm>
                  <a:off x="4396293" y="800101"/>
                  <a:ext cx="2220915" cy="358775"/>
                </a:xfrm>
                <a:prstGeom prst="wedgeRoundRectCallout">
                  <a:avLst>
                    <a:gd name="adj1" fmla="val -46508"/>
                    <a:gd name="adj2" fmla="val 462202"/>
                    <a:gd name="adj3" fmla="val 16667"/>
                  </a:avLst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/>
                <a:lstStyle/>
                <a:p>
                  <a:pPr algn="ctr" eaLnBrk="0" hangingPunct="0"/>
                  <a:r>
                    <a:rPr lang="zh-CN" altLang="en-US" dirty="0">
                      <a:solidFill>
                        <a:schemeClr val="accent2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长脚正极“</a:t>
                  </a:r>
                  <a:r>
                    <a:rPr lang="en-US" altLang="zh-CN" dirty="0">
                      <a:solidFill>
                        <a:schemeClr val="accent2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+”</a:t>
                  </a:r>
                  <a:endParaRPr lang="en-US" altLang="zh-CN" dirty="0">
                    <a:solidFill>
                      <a:schemeClr val="accent2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  <p:sp>
              <p:nvSpPr>
                <p:cNvPr id="7193" name="AutoShape 13"/>
                <p:cNvSpPr>
                  <a:spLocks noChangeArrowheads="1"/>
                </p:cNvSpPr>
                <p:nvPr/>
              </p:nvSpPr>
              <p:spPr bwMode="auto">
                <a:xfrm>
                  <a:off x="2277564" y="3848156"/>
                  <a:ext cx="2067924" cy="360362"/>
                </a:xfrm>
                <a:prstGeom prst="wedgeRoundRectCallout">
                  <a:avLst>
                    <a:gd name="adj1" fmla="val 48533"/>
                    <a:gd name="adj2" fmla="val -213122"/>
                    <a:gd name="adj3" fmla="val 16667"/>
                  </a:avLst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/>
                <a:lstStyle/>
                <a:p>
                  <a:pPr algn="ctr" eaLnBrk="0" hangingPunct="0"/>
                  <a:r>
                    <a:rPr lang="zh-CN" altLang="en-US" dirty="0">
                      <a:solidFill>
                        <a:schemeClr val="accent2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短脚负极“</a:t>
                  </a:r>
                  <a:r>
                    <a:rPr lang="en-US" altLang="zh-CN" dirty="0">
                      <a:solidFill>
                        <a:schemeClr val="accent2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-”</a:t>
                  </a:r>
                  <a:endParaRPr lang="zh-CN" altLang="en-US" dirty="0">
                    <a:solidFill>
                      <a:schemeClr val="accent2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p:grpSp>
          <p:sp>
            <p:nvSpPr>
              <p:cNvPr id="7184" name="Rectangle 16"/>
              <p:cNvSpPr>
                <a:spLocks noChangeArrowheads="1"/>
              </p:cNvSpPr>
              <p:nvPr/>
            </p:nvSpPr>
            <p:spPr bwMode="auto">
              <a:xfrm>
                <a:off x="0" y="2268897"/>
                <a:ext cx="332091" cy="39615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grpSp>
            <p:nvGrpSpPr>
              <p:cNvPr id="5" name="组合 24"/>
              <p:cNvGrpSpPr/>
              <p:nvPr/>
            </p:nvGrpSpPr>
            <p:grpSpPr bwMode="auto">
              <a:xfrm>
                <a:off x="6048375" y="1016000"/>
                <a:ext cx="3403600" cy="2477783"/>
                <a:chOff x="6048375" y="1016000"/>
                <a:chExt cx="3403600" cy="2477783"/>
              </a:xfrm>
            </p:grpSpPr>
            <p:graphicFrame>
              <p:nvGraphicFramePr>
                <p:cNvPr id="7170" name="Object 11"/>
                <p:cNvGraphicFramePr>
                  <a:graphicFrameLocks noChangeAspect="1"/>
                </p:cNvGraphicFramePr>
                <p:nvPr/>
              </p:nvGraphicFramePr>
              <p:xfrm>
                <a:off x="7056438" y="1016000"/>
                <a:ext cx="1644650" cy="197961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0" name="Drawing" r:id="rId3" imgW="306705000" imgH="165354000" progId="">
                        <p:embed/>
                      </p:oleObj>
                    </mc:Choice>
                    <mc:Fallback>
                      <p:oleObj name="Drawing" r:id="rId3" imgW="306705000" imgH="165354000" progId="">
                        <p:embed/>
                        <p:pic>
                          <p:nvPicPr>
                            <p:cNvPr id="0" name="Object 11"/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4"/>
                            <a:srcRect l="44334" t="37927" r="39130" b="2385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7056438" y="1016000"/>
                              <a:ext cx="1644650" cy="1979613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7187" name="Rectangle 14"/>
                <p:cNvSpPr>
                  <a:spLocks noChangeArrowheads="1"/>
                </p:cNvSpPr>
                <p:nvPr/>
              </p:nvSpPr>
              <p:spPr bwMode="auto">
                <a:xfrm>
                  <a:off x="8101013" y="2997200"/>
                  <a:ext cx="1350962" cy="49658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square">
                  <a:spAutoFit/>
                </a:bodyPr>
                <a:lstStyle/>
                <a:p>
                  <a:pPr eaLnBrk="0" hangingPunct="0"/>
                  <a:r>
                    <a:rPr lang="zh-CN" altLang="en-US" sz="2400" b="1" dirty="0">
                      <a:solidFill>
                        <a:schemeClr val="accent2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“</a:t>
                  </a:r>
                  <a:r>
                    <a:rPr lang="en-US" altLang="zh-CN" sz="2400" b="1" dirty="0">
                      <a:solidFill>
                        <a:schemeClr val="accent2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+”</a:t>
                  </a:r>
                  <a:endParaRPr lang="zh-CN" altLang="en-US" sz="2400" b="1" dirty="0">
                    <a:solidFill>
                      <a:schemeClr val="accent2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  <p:sp>
              <p:nvSpPr>
                <p:cNvPr id="7188" name="Rectangle 15"/>
                <p:cNvSpPr>
                  <a:spLocks noChangeArrowheads="1"/>
                </p:cNvSpPr>
                <p:nvPr/>
              </p:nvSpPr>
              <p:spPr bwMode="auto">
                <a:xfrm>
                  <a:off x="8280400" y="1557340"/>
                  <a:ext cx="1171575" cy="49658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square">
                  <a:spAutoFit/>
                </a:bodyPr>
                <a:lstStyle/>
                <a:p>
                  <a:pPr eaLnBrk="0" hangingPunct="0"/>
                  <a:r>
                    <a:rPr lang="zh-CN" altLang="en-US" sz="2400" b="1" dirty="0">
                      <a:solidFill>
                        <a:schemeClr val="accent2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“</a:t>
                  </a:r>
                  <a:r>
                    <a:rPr lang="en-US" altLang="zh-CN" sz="2400" b="1" dirty="0">
                      <a:solidFill>
                        <a:schemeClr val="accent2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-”</a:t>
                  </a:r>
                  <a:endParaRPr lang="zh-CN" altLang="en-US" sz="2400" b="1" dirty="0">
                    <a:solidFill>
                      <a:schemeClr val="accent2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  <p:graphicFrame>
              <p:nvGraphicFramePr>
                <p:cNvPr id="7171" name="Object 17"/>
                <p:cNvGraphicFramePr>
                  <a:graphicFrameLocks noChangeAspect="1"/>
                </p:cNvGraphicFramePr>
                <p:nvPr/>
              </p:nvGraphicFramePr>
              <p:xfrm>
                <a:off x="6048375" y="1484313"/>
                <a:ext cx="1219200" cy="15287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6" name="Drawing" r:id="rId5" imgW="306705000" imgH="165354000" progId="">
                        <p:embed/>
                      </p:oleObj>
                    </mc:Choice>
                    <mc:Fallback>
                      <p:oleObj name="Drawing" r:id="rId5" imgW="306705000" imgH="165354000" progId="">
                        <p:embed/>
                        <p:pic>
                          <p:nvPicPr>
                            <p:cNvPr id="0" name="Object 17"/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6"/>
                            <a:srcRect l="31909" t="34282" r="54288" b="3282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6048375" y="1484313"/>
                              <a:ext cx="1219200" cy="1528762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7189" name="Rectangle 18"/>
                <p:cNvSpPr>
                  <a:spLocks noChangeArrowheads="1"/>
                </p:cNvSpPr>
                <p:nvPr/>
              </p:nvSpPr>
              <p:spPr bwMode="auto">
                <a:xfrm>
                  <a:off x="6588125" y="1304925"/>
                  <a:ext cx="1338261" cy="49658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square">
                  <a:spAutoFit/>
                </a:bodyPr>
                <a:lstStyle/>
                <a:p>
                  <a:pPr eaLnBrk="0" hangingPunct="0"/>
                  <a:r>
                    <a:rPr lang="zh-CN" altLang="en-US" sz="2400" b="1" dirty="0">
                      <a:solidFill>
                        <a:schemeClr val="accent2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“</a:t>
                  </a:r>
                  <a:r>
                    <a:rPr lang="en-US" altLang="zh-CN" sz="2400" b="1" dirty="0">
                      <a:solidFill>
                        <a:schemeClr val="accent2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-”</a:t>
                  </a:r>
                  <a:endParaRPr lang="zh-CN" altLang="en-US" sz="2400" b="1" dirty="0">
                    <a:solidFill>
                      <a:schemeClr val="accent2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  <p:sp>
              <p:nvSpPr>
                <p:cNvPr id="7190" name="Rectangle 19"/>
                <p:cNvSpPr>
                  <a:spLocks noChangeArrowheads="1"/>
                </p:cNvSpPr>
                <p:nvPr/>
              </p:nvSpPr>
              <p:spPr bwMode="auto">
                <a:xfrm>
                  <a:off x="6551612" y="2997200"/>
                  <a:ext cx="1350961" cy="49658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square">
                  <a:spAutoFit/>
                </a:bodyPr>
                <a:lstStyle/>
                <a:p>
                  <a:pPr eaLnBrk="0" hangingPunct="0"/>
                  <a:r>
                    <a:rPr lang="zh-CN" altLang="en-US" sz="2400" b="1" dirty="0">
                      <a:solidFill>
                        <a:schemeClr val="accent2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“</a:t>
                  </a:r>
                  <a:r>
                    <a:rPr lang="en-US" altLang="zh-CN" sz="2400" b="1" dirty="0">
                      <a:solidFill>
                        <a:schemeClr val="accent2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+”</a:t>
                  </a:r>
                  <a:endParaRPr lang="zh-CN" altLang="en-US" sz="2400" b="1" dirty="0">
                    <a:solidFill>
                      <a:schemeClr val="accent2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p:grpSp>
          <p:pic>
            <p:nvPicPr>
              <p:cNvPr id="7186" name="Picture 7" descr="20091117_135839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4716463" y="3249613"/>
                <a:ext cx="1862137" cy="13906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sp>
        <p:nvSpPr>
          <p:cNvPr id="7176" name="标题 22"/>
          <p:cNvSpPr>
            <a:spLocks noGrp="1"/>
          </p:cNvSpPr>
          <p:nvPr>
            <p:ph type="title"/>
          </p:nvPr>
        </p:nvSpPr>
        <p:spPr bwMode="auto">
          <a:xfrm>
            <a:off x="2057400" y="228600"/>
            <a:ext cx="8153400" cy="425450"/>
          </a:xfr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buClr>
                <a:schemeClr val="accent1"/>
              </a:buClr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铝电解电容</a:t>
            </a:r>
            <a:endParaRPr lang="zh-CN" altLang="en-US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advClick="0" advTm="12000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标题 3"/>
          <p:cNvSpPr>
            <a:spLocks noGrp="1"/>
          </p:cNvSpPr>
          <p:nvPr>
            <p:ph type="title"/>
          </p:nvPr>
        </p:nvSpPr>
        <p:spPr bwMode="auto">
          <a:xfrm>
            <a:off x="2057400" y="228600"/>
            <a:ext cx="8153400" cy="425450"/>
          </a:xfr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buClr>
                <a:schemeClr val="accent1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其他常用的电容器特性</a:t>
            </a:r>
            <a:endParaRPr lang="zh-CN" altLang="en-US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579" name="矩形 5"/>
          <p:cNvSpPr>
            <a:spLocks noChangeArrowheads="1"/>
          </p:cNvSpPr>
          <p:nvPr/>
        </p:nvSpPr>
        <p:spPr bwMode="auto">
          <a:xfrm>
            <a:off x="2225570" y="3564015"/>
            <a:ext cx="7650163" cy="26765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钽电解电容器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用途一般与铝电解电容器相同，但它的自身电感比较小，可用于比铝电解电容器工作频率更高的电路中。钽电解电容器的漏电小，损耗也比较小．稳定性优于铝电解电容器，寿命也长于铝电解电容器，价格则高于铝电解电容器。一般用于比较重要的部位。钽电解电容器使用的注意事项与铝电解电容器相同。与钽电解电容器相似的还有铌电解电容器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580" name="矩形 6"/>
          <p:cNvSpPr>
            <a:spLocks noChangeArrowheads="1"/>
          </p:cNvSpPr>
          <p:nvPr/>
        </p:nvSpPr>
        <p:spPr bwMode="auto">
          <a:xfrm>
            <a:off x="2225675" y="1042988"/>
            <a:ext cx="7875588" cy="8299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瓷介电容器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：供低损耗和需要容量稳定的交直流电路和脉冲电路使用，也可用于温度补偿电路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581" name="矩形 7"/>
          <p:cNvSpPr>
            <a:spLocks noChangeArrowheads="1"/>
          </p:cNvSpPr>
          <p:nvPr/>
        </p:nvSpPr>
        <p:spPr bwMode="auto">
          <a:xfrm>
            <a:off x="2225675" y="2349500"/>
            <a:ext cx="7470775" cy="8299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低频独石电容器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：可在电子电路中作旁路或耦合之用，或用于对损耗和稳定性要求不太高的低频电路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/>
      <p:bldP spid="24580" grpId="0"/>
      <p:bldP spid="2458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/>
          <p:cNvSpPr>
            <a:spLocks noGrp="1" noChangeArrowheads="1"/>
          </p:cNvSpPr>
          <p:nvPr>
            <p:ph type="body" sz="half" idx="3"/>
          </p:nvPr>
        </p:nvSpPr>
        <p:spPr bwMode="auto">
          <a:xfrm>
            <a:off x="2046288" y="4643438"/>
            <a:ext cx="8018462" cy="328612"/>
          </a:xfr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特性：容量小、无极性，常用于高频旁路中。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1524000" y="-200055"/>
            <a:ext cx="184731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7"/>
          <p:cNvGrpSpPr/>
          <p:nvPr/>
        </p:nvGrpSpPr>
        <p:grpSpPr bwMode="auto">
          <a:xfrm>
            <a:off x="4979988" y="800100"/>
            <a:ext cx="1257300" cy="3640455"/>
            <a:chOff x="3455988" y="800100"/>
            <a:chExt cx="1257300" cy="3640455"/>
          </a:xfrm>
        </p:grpSpPr>
        <p:grpSp>
          <p:nvGrpSpPr>
            <p:cNvPr id="4" name="组合 16"/>
            <p:cNvGrpSpPr/>
            <p:nvPr/>
          </p:nvGrpSpPr>
          <p:grpSpPr bwMode="auto">
            <a:xfrm>
              <a:off x="3455988" y="800100"/>
              <a:ext cx="1257300" cy="3168650"/>
              <a:chOff x="3455988" y="800100"/>
              <a:chExt cx="1257300" cy="3168650"/>
            </a:xfrm>
          </p:grpSpPr>
          <p:pic>
            <p:nvPicPr>
              <p:cNvPr id="6161" name="Picture 9" descr="DSCN3746"/>
              <p:cNvPicPr>
                <a:picLocks noChangeAspect="1" noChangeArrowheads="1"/>
              </p:cNvPicPr>
              <p:nvPr/>
            </p:nvPicPr>
            <p:blipFill>
              <a:blip r:embed="rId1" cstate="print">
                <a:lum bright="6000"/>
              </a:blip>
              <a:srcRect l="30049" t="26855" r="44740" b="1910"/>
              <a:stretch>
                <a:fillRect/>
              </a:stretch>
            </p:blipFill>
            <p:spPr bwMode="auto">
              <a:xfrm>
                <a:off x="3455988" y="1304925"/>
                <a:ext cx="1257300" cy="26638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6162" name="Text Box 11"/>
              <p:cNvSpPr txBox="1">
                <a:spLocks noChangeArrowheads="1"/>
              </p:cNvSpPr>
              <p:nvPr/>
            </p:nvSpPr>
            <p:spPr bwMode="auto">
              <a:xfrm>
                <a:off x="3527425" y="800100"/>
                <a:ext cx="1044575" cy="39878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zh-CN" altLang="en-US" sz="200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（二）</a:t>
                </a:r>
                <a:endParaRPr lang="zh-CN" altLang="en-US" sz="20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160" name="Text Box 13"/>
            <p:cNvSpPr txBox="1">
              <a:spLocks noChangeArrowheads="1"/>
            </p:cNvSpPr>
            <p:nvPr/>
          </p:nvSpPr>
          <p:spPr bwMode="auto">
            <a:xfrm>
              <a:off x="3600450" y="4041775"/>
              <a:ext cx="1044575" cy="39878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高压类</a:t>
              </a:r>
              <a:endPara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组合 15"/>
          <p:cNvGrpSpPr/>
          <p:nvPr/>
        </p:nvGrpSpPr>
        <p:grpSpPr bwMode="auto">
          <a:xfrm>
            <a:off x="2243138" y="800100"/>
            <a:ext cx="2030412" cy="3640455"/>
            <a:chOff x="719138" y="800100"/>
            <a:chExt cx="2030412" cy="3640455"/>
          </a:xfrm>
        </p:grpSpPr>
        <p:pic>
          <p:nvPicPr>
            <p:cNvPr id="6155" name="Picture 3" descr="DSCN3747"/>
            <p:cNvPicPr>
              <a:picLocks noChangeAspect="1" noChangeArrowheads="1"/>
            </p:cNvPicPr>
            <p:nvPr/>
          </p:nvPicPr>
          <p:blipFill>
            <a:blip r:embed="rId2" cstate="print">
              <a:lum bright="6000"/>
            </a:blip>
            <a:srcRect l="41875" t="20645" r="42407" b="31602"/>
            <a:stretch>
              <a:fillRect/>
            </a:stretch>
          </p:blipFill>
          <p:spPr bwMode="auto">
            <a:xfrm>
              <a:off x="1476375" y="1268413"/>
              <a:ext cx="1273175" cy="27003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156" name="Text Box 10"/>
            <p:cNvSpPr txBox="1">
              <a:spLocks noChangeArrowheads="1"/>
            </p:cNvSpPr>
            <p:nvPr/>
          </p:nvSpPr>
          <p:spPr bwMode="auto">
            <a:xfrm>
              <a:off x="1619250" y="800100"/>
              <a:ext cx="1044575" cy="39878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（一）</a:t>
              </a:r>
              <a:endPara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57" name="Text Box 12"/>
            <p:cNvSpPr txBox="1">
              <a:spLocks noChangeArrowheads="1"/>
            </p:cNvSpPr>
            <p:nvPr/>
          </p:nvSpPr>
          <p:spPr bwMode="auto">
            <a:xfrm>
              <a:off x="1584325" y="4041775"/>
              <a:ext cx="1044575" cy="39878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低压类</a:t>
              </a:r>
              <a:endPara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58" name="Text Box 14"/>
            <p:cNvSpPr txBox="1">
              <a:spLocks noChangeArrowheads="1"/>
            </p:cNvSpPr>
            <p:nvPr/>
          </p:nvSpPr>
          <p:spPr bwMode="auto">
            <a:xfrm>
              <a:off x="719138" y="2024063"/>
              <a:ext cx="539750" cy="101473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数标法</a:t>
              </a:r>
              <a:endPara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153" name="标题 14"/>
          <p:cNvSpPr>
            <a:spLocks noGrp="1"/>
          </p:cNvSpPr>
          <p:nvPr>
            <p:ph type="title"/>
          </p:nvPr>
        </p:nvSpPr>
        <p:spPr bwMode="auto">
          <a:xfrm>
            <a:off x="2057400" y="228600"/>
            <a:ext cx="8153400" cy="425450"/>
          </a:xfr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buClr>
                <a:schemeClr val="accent1"/>
              </a:buClr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瓷片电容</a:t>
            </a:r>
            <a:endParaRPr lang="zh-CN" altLang="en-US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59" name="矩形 15"/>
          <p:cNvSpPr>
            <a:spLocks noChangeArrowheads="1"/>
          </p:cNvSpPr>
          <p:nvPr/>
        </p:nvSpPr>
        <p:spPr bwMode="auto">
          <a:xfrm>
            <a:off x="2046288" y="5364163"/>
            <a:ext cx="7829550" cy="70788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457200" indent="-4572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容量识别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:10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×10</a:t>
            </a:r>
            <a:r>
              <a:rPr lang="en-US" altLang="zh-CN" baseline="340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PF=10000PF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457200" indent="-457200">
              <a:buClr>
                <a:schemeClr val="accent1"/>
              </a:buClr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10×10</a:t>
            </a:r>
            <a:r>
              <a:rPr lang="en-US" altLang="zh-CN" baseline="3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PF=1000PF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，耐压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3000V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941761" y="1150338"/>
            <a:ext cx="21516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电路符号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7941761" y="2924944"/>
            <a:ext cx="674519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8832304" y="2924944"/>
            <a:ext cx="674519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V="1">
            <a:off x="8832304" y="2746096"/>
            <a:ext cx="0" cy="368424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V="1">
            <a:off x="8616280" y="2751442"/>
            <a:ext cx="0" cy="363078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 advClick="0" advTm="12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" grpId="0" build="p"/>
      <p:bldP spid="615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2711450" y="1412875"/>
            <a:ext cx="6913563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58775" indent="-358775" defTabSz="268605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n"/>
              <a:defRPr/>
            </a:pP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万用表</a:t>
            </a:r>
            <a:endParaRPr kumimoji="1"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720625" y="2078850"/>
            <a:ext cx="6480175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58775" indent="-358775" defTabSz="268605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n"/>
              <a:defRPr/>
            </a:pP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直流稳压电源</a:t>
            </a:r>
            <a:r>
              <a:rPr kumimoji="1"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kumimoji="1"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720340" y="2782570"/>
            <a:ext cx="31070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8775" indent="-358775" defTabSz="268605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n"/>
              <a:defRPr/>
            </a:pP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示波器</a:t>
            </a:r>
            <a:r>
              <a:rPr kumimoji="1"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kumimoji="1"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746747" y="3486612"/>
            <a:ext cx="6553200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n"/>
              <a:defRPr/>
            </a:pPr>
            <a:r>
              <a:rPr kumimoji="1"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信号源 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2135560" y="593685"/>
            <a:ext cx="7775575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58775" indent="-358775" defTabSz="268605" eaLnBrk="1" hangingPunct="1">
              <a:spcBef>
                <a:spcPct val="20000"/>
              </a:spcBef>
              <a:buFont typeface="Wingdings" panose="05000000000000000000" pitchFamily="2" charset="2"/>
              <a:buChar char="p"/>
            </a:pPr>
            <a:r>
              <a:rPr kumimoji="1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常用电子仪器</a:t>
            </a:r>
            <a:endParaRPr kumimoji="1" lang="en-US" altLang="zh-CN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270575" y="4374105"/>
            <a:ext cx="4931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p"/>
            </a:pP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ADCL-I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模拟数字电子技术实验箱</a:t>
            </a:r>
            <a:endParaRPr lang="zh-CN" altLang="en-US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2057400" y="228600"/>
            <a:ext cx="8153400" cy="422275"/>
          </a:xfrm>
          <a:prstGeom prst="rect">
            <a:avLst/>
          </a:prstGeom>
        </p:spPr>
        <p:txBody>
          <a:bodyPr/>
          <a:lstStyle/>
          <a:p>
            <a:pPr>
              <a:buClr>
                <a:schemeClr val="accent1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实验内容</a:t>
            </a:r>
            <a:endParaRPr lang="zh-CN" altLang="en-US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2405590" y="1673805"/>
            <a:ext cx="8101012" cy="93243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vert="horz" wrap="square" lIns="63500" tIns="25400" rIns="63500" bIns="25400" numCol="1" anchor="t" anchorCtr="0" compatLnSpc="1">
            <a:spAutoFit/>
          </a:bodyPr>
          <a:lstStyle/>
          <a:p>
            <a:pPr marL="269875" marR="0" lvl="0" indent="-269875" algn="l" defTabSz="914400" rtl="0" eaLnBrk="0" fontAlgn="base" latinLnBrk="0" hangingPunct="0">
              <a:lnSpc>
                <a:spcPct val="125000"/>
              </a:lnSpc>
              <a:spcBef>
                <a:spcPct val="2500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用万用表测出任意二个电阻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(R)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的阻值，并与其色环所指示的电阻值进行比较。 </a:t>
            </a:r>
            <a:endParaRPr kumimoji="0" lang="zh-CN" altLang="en-US" sz="24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405590" y="2663915"/>
            <a:ext cx="7695855" cy="511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9875" lvl="0" indent="-269875">
              <a:lnSpc>
                <a:spcPct val="125000"/>
              </a:lnSpc>
              <a:spcBef>
                <a:spcPct val="25000"/>
              </a:spcBef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检查并验证电位器</a:t>
            </a: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(W)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中心头的功能。</a:t>
            </a:r>
            <a:endParaRPr lang="zh-CN" altLang="en-US" sz="24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405590" y="3248980"/>
            <a:ext cx="7650850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9875" lvl="0" indent="-269875">
              <a:lnSpc>
                <a:spcPct val="125000"/>
              </a:lnSpc>
              <a:spcBef>
                <a:spcPct val="25000"/>
              </a:spcBef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查看电解电容器</a:t>
            </a: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(CD)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上的规格和极性标记，并用万用表检查电解电容器的漏电阻</a:t>
            </a: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注意万用表笔的极性</a:t>
            </a: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，测出任意二个电容器的漏电阻值。</a:t>
            </a:r>
            <a:endParaRPr lang="zh-CN" altLang="en-US" sz="24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360585" y="908720"/>
            <a:ext cx="8101012" cy="47077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vert="horz" wrap="square" lIns="63500" tIns="25400" rIns="63500" bIns="25400" numCol="1" anchor="t" anchorCtr="0" compatLnSpc="1">
            <a:spAutoFit/>
          </a:bodyPr>
          <a:lstStyle/>
          <a:p>
            <a:pPr marL="269875" marR="0" lvl="0" indent="-269875" algn="l" defTabSz="914400" rtl="0" eaLnBrk="0" fontAlgn="base" latinLnBrk="0" hangingPunct="0">
              <a:lnSpc>
                <a:spcPct val="125000"/>
              </a:lnSpc>
              <a:spcBef>
                <a:spcPct val="25000"/>
              </a:spcBef>
              <a:spcAft>
                <a:spcPct val="0"/>
              </a:spcAft>
              <a:buSzTx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万用表</a:t>
            </a:r>
            <a:r>
              <a:rPr lang="zh-CN" altLang="en-US" sz="24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练习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405590" y="4824155"/>
            <a:ext cx="7695855" cy="511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9875" lvl="0" indent="-269875">
              <a:lnSpc>
                <a:spcPct val="125000"/>
              </a:lnSpc>
              <a:spcBef>
                <a:spcPct val="25000"/>
              </a:spcBef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调节稳压电源输出</a:t>
            </a: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+/-12V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，用万用表测量并验证</a:t>
            </a:r>
            <a:endParaRPr lang="zh-CN" altLang="en-US" sz="24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/>
      <p:bldP spid="6" grpId="0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1910535" y="323655"/>
            <a:ext cx="8101012" cy="47077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vert="horz" wrap="square" lIns="63500" tIns="25400" rIns="63500" bIns="25400" numCol="1" anchor="t" anchorCtr="0" compatLnSpc="1">
            <a:spAutoFit/>
          </a:bodyPr>
          <a:lstStyle/>
          <a:p>
            <a:pPr marL="269875" marR="0" lvl="0" indent="-269875" algn="l" defTabSz="914400" rtl="0" eaLnBrk="0" fontAlgn="base" latinLnBrk="0" hangingPunct="0">
              <a:lnSpc>
                <a:spcPct val="125000"/>
              </a:lnSpc>
              <a:spcBef>
                <a:spcPct val="25000"/>
              </a:spcBef>
              <a:spcAft>
                <a:spcPct val="0"/>
              </a:spcAft>
              <a:buSzTx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）示波器和信号源联合使用练习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2360585" y="1088740"/>
            <a:ext cx="7767863" cy="11350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58775" indent="-358775" defTabSz="268605" eaLnBrk="1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用机内“探头补偿信号” 对示波器进行自检，并记录波形、频率、周期、幅值、上升下降沿时间等</a:t>
            </a:r>
            <a:endParaRPr kumimoji="1" lang="zh-CN" altLang="en-US" sz="24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2405590" y="2259515"/>
            <a:ext cx="7597777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ctr">
            <a:spAutoFit/>
          </a:bodyPr>
          <a:lstStyle/>
          <a:p>
            <a:pPr marL="360680" indent="-360680" eaLnBrk="1" hangingPunct="1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波形设置与测量</a:t>
            </a:r>
            <a:endParaRPr lang="zh-CN" altLang="en-US" sz="24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Group 5"/>
          <p:cNvGraphicFramePr>
            <a:graphicFrameLocks noGrp="1"/>
          </p:cNvGraphicFramePr>
          <p:nvPr/>
        </p:nvGraphicFramePr>
        <p:xfrm>
          <a:off x="1910535" y="2933945"/>
          <a:ext cx="8370570" cy="2987040"/>
        </p:xfrm>
        <a:graphic>
          <a:graphicData uri="http://schemas.openxmlformats.org/drawingml/2006/table">
            <a:tbl>
              <a:tblPr/>
              <a:tblGrid>
                <a:gridCol w="4556760"/>
                <a:gridCol w="1055370"/>
                <a:gridCol w="1036320"/>
                <a:gridCol w="851535"/>
                <a:gridCol w="870585"/>
              </a:tblGrid>
              <a:tr h="39624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Tx/>
                        <a:buNone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信号源输出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电压及频率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Tx/>
                        <a:buNone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示波器测量值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70104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峰峰值（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）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Tx/>
                        <a:buNone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有效值（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）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Tx/>
                        <a:buNone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周期（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）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Tx/>
                        <a:buNone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频率（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Hz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）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25kHz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正弦波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80mV,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偏移量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20mV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1kHz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方波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5V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，偏移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，占空比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40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％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kHz</a:t>
                      </a: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锯齿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5V</a:t>
                      </a: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偏移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1V</a:t>
                      </a: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，对称性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％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1kHz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脉冲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3V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，偏移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1V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，占空比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50%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，边沿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50ns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Tx/>
                        <a:buNone/>
                      </a:pP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</a:pP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3"/>
          <p:cNvSpPr txBox="1">
            <a:spLocks noChangeArrowheads="1"/>
          </p:cNvSpPr>
          <p:nvPr/>
        </p:nvSpPr>
        <p:spPr bwMode="auto">
          <a:xfrm>
            <a:off x="2360584" y="1223755"/>
            <a:ext cx="8343927" cy="104711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vert="horz" wrap="square" lIns="63500" tIns="25400" rIns="63500" bIns="25400" numCol="1" anchor="t" anchorCtr="0" compatLnSpc="1">
            <a:spAutoFit/>
          </a:bodyPr>
          <a:lstStyle/>
          <a:p>
            <a:pPr marL="287655" marR="0" lvl="0" indent="-287655" algn="l" defTabSz="914400" rtl="0" eaLnBrk="0" fontAlgn="base" latinLnBrk="0" hangingPunct="0">
              <a:lnSpc>
                <a:spcPct val="90000"/>
              </a:lnSpc>
              <a:spcBef>
                <a:spcPct val="65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调节信号发器输出正弦波的频率为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1kHz 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，有效值为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1.5V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；方波频率为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1kHz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，低电平为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0V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，高电平为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3V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。在示波器上双踪显示稳定的波形。</a:t>
            </a:r>
            <a:endParaRPr kumimoji="0" lang="zh-CN" altLang="en-US" sz="2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Picture 5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765630" y="2618910"/>
            <a:ext cx="6170612" cy="338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Rectangle 2"/>
          <p:cNvSpPr txBox="1">
            <a:spLocks noChangeArrowheads="1"/>
          </p:cNvSpPr>
          <p:nvPr/>
        </p:nvSpPr>
        <p:spPr bwMode="auto">
          <a:xfrm>
            <a:off x="2000545" y="413665"/>
            <a:ext cx="8101012" cy="47077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vert="horz" wrap="square" lIns="63500" tIns="25400" rIns="63500" bIns="25400" numCol="1" anchor="t" anchorCtr="0" compatLnSpc="1">
            <a:spAutoFit/>
          </a:bodyPr>
          <a:lstStyle/>
          <a:p>
            <a:pPr marL="269875" marR="0" lvl="0" indent="-269875" algn="l" defTabSz="914400" rtl="0" eaLnBrk="0" fontAlgn="base" latinLnBrk="0" hangingPunct="0">
              <a:lnSpc>
                <a:spcPct val="125000"/>
              </a:lnSpc>
              <a:spcBef>
                <a:spcPct val="25000"/>
              </a:spcBef>
              <a:spcAft>
                <a:spcPct val="0"/>
              </a:spcAft>
              <a:buSzTx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）示波器双踪显示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ct 2"/>
          <p:cNvGraphicFramePr>
            <a:graphicFrameLocks noChangeAspect="1"/>
          </p:cNvGraphicFramePr>
          <p:nvPr/>
        </p:nvGraphicFramePr>
        <p:xfrm>
          <a:off x="2180565" y="1313765"/>
          <a:ext cx="4061932" cy="2793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位图图像" r:id="rId1" imgW="2562225" imgH="1762125" progId="PBrush">
                  <p:embed/>
                </p:oleObj>
              </mc:Choice>
              <mc:Fallback>
                <p:oleObj name="位图图像" r:id="rId1" imgW="2562225" imgH="1762125" progId="PBrush">
                  <p:embed/>
                  <p:pic>
                    <p:nvPicPr>
                      <p:cNvPr id="0" name="Object 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80565" y="1313765"/>
                        <a:ext cx="4061932" cy="27938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6456040" y="1403775"/>
            <a:ext cx="4968552" cy="2820670"/>
            <a:chOff x="5382090" y="1493785"/>
            <a:chExt cx="4000500" cy="2820670"/>
          </a:xfrm>
        </p:grpSpPr>
        <p:sp>
          <p:nvSpPr>
            <p:cNvPr id="13" name="Rectangle 4"/>
            <p:cNvSpPr txBox="1">
              <a:spLocks noChangeArrowheads="1"/>
            </p:cNvSpPr>
            <p:nvPr/>
          </p:nvSpPr>
          <p:spPr bwMode="auto">
            <a:xfrm>
              <a:off x="5382090" y="1493785"/>
              <a:ext cx="4000500" cy="2820670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vert="horz" wrap="square" lIns="63500" tIns="25400" rIns="63500" bIns="25400" numCol="1" anchor="t" anchorCtr="0" compatLnSpc="1">
              <a:spAutoFit/>
            </a:bodyPr>
            <a:lstStyle/>
            <a:p>
              <a:pPr marL="360680" lvl="1">
                <a:lnSpc>
                  <a:spcPct val="125000"/>
                </a:lnSpc>
                <a:spcBef>
                  <a:spcPct val="25000"/>
                </a:spcBef>
                <a:buFont typeface="Arial" panose="020B0604020202020204" pitchFamily="34" charset="0"/>
                <a:buChar char="•"/>
              </a:pPr>
              <a:r>
                <a:rPr kumimoji="0" lang="zh-CN" altLang="en-US" sz="24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  信号</a:t>
              </a:r>
              <a:r>
                <a:rPr lang="zh-CN" altLang="en-US" sz="2400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发生器输出有效值为</a:t>
              </a:r>
              <a:r>
                <a:rPr lang="en-US" altLang="zh-CN" sz="2400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1V</a:t>
              </a:r>
              <a:r>
                <a:rPr lang="zh-CN" altLang="en-US" sz="2400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，频率</a:t>
              </a:r>
              <a:r>
                <a:rPr kumimoji="0" lang="en-US" altLang="zh-CN" sz="24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10Hz</a:t>
              </a:r>
              <a:r>
                <a:rPr kumimoji="0" lang="zh-CN" altLang="en-US" sz="24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～</a:t>
              </a:r>
              <a:r>
                <a:rPr kumimoji="0" lang="en-US" altLang="zh-CN" sz="24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1MHz</a:t>
              </a:r>
              <a:r>
                <a:rPr kumimoji="0" lang="zh-CN" altLang="en-US" sz="24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变化的正弦波。观察</a:t>
              </a:r>
              <a:r>
                <a:rPr kumimoji="0" lang="en-US" altLang="zh-CN" sz="2400" i="0" u="none" strike="noStrike" kern="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u</a:t>
              </a:r>
              <a:r>
                <a:rPr kumimoji="0" lang="en-US" altLang="zh-CN" sz="2400" i="0" u="none" strike="noStrike" kern="0" cap="none" spc="0" normalizeH="0" baseline="-2500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r>
                <a:rPr kumimoji="0" lang="zh-CN" altLang="en-US" sz="24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不同频率输入下输出有效值的大小（即幅频特性），并描绘曲线</a:t>
              </a:r>
              <a:endPara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15" name="Object 7"/>
            <p:cNvGraphicFramePr>
              <a:graphicFrameLocks noChangeAspect="1"/>
            </p:cNvGraphicFramePr>
            <p:nvPr/>
          </p:nvGraphicFramePr>
          <p:xfrm>
            <a:off x="6777245" y="3879050"/>
            <a:ext cx="720080" cy="370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Equation" r:id="rId3" imgW="10668000" imgH="5486400" progId="Equation.DSMT4">
                    <p:embed/>
                  </p:oleObj>
                </mc:Choice>
                <mc:Fallback>
                  <p:oleObj name="Equation" r:id="rId3" imgW="10668000" imgH="5486400" progId="Equation.DSMT4">
                    <p:embed/>
                    <p:pic>
                      <p:nvPicPr>
                        <p:cNvPr id="0" name="Object 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777245" y="3879050"/>
                          <a:ext cx="720080" cy="37032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Rectangle 4"/>
          <p:cNvSpPr txBox="1">
            <a:spLocks noChangeArrowheads="1"/>
          </p:cNvSpPr>
          <p:nvPr/>
        </p:nvSpPr>
        <p:spPr bwMode="auto">
          <a:xfrm>
            <a:off x="2270575" y="5319210"/>
            <a:ext cx="7065785" cy="47077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vert="horz" wrap="square" lIns="63500" tIns="25400" rIns="63500" bIns="25400" numCol="1" anchor="t" anchorCtr="0" compatLnSpc="1">
            <a:spAutoFit/>
          </a:bodyPr>
          <a:lstStyle/>
          <a:p>
            <a:pPr marL="360680" lvl="1">
              <a:lnSpc>
                <a:spcPct val="125000"/>
              </a:lnSpc>
              <a:spcBef>
                <a:spcPct val="25000"/>
              </a:spcBef>
              <a:buFont typeface="Arial" panose="020B0604020202020204" pitchFamily="34" charset="0"/>
              <a:buChar char="•"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思考题：如何理论分析或仿真分析幅频特性？</a:t>
            </a:r>
            <a:endParaRPr kumimoji="0" lang="zh-CN" altLang="en-US" sz="24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Rectangle 4"/>
          <p:cNvSpPr txBox="1">
            <a:spLocks noChangeArrowheads="1"/>
          </p:cNvSpPr>
          <p:nvPr/>
        </p:nvSpPr>
        <p:spPr bwMode="auto">
          <a:xfrm>
            <a:off x="2270575" y="4599130"/>
            <a:ext cx="7785865" cy="47077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vert="horz" wrap="square" lIns="63500" tIns="25400" rIns="63500" bIns="25400" numCol="1" anchor="t" anchorCtr="0" compatLnSpc="1">
            <a:spAutoFit/>
          </a:bodyPr>
          <a:lstStyle/>
          <a:p>
            <a:pPr marL="360680" lvl="1">
              <a:lnSpc>
                <a:spcPct val="125000"/>
              </a:lnSpc>
              <a:spcBef>
                <a:spcPct val="25000"/>
              </a:spcBef>
              <a:buFont typeface="Arial" panose="020B0604020202020204" pitchFamily="34" charset="0"/>
              <a:buChar char="•"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频率轴测量点如何确定？线性分配或对数分配？</a:t>
            </a:r>
            <a:endParaRPr kumimoji="0" lang="zh-CN" altLang="en-US" sz="24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1910535" y="323655"/>
            <a:ext cx="8101012" cy="47077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vert="horz" wrap="square" lIns="63500" tIns="25400" rIns="63500" bIns="25400" numCol="1" anchor="t" anchorCtr="0" compatLnSpc="1">
            <a:spAutoFit/>
          </a:bodyPr>
          <a:lstStyle/>
          <a:p>
            <a:pPr marL="269875" marR="0" lvl="0" indent="-269875" algn="l" defTabSz="914400" rtl="0" eaLnBrk="0" fontAlgn="base" latinLnBrk="0" hangingPunct="0">
              <a:lnSpc>
                <a:spcPct val="125000"/>
              </a:lnSpc>
              <a:spcBef>
                <a:spcPct val="25000"/>
              </a:spcBef>
              <a:spcAft>
                <a:spcPct val="0"/>
              </a:spcAft>
              <a:buSzTx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）示波器和信号源联合使用练习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II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17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814373" y="1029689"/>
            <a:ext cx="8153400" cy="422275"/>
          </a:xfrm>
          <a:prstGeom prst="rect">
            <a:avLst/>
          </a:prstGeom>
        </p:spPr>
        <p:txBody>
          <a:bodyPr/>
          <a:lstStyle/>
          <a:p>
            <a:pPr>
              <a:buClr>
                <a:schemeClr val="accent1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思考题</a:t>
            </a:r>
            <a:endParaRPr lang="zh-CN" altLang="en-US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847527" y="1844824"/>
            <a:ext cx="8204401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476250" indent="-476250">
              <a:spcBef>
                <a:spcPct val="50000"/>
              </a:spcBef>
              <a:buClr>
                <a:srgbClr val="3333FF"/>
              </a:buClr>
              <a:buFont typeface="Wingdings" panose="05000000000000000000" pitchFamily="2" charset="2"/>
              <a:buNone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(1) 示波器触发中“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AUTO”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与“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NORM” 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有何区别？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847527" y="2925911"/>
            <a:ext cx="8204401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476250" indent="-476250">
              <a:spcBef>
                <a:spcPct val="50000"/>
              </a:spcBef>
              <a:buClr>
                <a:srgbClr val="3333FF"/>
              </a:buClr>
              <a:buFont typeface="Wingdings" panose="05000000000000000000" pitchFamily="2" charset="2"/>
              <a:buNone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(3) 信号发生器的衰减开关有什么作用？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847528" y="3465661"/>
            <a:ext cx="8357836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476250" indent="-476250">
              <a:spcBef>
                <a:spcPct val="50000"/>
              </a:spcBef>
              <a:buClr>
                <a:srgbClr val="3333FF"/>
              </a:buClr>
              <a:buFont typeface="Wingdings" panose="05000000000000000000" pitchFamily="2" charset="2"/>
              <a:buNone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(4) 能否用晶体管毫伏表测量三角波的有效值？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1847527" y="2384574"/>
            <a:ext cx="8204401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476250" indent="-476250">
              <a:spcBef>
                <a:spcPct val="50000"/>
              </a:spcBef>
              <a:buClr>
                <a:srgbClr val="3333FF"/>
              </a:buClr>
              <a:buFont typeface="Wingdings" panose="05000000000000000000" pitchFamily="2" charset="2"/>
              <a:buNone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(2) 信号发生器的同步端输出有什么特点？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847528" y="4049861"/>
            <a:ext cx="8357836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476250" indent="-476250">
              <a:spcBef>
                <a:spcPct val="50000"/>
              </a:spcBef>
              <a:buClr>
                <a:srgbClr val="3333FF"/>
              </a:buClr>
              <a:buFont typeface="Wingdings" panose="05000000000000000000" pitchFamily="2" charset="2"/>
              <a:buNone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(5) 测量直流电压值可用哪几种仪器？哪种最好?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1847528" y="4581128"/>
            <a:ext cx="9289032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476250" indent="-476250">
              <a:spcBef>
                <a:spcPct val="50000"/>
              </a:spcBef>
              <a:buClr>
                <a:srgbClr val="3333FF"/>
              </a:buClr>
              <a:buFont typeface="Wingdings" panose="05000000000000000000" pitchFamily="2" charset="2"/>
              <a:buNone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(6) 测量正弦电压有效值可用哪几种仪器？哪种最好?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1861637" y="5157192"/>
            <a:ext cx="9274923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476250" indent="-476250">
              <a:spcBef>
                <a:spcPct val="50000"/>
              </a:spcBef>
              <a:buClr>
                <a:srgbClr val="3333FF"/>
              </a:buClr>
              <a:buFont typeface="Wingdings" panose="05000000000000000000" pitchFamily="2" charset="2"/>
              <a:buNone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(7) 测量交流电压幅度可用哪几种仪器？哪种最好?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847528" y="5715254"/>
            <a:ext cx="5113112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(8) 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如何根据信号选择触发方式？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1415480" y="980728"/>
            <a:ext cx="9640071" cy="124175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vert="horz" wrap="square" lIns="63500" tIns="25400" rIns="63500" bIns="25400" numCol="1" anchor="t" anchorCtr="0" compatLnSpc="1">
            <a:spAutoFit/>
          </a:bodyPr>
          <a:lstStyle/>
          <a:p>
            <a:pPr marL="287655" marR="0" lvl="0" indent="-287655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chemeClr val="accent1"/>
              </a:buClr>
              <a:buSzPct val="135000"/>
              <a:buFont typeface="Wingdings" panose="05000000000000000000" pitchFamily="2" charset="2"/>
              <a:buNone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）示波器输入耦合方式有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哪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三种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交流耦合适用于什么类信号；直流耦合适用于什么类信号；一个频率为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800Hz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的方波，将时基选择为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0.5mS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／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DIV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档，一个周期的方波在示波器应显示多少格？</a:t>
            </a:r>
            <a:endParaRPr kumimoji="0" lang="zh-CN" altLang="en-US" sz="24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415480" y="2285873"/>
            <a:ext cx="9370840" cy="470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7655" lvl="0" indent="-287655">
              <a:lnSpc>
                <a:spcPct val="110000"/>
              </a:lnSpc>
              <a:spcBef>
                <a:spcPct val="10000"/>
              </a:spcBef>
              <a:buSzPct val="135000"/>
              <a:defRPr/>
            </a:pP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）信号发生器占空比旋钮逆时针转到底时，占空比是多少</a:t>
            </a: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endParaRPr lang="zh-CN" altLang="en-US" sz="24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415480" y="2825933"/>
            <a:ext cx="7053861" cy="470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7655" lvl="0" indent="-287655">
              <a:lnSpc>
                <a:spcPct val="110000"/>
              </a:lnSpc>
              <a:spcBef>
                <a:spcPct val="10000"/>
              </a:spcBef>
              <a:buSzPct val="135000"/>
              <a:defRPr/>
            </a:pP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）交流毫伏表能测直流电压吗？ </a:t>
            </a:r>
            <a:endParaRPr lang="zh-CN" altLang="en-US" sz="24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631504" y="3429000"/>
            <a:ext cx="9046173" cy="876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7655" lvl="0" indent="-287655">
              <a:lnSpc>
                <a:spcPct val="110000"/>
              </a:lnSpc>
              <a:spcBef>
                <a:spcPct val="10000"/>
              </a:spcBef>
              <a:buSzPct val="135000"/>
              <a:defRPr/>
            </a:pP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(12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）当数字式万用表显示器仅显示‘</a:t>
            </a: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1’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或‘</a:t>
            </a: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-1’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时，表明</a:t>
            </a:r>
            <a:r>
              <a:rPr lang="zh-CN" altLang="en-US" sz="2400" u="sng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状况，应该如何操作？</a:t>
            </a:r>
            <a:r>
              <a:rPr lang="zh-CN" altLang="en-US" sz="2400" u="sng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endParaRPr lang="zh-CN" altLang="en-US" sz="24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487488" y="4365104"/>
            <a:ext cx="9315405" cy="876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7655" lvl="0" indent="-287655">
              <a:lnSpc>
                <a:spcPct val="110000"/>
              </a:lnSpc>
              <a:spcBef>
                <a:spcPct val="10000"/>
              </a:spcBef>
              <a:buSzPct val="135000"/>
              <a:defRPr/>
            </a:pP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）一电阻其色环为红黑黄金，其阻值是多少</a:t>
            </a: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误差多少</a:t>
            </a: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若要求阻值为</a:t>
            </a: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82KΩ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，误差</a:t>
            </a: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5%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，则四色环从左至右依次是 什么</a:t>
            </a: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r>
              <a:rPr lang="zh-CN" altLang="en-US" sz="2400" u="sng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57800" y="5436223"/>
            <a:ext cx="6914464" cy="470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7655" lvl="0" indent="-287655">
              <a:lnSpc>
                <a:spcPct val="110000"/>
              </a:lnSpc>
              <a:spcBef>
                <a:spcPct val="10000"/>
              </a:spcBef>
              <a:buSzPct val="135000"/>
              <a:defRPr/>
            </a:pP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）电解电容在使用过程中要注意什么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4" grpId="0"/>
      <p:bldP spid="5" grpId="0"/>
      <p:bldP spid="7" grpId="0"/>
      <p:bldP spid="8" grpId="0"/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271464" y="1124744"/>
            <a:ext cx="8153400" cy="422275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探究题</a:t>
            </a:r>
            <a:endParaRPr lang="zh-CN" altLang="en-US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304484" y="1940084"/>
            <a:ext cx="9304655" cy="168905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476250" indent="-476250">
              <a:lnSpc>
                <a:spcPct val="150000"/>
              </a:lnSpc>
              <a:spcBef>
                <a:spcPct val="50000"/>
              </a:spcBef>
              <a:buClr>
                <a:srgbClr val="3333FF"/>
              </a:buClr>
              <a:buFont typeface="Wingdings" panose="05000000000000000000" pitchFamily="2" charset="2"/>
              <a:buNone/>
            </a:pP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、现有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+10V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直流电源，若简单地利用电阻分压如何才能得到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+5V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直流电源？假设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+5V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电源的负载是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欧姆的电阻，试设计此电路，并分析电路效率。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271464" y="3789040"/>
            <a:ext cx="9304655" cy="11350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476250" indent="-476250">
              <a:lnSpc>
                <a:spcPct val="150000"/>
              </a:lnSpc>
              <a:spcBef>
                <a:spcPct val="50000"/>
              </a:spcBef>
              <a:buClr>
                <a:srgbClr val="3333FF"/>
              </a:buClr>
              <a:buFont typeface="Wingdings" panose="05000000000000000000" pitchFamily="2" charset="2"/>
              <a:buNone/>
            </a:pP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、电动汽车的续航能力和充电速度是衡量电动汽车的两个重要指标，试分析提升这两个指标的现实困难。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流畅">
  <a:themeElements>
    <a:clrScheme name="流畅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流畅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流畅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流畅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流畅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0</TotalTime>
  <Words>3327</Words>
  <Application>WPS 演示</Application>
  <PresentationFormat>宽屏</PresentationFormat>
  <Paragraphs>546</Paragraphs>
  <Slides>28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28</vt:i4>
      </vt:variant>
    </vt:vector>
  </HeadingPairs>
  <TitlesOfParts>
    <vt:vector size="48" baseType="lpstr">
      <vt:lpstr>Arial</vt:lpstr>
      <vt:lpstr>宋体</vt:lpstr>
      <vt:lpstr>Wingdings</vt:lpstr>
      <vt:lpstr>微软雅黑</vt:lpstr>
      <vt:lpstr>Calibri</vt:lpstr>
      <vt:lpstr>Wingdings 2</vt:lpstr>
      <vt:lpstr>Wingdings 2</vt:lpstr>
      <vt:lpstr>楷体</vt:lpstr>
      <vt:lpstr>Times New Roman</vt:lpstr>
      <vt:lpstr>Constantia</vt:lpstr>
      <vt:lpstr>黑体</vt:lpstr>
      <vt:lpstr>方正黑体简体</vt:lpstr>
      <vt:lpstr>Arial Unicode MS</vt:lpstr>
      <vt:lpstr>隶书</vt:lpstr>
      <vt:lpstr>流畅</vt:lpstr>
      <vt:lpstr>Equation.3</vt:lpstr>
      <vt:lpstr>Equation.DSMT4</vt:lpstr>
      <vt:lpstr>Equation.DSMT4</vt:lpstr>
      <vt:lpstr>PBrush</vt:lpstr>
      <vt:lpstr>Equation.DSMT4</vt:lpstr>
      <vt:lpstr>PowerPoint 演示文稿</vt:lpstr>
      <vt:lpstr>PowerPoint 演示文稿</vt:lpstr>
      <vt:lpstr> 典型无源电子元件</vt:lpstr>
      <vt:lpstr>  电阻器的主要参数</vt:lpstr>
      <vt:lpstr> 各种电阻封装</vt:lpstr>
      <vt:lpstr> 直插封装色环电阻的阻值表示</vt:lpstr>
      <vt:lpstr>PowerPoint 演示文稿</vt:lpstr>
      <vt:lpstr> 直插电阻的功率识别</vt:lpstr>
      <vt:lpstr> 碳膜电阻（RT）的特性</vt:lpstr>
      <vt:lpstr> 金属电阻（RJ）的特性</vt:lpstr>
      <vt:lpstr>PowerPoint 演示文稿</vt:lpstr>
      <vt:lpstr>PowerPoint 演示文稿</vt:lpstr>
      <vt:lpstr>PowerPoint 演示文稿</vt:lpstr>
      <vt:lpstr> 常见电容器的封装</vt:lpstr>
      <vt:lpstr> 电容用途和电容值识别 </vt:lpstr>
      <vt:lpstr>电容器型号</vt:lpstr>
      <vt:lpstr>  铝电解电容器的特性</vt:lpstr>
      <vt:lpstr> 铝电解电容</vt:lpstr>
      <vt:lpstr>  其他常用的电容器特性</vt:lpstr>
      <vt:lpstr> 瓷片电容</vt:lpstr>
      <vt:lpstr>PowerPoint 演示文稿</vt:lpstr>
      <vt:lpstr>  实验内容</vt:lpstr>
      <vt:lpstr>PowerPoint 演示文稿</vt:lpstr>
      <vt:lpstr>PowerPoint 演示文稿</vt:lpstr>
      <vt:lpstr>PowerPoint 演示文稿</vt:lpstr>
      <vt:lpstr>  思考题</vt:lpstr>
      <vt:lpstr>PowerPoint 演示文稿</vt:lpstr>
      <vt:lpstr> 探究题</vt:lpstr>
    </vt:vector>
  </TitlesOfParts>
  <Company>UCIrvine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keyue smedley</dc:creator>
  <cp:lastModifiedBy>小杭妈</cp:lastModifiedBy>
  <cp:revision>682</cp:revision>
  <dcterms:created xsi:type="dcterms:W3CDTF">2001-11-26T03:50:00Z</dcterms:created>
  <dcterms:modified xsi:type="dcterms:W3CDTF">2025-09-09T08:08:18Z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3F0FEF729CEB466C925EF17489F3E6CA_12</vt:lpwstr>
  </property>
  <property fmtid="{D5CDD505-2E9C-101B-9397-08002B2CF9AE}" pid="3" name="KSOProductBuildVer">
    <vt:lpwstr>2052-12.1.0.22529</vt:lpwstr>
  </property>
</Properties>
</file>