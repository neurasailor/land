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6"/>
  </p:notesMasterIdLst>
  <p:handoutMasterIdLst>
    <p:handoutMasterId r:id="rId7"/>
  </p:handoutMasterIdLst>
  <p:sldIdLst>
    <p:sldId id="364" r:id="rId2"/>
    <p:sldId id="317" r:id="rId3"/>
    <p:sldId id="358" r:id="rId4"/>
    <p:sldId id="359" r:id="rId5"/>
  </p:sldIdLst>
  <p:sldSz cx="12192000" cy="6858000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00CC"/>
    <a:srgbClr val="9933FF"/>
    <a:srgbClr val="FF0000"/>
    <a:srgbClr val="CC00FF"/>
    <a:srgbClr val="008A3E"/>
    <a:srgbClr val="000000"/>
    <a:srgbClr val="DC0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 autoAdjust="0"/>
    <p:restoredTop sz="92362" autoAdjust="0"/>
  </p:normalViewPr>
  <p:slideViewPr>
    <p:cSldViewPr>
      <p:cViewPr varScale="1">
        <p:scale>
          <a:sx n="96" d="100"/>
          <a:sy n="96" d="100"/>
        </p:scale>
        <p:origin x="108" y="43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922" y="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AFD7498-6CAE-1F64-9106-6E3D5BDC54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FD7314-2A5E-D40B-AAB0-B3AE63E381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9779CE4-74D1-4155-B695-508AD7798C68}" type="datetimeFigureOut">
              <a:rPr lang="zh-CN" altLang="en-US"/>
              <a:pPr>
                <a:defRPr/>
              </a:pPr>
              <a:t>2024/7/25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A7FDAD-A43D-D01B-4FDC-305D0AC562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548077-9B73-8DDD-F806-A864160928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8C2A8AB2-FD55-4F94-9CE5-3142116237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2A508C-307D-274E-D6C6-F142542369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BE0544D-CB6F-AC61-FABE-E4F624CFC1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F7881A40-892A-8159-26E0-C2932609FB2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DD711E0-ECE5-3CF8-B16E-CDD36F445A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0B001F6-9F88-B457-DA91-B2157CF6C9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E2C99A6-BECB-C091-C631-4CEE16EF5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E44FBEC-5C18-4382-BDFF-97185F50BE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D36A113F-5F79-E405-CAC3-26616A272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F1522D31-7ECA-A39D-2AEA-A0D5D29A3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AA9EA23F-E18F-7B4F-7907-CF2056BCC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D5F69C51-5A62-C509-1B75-0B67182BC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51375435-C073-E54F-59F7-6F3FED5523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E55A092B-F454-C3B2-05E0-74DF17BFD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3">
            <a:extLst>
              <a:ext uri="{FF2B5EF4-FFF2-40B4-BE49-F238E27FC236}">
                <a16:creationId xmlns:a16="http://schemas.microsoft.com/office/drawing/2014/main" id="{A47A606C-C90B-7306-4A9E-E19FF12A830D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" name="任意多边形 15">
            <a:extLst>
              <a:ext uri="{FF2B5EF4-FFF2-40B4-BE49-F238E27FC236}">
                <a16:creationId xmlns:a16="http://schemas.microsoft.com/office/drawing/2014/main" id="{739F5161-F47D-9993-E5E7-8635252C25C2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4" name="组合 16">
            <a:extLst>
              <a:ext uri="{FF2B5EF4-FFF2-40B4-BE49-F238E27FC236}">
                <a16:creationId xmlns:a16="http://schemas.microsoft.com/office/drawing/2014/main" id="{5B42DB18-B96D-D557-F2F4-41FF35F21795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5" name="任意多边形 18">
              <a:extLst>
                <a:ext uri="{FF2B5EF4-FFF2-40B4-BE49-F238E27FC236}">
                  <a16:creationId xmlns:a16="http://schemas.microsoft.com/office/drawing/2014/main" id="{A8689CCB-DCAA-B8AE-F106-EB16700177A5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" name="任意多边形 19">
              <a:extLst>
                <a:ext uri="{FF2B5EF4-FFF2-40B4-BE49-F238E27FC236}">
                  <a16:creationId xmlns:a16="http://schemas.microsoft.com/office/drawing/2014/main" id="{3FF10920-F167-8E15-18FB-015A84BE0047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7" name="日期占位符 29">
            <a:extLst>
              <a:ext uri="{FF2B5EF4-FFF2-40B4-BE49-F238E27FC236}">
                <a16:creationId xmlns:a16="http://schemas.microsoft.com/office/drawing/2014/main" id="{D536757E-6593-4B11-3B66-8F26034B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18">
            <a:extLst>
              <a:ext uri="{FF2B5EF4-FFF2-40B4-BE49-F238E27FC236}">
                <a16:creationId xmlns:a16="http://schemas.microsoft.com/office/drawing/2014/main" id="{D396AFD4-0D3C-32E2-6595-229F5E5D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26">
            <a:extLst>
              <a:ext uri="{FF2B5EF4-FFF2-40B4-BE49-F238E27FC236}">
                <a16:creationId xmlns:a16="http://schemas.microsoft.com/office/drawing/2014/main" id="{3581C8B4-BC57-02CB-ADC0-0D5F99A8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0AC671BB-D8A8-49AD-B633-398357452A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396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73B68CD8-C74A-7CF6-94BC-84BBE605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BE041627-84BA-3817-6CB2-AF31FE24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CAA3FF5-06E8-3AEC-CE30-F993BB56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37961-048F-4037-B697-0DBACFBD64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6978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3">
            <a:extLst>
              <a:ext uri="{FF2B5EF4-FFF2-40B4-BE49-F238E27FC236}">
                <a16:creationId xmlns:a16="http://schemas.microsoft.com/office/drawing/2014/main" id="{5D51A4EF-FB28-6D83-D01E-31310012C5B9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" name="任意多边形 15">
            <a:extLst>
              <a:ext uri="{FF2B5EF4-FFF2-40B4-BE49-F238E27FC236}">
                <a16:creationId xmlns:a16="http://schemas.microsoft.com/office/drawing/2014/main" id="{9C593F2A-6B3E-6A5A-E235-B4EC740DBCDC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6" name="组合 1">
            <a:extLst>
              <a:ext uri="{FF2B5EF4-FFF2-40B4-BE49-F238E27FC236}">
                <a16:creationId xmlns:a16="http://schemas.microsoft.com/office/drawing/2014/main" id="{5183732A-DEB9-BCB7-8253-79B7D75AB301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7" name="任意多边形 18">
              <a:extLst>
                <a:ext uri="{FF2B5EF4-FFF2-40B4-BE49-F238E27FC236}">
                  <a16:creationId xmlns:a16="http://schemas.microsoft.com/office/drawing/2014/main" id="{D23A5C17-D34D-EC3A-5BD6-486A3AA946FC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" name="任意多边形 19">
              <a:extLst>
                <a:ext uri="{FF2B5EF4-FFF2-40B4-BE49-F238E27FC236}">
                  <a16:creationId xmlns:a16="http://schemas.microsoft.com/office/drawing/2014/main" id="{CC98860C-D235-0A12-5C67-E9D168646313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9" name="Rectangle 29">
            <a:extLst>
              <a:ext uri="{FF2B5EF4-FFF2-40B4-BE49-F238E27FC236}">
                <a16:creationId xmlns:a16="http://schemas.microsoft.com/office/drawing/2014/main" id="{D25A26B8-6A65-316A-2D20-D0B58E635D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27838" y="71438"/>
            <a:ext cx="4022725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集成电子技术基础教程  第二版 下册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4E7D5224-6CF7-A5DB-A777-43BF155A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6607EC55-B768-E190-1DA6-E0188B84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74D3A172-DB45-EFCF-2D3D-E2C2E23B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11AF01F8-C2CC-475D-8334-04DEB2CD82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1359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184C27FA-66FB-CBEF-5F4C-664C9AB6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3201B647-344F-787B-6731-D50AB77E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4DF8D1CE-0843-D039-3546-6AD6A3C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B042D-3D86-4FC6-909D-251A97651D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2603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>
            <a:extLst>
              <a:ext uri="{FF2B5EF4-FFF2-40B4-BE49-F238E27FC236}">
                <a16:creationId xmlns:a16="http://schemas.microsoft.com/office/drawing/2014/main" id="{0D8BF8AD-AB86-6C15-E83E-A1B6A57C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21">
            <a:extLst>
              <a:ext uri="{FF2B5EF4-FFF2-40B4-BE49-F238E27FC236}">
                <a16:creationId xmlns:a16="http://schemas.microsoft.com/office/drawing/2014/main" id="{58057ECF-A096-F00C-B5EE-0F1F4942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17">
            <a:extLst>
              <a:ext uri="{FF2B5EF4-FFF2-40B4-BE49-F238E27FC236}">
                <a16:creationId xmlns:a16="http://schemas.microsoft.com/office/drawing/2014/main" id="{1FD30735-DD81-02DF-4AF0-6335D95C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6380A-311D-421D-AB89-43B03B9114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315433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>
            <a:extLst>
              <a:ext uri="{FF2B5EF4-FFF2-40B4-BE49-F238E27FC236}">
                <a16:creationId xmlns:a16="http://schemas.microsoft.com/office/drawing/2014/main" id="{3981A7DF-539D-6D55-E789-8880054C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21">
            <a:extLst>
              <a:ext uri="{FF2B5EF4-FFF2-40B4-BE49-F238E27FC236}">
                <a16:creationId xmlns:a16="http://schemas.microsoft.com/office/drawing/2014/main" id="{375FEEF1-1D1E-EB9A-DAD6-3B4B31EB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17">
            <a:extLst>
              <a:ext uri="{FF2B5EF4-FFF2-40B4-BE49-F238E27FC236}">
                <a16:creationId xmlns:a16="http://schemas.microsoft.com/office/drawing/2014/main" id="{44CBACF9-01A6-F457-FF10-478F7C44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608F-55FA-452E-AB15-7C2D649F5B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08269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>
            <a:extLst>
              <a:ext uri="{FF2B5EF4-FFF2-40B4-BE49-F238E27FC236}">
                <a16:creationId xmlns:a16="http://schemas.microsoft.com/office/drawing/2014/main" id="{2ED42312-FC89-A530-2AED-66C5CE1F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1">
            <a:extLst>
              <a:ext uri="{FF2B5EF4-FFF2-40B4-BE49-F238E27FC236}">
                <a16:creationId xmlns:a16="http://schemas.microsoft.com/office/drawing/2014/main" id="{143C1389-FEC0-483B-FAFA-5302DAFE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17">
            <a:extLst>
              <a:ext uri="{FF2B5EF4-FFF2-40B4-BE49-F238E27FC236}">
                <a16:creationId xmlns:a16="http://schemas.microsoft.com/office/drawing/2014/main" id="{4DDB4FCC-31D4-4154-B4D2-2119956E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48F2B-627E-4138-A193-9B1F50FF72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32490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A967518A-55D6-EB1E-E0BB-2A604741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534A4162-CDF0-D275-756D-3ED9944C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72AD71DF-905A-F06D-F217-48DE8740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A076B-4B5D-40E0-8F1C-CA3861A788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21576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>
            <a:extLst>
              <a:ext uri="{FF2B5EF4-FFF2-40B4-BE49-F238E27FC236}">
                <a16:creationId xmlns:a16="http://schemas.microsoft.com/office/drawing/2014/main" id="{0D404794-C164-659C-FA85-8FCC4F7989EA}"/>
              </a:ext>
            </a:extLst>
          </p:cNvPr>
          <p:cNvSpPr/>
          <p:nvPr/>
        </p:nvSpPr>
        <p:spPr>
          <a:xfrm rot="420000" flipV="1">
            <a:off x="422116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056019F0-2851-80A6-7176-CC68B518B671}"/>
              </a:ext>
            </a:extLst>
          </p:cNvPr>
          <p:cNvSpPr/>
          <p:nvPr/>
        </p:nvSpPr>
        <p:spPr>
          <a:xfrm rot="420000" flipV="1">
            <a:off x="10672763" y="5359400"/>
            <a:ext cx="2063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任意多边形 16">
            <a:extLst>
              <a:ext uri="{FF2B5EF4-FFF2-40B4-BE49-F238E27FC236}">
                <a16:creationId xmlns:a16="http://schemas.microsoft.com/office/drawing/2014/main" id="{E6F9371D-5BC3-2BBE-AFE5-9CA2156753C1}"/>
              </a:ext>
            </a:extLst>
          </p:cNvPr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18">
            <a:extLst>
              <a:ext uri="{FF2B5EF4-FFF2-40B4-BE49-F238E27FC236}">
                <a16:creationId xmlns:a16="http://schemas.microsoft.com/office/drawing/2014/main" id="{83D909E2-17E3-B748-E213-76E686DF049C}"/>
              </a:ext>
            </a:extLst>
          </p:cNvPr>
          <p:cNvSpPr>
            <a:spLocks/>
          </p:cNvSpPr>
          <p:nvPr/>
        </p:nvSpPr>
        <p:spPr bwMode="auto">
          <a:xfrm flipV="1">
            <a:off x="5842000" y="6219825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6A3806A5-DB72-06DB-D1AD-E5AB7813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5156912B-DD3F-3A1C-0618-91A9F3D9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6C294660-BAB7-7616-5C94-9DFABBED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356350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F32A0-2B62-4F70-81CF-1EB1CCFE3A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713807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656B3AC-96BA-67A9-351D-8263A301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02766FB1-4EF6-4A8E-60AD-B6FD71B6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B547819F-5CB6-3349-EA60-BC3816BB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C0E7-1B81-463A-999B-F8E282F271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1364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777490B-D8BF-4C3D-20BA-9CD900F1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5E10CC67-7F4C-A4F5-888A-07C571100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E0D5290-5FCE-1D93-0DA6-46DEFAC3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E7922A-5F62-4927-8C2C-FE72481074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15453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71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>
            <a:extLst>
              <a:ext uri="{FF2B5EF4-FFF2-40B4-BE49-F238E27FC236}">
                <a16:creationId xmlns:a16="http://schemas.microsoft.com/office/drawing/2014/main" id="{440EEFF4-CE7D-543B-5B07-470495456395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38AA2566-A940-A9A6-E407-13D34F6FDDC2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solidFill>
                <a:srgbClr val="FFCC00"/>
              </a:solidFill>
              <a:latin typeface="+mn-lt"/>
              <a:ea typeface="+mn-ea"/>
            </a:endParaRPr>
          </a:p>
        </p:txBody>
      </p:sp>
      <p:sp>
        <p:nvSpPr>
          <p:cNvPr id="1028" name="标题占位符 8">
            <a:extLst>
              <a:ext uri="{FF2B5EF4-FFF2-40B4-BE49-F238E27FC236}">
                <a16:creationId xmlns:a16="http://schemas.microsoft.com/office/drawing/2014/main" id="{1B32D716-E915-9C85-FD0B-7BB4E8B648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文本占位符 29">
            <a:extLst>
              <a:ext uri="{FF2B5EF4-FFF2-40B4-BE49-F238E27FC236}">
                <a16:creationId xmlns:a16="http://schemas.microsoft.com/office/drawing/2014/main" id="{8E229223-6FED-EE32-2760-854F5BB569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8A1309A6-F68C-EB34-718D-6D0EDB764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页脚占位符 21">
            <a:extLst>
              <a:ext uri="{FF2B5EF4-FFF2-40B4-BE49-F238E27FC236}">
                <a16:creationId xmlns:a16="http://schemas.microsoft.com/office/drawing/2014/main" id="{4E921148-AAD3-6666-3E36-D81CE8F91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5076B1A1-3EE0-DDCA-4C65-865C0267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fld id="{16AB5121-2F43-48F8-9658-DA6287A425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3" name="组合 1">
            <a:extLst>
              <a:ext uri="{FF2B5EF4-FFF2-40B4-BE49-F238E27FC236}">
                <a16:creationId xmlns:a16="http://schemas.microsoft.com/office/drawing/2014/main" id="{ADF704ED-272E-01D6-F46E-33D5B6B465FC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15978FF5-49FC-D8D0-0489-CF896D8CE497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B8E2104A-25F5-F641-D8D0-35F10DF27A5E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1034" name="Rectangle 29">
            <a:extLst>
              <a:ext uri="{FF2B5EF4-FFF2-40B4-BE49-F238E27FC236}">
                <a16:creationId xmlns:a16="http://schemas.microsoft.com/office/drawing/2014/main" id="{C291CF40-F3C0-31F5-2B9F-80AEC7347C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336088" y="92075"/>
            <a:ext cx="26828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r>
              <a:rPr lang="en-US" altLang="zh-CN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57" r:id="rId2"/>
    <p:sldLayoutId id="2147484466" r:id="rId3"/>
    <p:sldLayoutId id="2147484458" r:id="rId4"/>
    <p:sldLayoutId id="2147484459" r:id="rId5"/>
    <p:sldLayoutId id="2147484460" r:id="rId6"/>
    <p:sldLayoutId id="2147484461" r:id="rId7"/>
    <p:sldLayoutId id="2147484462" r:id="rId8"/>
    <p:sldLayoutId id="2147484467" r:id="rId9"/>
    <p:sldLayoutId id="2147484463" r:id="rId10"/>
    <p:sldLayoutId id="2147484464" r:id="rId11"/>
    <p:sldLayoutId id="2147484468" r:id="rId12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5">
            <a:extLst>
              <a:ext uri="{FF2B5EF4-FFF2-40B4-BE49-F238E27FC236}">
                <a16:creationId xmlns:a16="http://schemas.microsoft.com/office/drawing/2014/main" id="{4A45C8EA-3BFE-414E-A5D7-3552F222C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1844675"/>
            <a:ext cx="6985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FFC000"/>
                </a:solidFill>
                <a:latin typeface="宋体" panose="02010600030101010101" pitchFamily="2" charset="-122"/>
              </a:rPr>
              <a:t>可编程逻辑器件</a:t>
            </a:r>
          </a:p>
        </p:txBody>
      </p:sp>
      <p:sp>
        <p:nvSpPr>
          <p:cNvPr id="8195" name="矩形 1">
            <a:extLst>
              <a:ext uri="{FF2B5EF4-FFF2-40B4-BE49-F238E27FC236}">
                <a16:creationId xmlns:a16="http://schemas.microsoft.com/office/drawing/2014/main" id="{6948C733-7C27-4716-B315-A7E26DC92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4581525"/>
            <a:ext cx="46815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zh-CN" altLang="en-US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浙江大学电工电子教学中心    张德华</a:t>
            </a:r>
            <a:endParaRPr lang="en-US" altLang="zh-CN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0213B4B-837A-AC0F-BF8F-0F02E0B3BF94}"/>
              </a:ext>
            </a:extLst>
          </p:cNvPr>
          <p:cNvSpPr>
            <a:spLocks/>
          </p:cNvSpPr>
          <p:nvPr/>
        </p:nvSpPr>
        <p:spPr bwMode="auto">
          <a:xfrm>
            <a:off x="3395663" y="1943100"/>
            <a:ext cx="51943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/>
          <p:cNvGrpSpPr/>
          <p:nvPr/>
        </p:nvGrpSpPr>
        <p:grpSpPr>
          <a:xfrm>
            <a:off x="1679510" y="1412776"/>
            <a:ext cx="7680853" cy="1440160"/>
            <a:chOff x="827584" y="357504"/>
            <a:chExt cx="5760640" cy="1080120"/>
          </a:xfrm>
        </p:grpSpPr>
        <p:sp>
          <p:nvSpPr>
            <p:cNvPr id="50" name="矩形 49"/>
            <p:cNvSpPr/>
            <p:nvPr/>
          </p:nvSpPr>
          <p:spPr bwMode="auto">
            <a:xfrm>
              <a:off x="3131840" y="357504"/>
              <a:ext cx="1224136" cy="108012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1" hangingPunct="1"/>
              <a:endParaRPr kumimoji="1" lang="en-US" altLang="zh-CN" sz="3200" dirty="0">
                <a:latin typeface="Tahoma" pitchFamily="34" charset="0"/>
              </a:endParaRPr>
            </a:p>
            <a:p>
              <a:pPr defTabSz="1219170" eaLnBrk="1" hangingPunct="1"/>
              <a:r>
                <a:rPr kumimoji="1" lang="en-US" altLang="zh-CN" sz="3200" dirty="0">
                  <a:latin typeface="Tahoma" pitchFamily="34" charset="0"/>
                </a:rPr>
                <a:t>add4bit</a:t>
              </a:r>
              <a:endParaRPr kumimoji="1" lang="zh-CN" altLang="en-US" sz="3200" dirty="0">
                <a:latin typeface="Tahoma" pitchFamily="34" charset="0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 bwMode="auto">
            <a:xfrm>
              <a:off x="2411760" y="519522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51"/>
            <p:cNvCxnSpPr/>
            <p:nvPr/>
          </p:nvCxnSpPr>
          <p:spPr bwMode="auto">
            <a:xfrm>
              <a:off x="2411760" y="843558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52"/>
            <p:cNvCxnSpPr/>
            <p:nvPr/>
          </p:nvCxnSpPr>
          <p:spPr bwMode="auto">
            <a:xfrm>
              <a:off x="2411760" y="1113588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53"/>
            <p:cNvCxnSpPr/>
            <p:nvPr/>
          </p:nvCxnSpPr>
          <p:spPr bwMode="auto">
            <a:xfrm>
              <a:off x="4355976" y="627534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直接连接符 54"/>
            <p:cNvCxnSpPr/>
            <p:nvPr/>
          </p:nvCxnSpPr>
          <p:spPr bwMode="auto">
            <a:xfrm>
              <a:off x="4355976" y="1113588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" name="TextBox 55"/>
            <p:cNvSpPr txBox="1"/>
            <p:nvPr/>
          </p:nvSpPr>
          <p:spPr>
            <a:xfrm>
              <a:off x="827584" y="357504"/>
              <a:ext cx="151216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a[3..0]</a:t>
              </a:r>
              <a:endParaRPr lang="zh-CN" altLang="en-US" sz="2667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763688" y="951570"/>
              <a:ext cx="576064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c0</a:t>
              </a:r>
              <a:endParaRPr lang="zh-CN" altLang="en-US" sz="2667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076056" y="411510"/>
              <a:ext cx="504056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c4</a:t>
              </a:r>
              <a:endParaRPr lang="zh-CN" altLang="en-US" sz="2667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27584" y="681540"/>
              <a:ext cx="151216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b[3..0]</a:t>
              </a:r>
              <a:endParaRPr lang="zh-CN" altLang="en-US" sz="2667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76056" y="951570"/>
              <a:ext cx="151216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s[3..0]</a:t>
              </a:r>
              <a:endParaRPr lang="zh-CN" altLang="en-US" sz="2667" dirty="0"/>
            </a:p>
          </p:txBody>
        </p:sp>
      </p:grpSp>
      <p:sp>
        <p:nvSpPr>
          <p:cNvPr id="104" name="矩形 103"/>
          <p:cNvSpPr/>
          <p:nvPr/>
        </p:nvSpPr>
        <p:spPr>
          <a:xfrm>
            <a:off x="815414" y="260649"/>
            <a:ext cx="105611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：应用</a:t>
            </a:r>
            <a:r>
              <a:rPr lang="en-US" altLang="zh-CN" sz="2400" b="1" dirty="0">
                <a:solidFill>
                  <a:srgbClr val="FF0000"/>
                </a:solidFill>
              </a:rPr>
              <a:t>QUARTUS</a:t>
            </a:r>
            <a:r>
              <a:rPr lang="zh-CN" altLang="en-US" sz="2400" b="1" dirty="0">
                <a:solidFill>
                  <a:srgbClr val="FF0000"/>
                </a:solidFill>
              </a:rPr>
              <a:t>设计和仿真四位二进制全加器</a:t>
            </a:r>
            <a:r>
              <a:rPr lang="en-US" altLang="zh-CN" sz="2400" b="1" dirty="0">
                <a:solidFill>
                  <a:srgbClr val="FF0000"/>
                </a:solidFill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设计源文件</a:t>
            </a:r>
          </a:p>
          <a:p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5" name="Rectangle 9"/>
          <p:cNvSpPr>
            <a:spLocks noChangeArrowheads="1"/>
          </p:cNvSpPr>
          <p:nvPr/>
        </p:nvSpPr>
        <p:spPr bwMode="auto">
          <a:xfrm>
            <a:off x="1967541" y="3909054"/>
            <a:ext cx="7776864" cy="15289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library IEEE;</a:t>
            </a:r>
          </a:p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use IEEE.std_logic_1164.all;</a:t>
            </a:r>
          </a:p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use </a:t>
            </a:r>
            <a:r>
              <a:rPr lang="en-US" altLang="zh-CN" sz="1867" dirty="0" err="1">
                <a:latin typeface="Times New Roman" pitchFamily="18" charset="0"/>
              </a:rPr>
              <a:t>IEEE.std_logic_unsigned.all</a:t>
            </a:r>
            <a:r>
              <a:rPr lang="en-US" altLang="zh-CN" sz="1867" dirty="0">
                <a:latin typeface="Times New Roman" pitchFamily="18" charset="0"/>
              </a:rPr>
              <a:t>; </a:t>
            </a:r>
          </a:p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USE </a:t>
            </a:r>
            <a:r>
              <a:rPr lang="en-US" altLang="zh-CN" sz="1867" dirty="0" err="1">
                <a:latin typeface="Times New Roman" pitchFamily="18" charset="0"/>
              </a:rPr>
              <a:t>IEEE.numeric_std.ALL</a:t>
            </a:r>
            <a:r>
              <a:rPr lang="en-US" altLang="zh-CN" sz="1867" dirty="0">
                <a:latin typeface="Times New Roman" pitchFamily="18" charset="0"/>
              </a:rPr>
              <a:t>;</a:t>
            </a:r>
          </a:p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USE </a:t>
            </a:r>
            <a:r>
              <a:rPr lang="en-US" altLang="zh-CN" sz="1867" dirty="0" err="1">
                <a:latin typeface="Times New Roman" pitchFamily="18" charset="0"/>
              </a:rPr>
              <a:t>IEEE.std_logic_arith.all</a:t>
            </a:r>
            <a:r>
              <a:rPr lang="en-US" altLang="zh-CN" sz="1867" dirty="0">
                <a:latin typeface="Times New Roman" pitchFamily="18" charset="0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815414" y="260649"/>
            <a:ext cx="105611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：应用</a:t>
            </a:r>
            <a:r>
              <a:rPr lang="en-US" altLang="zh-CN" sz="2400" b="1" dirty="0">
                <a:solidFill>
                  <a:srgbClr val="FF0000"/>
                </a:solidFill>
              </a:rPr>
              <a:t>QUARTUS</a:t>
            </a:r>
            <a:r>
              <a:rPr lang="zh-CN" altLang="en-US" sz="2400" b="1" dirty="0">
                <a:solidFill>
                  <a:srgbClr val="FF0000"/>
                </a:solidFill>
              </a:rPr>
              <a:t>设计和仿真四位二进制全加器</a:t>
            </a:r>
            <a:r>
              <a:rPr lang="en-US" altLang="zh-CN" sz="2400" b="1" dirty="0">
                <a:solidFill>
                  <a:srgbClr val="FF0000"/>
                </a:solidFill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设计源文件</a:t>
            </a:r>
          </a:p>
          <a:p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007435" y="5061181"/>
            <a:ext cx="9864757" cy="14052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133" dirty="0"/>
              <a:t>	u1:add1bit port map (a=&gt;a(0),b=&gt;b(0),c0=&gt;c0,s=&gt;s(0),c1=&gt;c1) ;</a:t>
            </a:r>
          </a:p>
          <a:p>
            <a:r>
              <a:rPr lang="en-US" altLang="zh-CN" sz="2133" dirty="0"/>
              <a:t>	u2:add1bit port map (a=&gt;a(1),b=&gt;b(1),c0=&gt;c1,s=&gt;s(1),c1=&gt;c2);</a:t>
            </a:r>
          </a:p>
          <a:p>
            <a:r>
              <a:rPr lang="en-US" altLang="zh-CN" sz="2133" dirty="0"/>
              <a:t>	u3:add1bit port map (a=&gt;a(2),b=&gt;b(2),c0=&gt;c2,s=&gt;s(2),c1=&gt;c3);</a:t>
            </a:r>
          </a:p>
          <a:p>
            <a:r>
              <a:rPr lang="en-US" altLang="zh-CN" sz="2133" dirty="0"/>
              <a:t>	u4:add1bit port map (a=&gt;a(3),b=&gt;b(3),c0=&gt;c3,s=&gt;s(3),c1=&gt;c4);</a:t>
            </a:r>
            <a:endParaRPr lang="zh-CN" altLang="en-US" sz="2133" dirty="0"/>
          </a:p>
        </p:txBody>
      </p:sp>
      <p:sp>
        <p:nvSpPr>
          <p:cNvPr id="101" name="TextBox 100"/>
          <p:cNvSpPr txBox="1"/>
          <p:nvPr/>
        </p:nvSpPr>
        <p:spPr>
          <a:xfrm>
            <a:off x="1199456" y="836712"/>
            <a:ext cx="288032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7" b="1" dirty="0">
                <a:solidFill>
                  <a:srgbClr val="C00000"/>
                </a:solidFill>
              </a:rPr>
              <a:t>模块分割：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1477" y="1508787"/>
            <a:ext cx="9203267" cy="299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" name="TextBox 101"/>
          <p:cNvSpPr txBox="1"/>
          <p:nvPr/>
        </p:nvSpPr>
        <p:spPr>
          <a:xfrm>
            <a:off x="1199456" y="4389107"/>
            <a:ext cx="5952661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7" b="1" dirty="0">
                <a:solidFill>
                  <a:srgbClr val="C00000"/>
                </a:solidFill>
              </a:rPr>
              <a:t>采用元件引用实现</a:t>
            </a:r>
            <a:r>
              <a:rPr lang="en-US" altLang="zh-CN" sz="2667" b="1" dirty="0">
                <a:solidFill>
                  <a:srgbClr val="C00000"/>
                </a:solidFill>
              </a:rPr>
              <a:t>4</a:t>
            </a:r>
            <a:r>
              <a:rPr lang="zh-CN" altLang="en-US" sz="2667" b="1" dirty="0">
                <a:solidFill>
                  <a:srgbClr val="C00000"/>
                </a:solidFill>
              </a:rPr>
              <a:t>位全加：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101"/>
          <p:cNvGrpSpPr/>
          <p:nvPr/>
        </p:nvGrpSpPr>
        <p:grpSpPr>
          <a:xfrm>
            <a:off x="1583499" y="1028733"/>
            <a:ext cx="7680853" cy="1440160"/>
            <a:chOff x="827584" y="357504"/>
            <a:chExt cx="5760640" cy="1080120"/>
          </a:xfrm>
        </p:grpSpPr>
        <p:sp>
          <p:nvSpPr>
            <p:cNvPr id="50" name="矩形 49"/>
            <p:cNvSpPr/>
            <p:nvPr/>
          </p:nvSpPr>
          <p:spPr bwMode="auto">
            <a:xfrm>
              <a:off x="3131840" y="357504"/>
              <a:ext cx="1224136" cy="108012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1" hangingPunct="1"/>
              <a:endParaRPr kumimoji="1" lang="en-US" altLang="zh-CN" sz="3200" dirty="0">
                <a:latin typeface="Tahoma" pitchFamily="34" charset="0"/>
              </a:endParaRPr>
            </a:p>
            <a:p>
              <a:pPr defTabSz="1219170" eaLnBrk="1" hangingPunct="1"/>
              <a:r>
                <a:rPr kumimoji="1" lang="en-US" altLang="zh-CN" sz="3200" dirty="0">
                  <a:latin typeface="Tahoma" pitchFamily="34" charset="0"/>
                </a:rPr>
                <a:t>add4bit</a:t>
              </a:r>
              <a:endParaRPr kumimoji="1" lang="zh-CN" altLang="en-US" sz="3200" dirty="0">
                <a:latin typeface="Tahoma" pitchFamily="34" charset="0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 bwMode="auto">
            <a:xfrm>
              <a:off x="2411760" y="519522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51"/>
            <p:cNvCxnSpPr/>
            <p:nvPr/>
          </p:nvCxnSpPr>
          <p:spPr bwMode="auto">
            <a:xfrm>
              <a:off x="2411760" y="843558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52"/>
            <p:cNvCxnSpPr/>
            <p:nvPr/>
          </p:nvCxnSpPr>
          <p:spPr bwMode="auto">
            <a:xfrm>
              <a:off x="2411760" y="1113588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53"/>
            <p:cNvCxnSpPr/>
            <p:nvPr/>
          </p:nvCxnSpPr>
          <p:spPr bwMode="auto">
            <a:xfrm>
              <a:off x="4355976" y="627534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直接连接符 54"/>
            <p:cNvCxnSpPr/>
            <p:nvPr/>
          </p:nvCxnSpPr>
          <p:spPr bwMode="auto">
            <a:xfrm>
              <a:off x="4355976" y="1113588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" name="TextBox 55"/>
            <p:cNvSpPr txBox="1"/>
            <p:nvPr/>
          </p:nvSpPr>
          <p:spPr>
            <a:xfrm>
              <a:off x="827584" y="357504"/>
              <a:ext cx="151216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a[3..0]</a:t>
              </a:r>
              <a:endParaRPr lang="zh-CN" altLang="en-US" sz="2667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763688" y="951570"/>
              <a:ext cx="576064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c0</a:t>
              </a:r>
              <a:endParaRPr lang="zh-CN" altLang="en-US" sz="2667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076056" y="411510"/>
              <a:ext cx="504056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c4</a:t>
              </a:r>
              <a:endParaRPr lang="zh-CN" altLang="en-US" sz="2667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27584" y="681540"/>
              <a:ext cx="151216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b[3..0]</a:t>
              </a:r>
              <a:endParaRPr lang="zh-CN" altLang="en-US" sz="2667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76056" y="951570"/>
              <a:ext cx="151216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s[3..0]</a:t>
              </a:r>
              <a:endParaRPr lang="zh-CN" altLang="en-US" sz="2667" dirty="0"/>
            </a:p>
          </p:txBody>
        </p:sp>
      </p:grpSp>
      <p:sp>
        <p:nvSpPr>
          <p:cNvPr id="104" name="矩形 103"/>
          <p:cNvSpPr/>
          <p:nvPr/>
        </p:nvSpPr>
        <p:spPr>
          <a:xfrm>
            <a:off x="815414" y="260649"/>
            <a:ext cx="105611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：应用</a:t>
            </a:r>
            <a:r>
              <a:rPr lang="en-US" altLang="zh-CN" sz="2400" b="1" dirty="0">
                <a:solidFill>
                  <a:srgbClr val="FF0000"/>
                </a:solidFill>
              </a:rPr>
              <a:t>QUARTUS</a:t>
            </a:r>
            <a:r>
              <a:rPr lang="zh-CN" altLang="en-US" sz="2400" b="1" dirty="0">
                <a:solidFill>
                  <a:srgbClr val="FF0000"/>
                </a:solidFill>
              </a:rPr>
              <a:t>设计和仿真四位二进制全加器</a:t>
            </a:r>
            <a:r>
              <a:rPr lang="en-US" altLang="zh-CN" sz="2400" b="1" dirty="0">
                <a:solidFill>
                  <a:srgbClr val="FF0000"/>
                </a:solidFill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仿真源文件</a:t>
            </a:r>
          </a:p>
          <a:p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4" name="TextBox 16"/>
          <p:cNvSpPr txBox="1"/>
          <p:nvPr/>
        </p:nvSpPr>
        <p:spPr>
          <a:xfrm>
            <a:off x="1583499" y="2660915"/>
            <a:ext cx="5568619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67" b="1" dirty="0">
                <a:solidFill>
                  <a:srgbClr val="C00000"/>
                </a:solidFill>
              </a:rPr>
              <a:t>Add4bit.vwf </a:t>
            </a:r>
            <a:r>
              <a:rPr lang="zh-CN" altLang="en-US" sz="2667" b="1" dirty="0">
                <a:solidFill>
                  <a:srgbClr val="C00000"/>
                </a:solidFill>
              </a:rPr>
              <a:t>仿真结果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AD3A09-63D9-0484-1710-575742E1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80" y="3520239"/>
            <a:ext cx="11856640" cy="2669428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11287</TotalTime>
  <Words>331</Words>
  <Application>Microsoft Office PowerPoint</Application>
  <PresentationFormat>宽屏</PresentationFormat>
  <Paragraphs>34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黑体</vt:lpstr>
      <vt:lpstr>楷体</vt:lpstr>
      <vt:lpstr>宋体</vt:lpstr>
      <vt:lpstr>微软雅黑</vt:lpstr>
      <vt:lpstr>Arial</vt:lpstr>
      <vt:lpstr>Calibri</vt:lpstr>
      <vt:lpstr>Constantia</vt:lpstr>
      <vt:lpstr>Tahoma</vt:lpstr>
      <vt:lpstr>Times New Roman</vt:lpstr>
      <vt:lpstr>Wingdings 2</vt:lpstr>
      <vt:lpstr>流畅</vt:lpstr>
      <vt:lpstr>PowerPoint 演示文稿</vt:lpstr>
      <vt:lpstr>PowerPoint 演示文稿</vt:lpstr>
      <vt:lpstr>PowerPoint 演示文稿</vt:lpstr>
      <vt:lpstr>PowerPoint 演示文稿</vt:lpstr>
    </vt:vector>
  </TitlesOfParts>
  <Company>UCIrvine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keyue smedley</dc:creator>
  <cp:lastModifiedBy>Administrator</cp:lastModifiedBy>
  <cp:revision>676</cp:revision>
  <dcterms:created xsi:type="dcterms:W3CDTF">2001-11-26T03:50:59Z</dcterms:created>
  <dcterms:modified xsi:type="dcterms:W3CDTF">2024-07-25T15:41:22Z</dcterms:modified>
</cp:coreProperties>
</file>