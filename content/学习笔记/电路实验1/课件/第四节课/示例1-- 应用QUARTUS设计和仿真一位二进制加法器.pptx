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6"/>
  </p:notesMasterIdLst>
  <p:handoutMasterIdLst>
    <p:handoutMasterId r:id="rId7"/>
  </p:handoutMasterIdLst>
  <p:sldIdLst>
    <p:sldId id="364" r:id="rId2"/>
    <p:sldId id="317" r:id="rId3"/>
    <p:sldId id="358" r:id="rId4"/>
    <p:sldId id="359" r:id="rId5"/>
  </p:sldIdLst>
  <p:sldSz cx="12192000" cy="6858000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00CC"/>
    <a:srgbClr val="9933FF"/>
    <a:srgbClr val="FF0000"/>
    <a:srgbClr val="CC00FF"/>
    <a:srgbClr val="008A3E"/>
    <a:srgbClr val="000000"/>
    <a:srgbClr val="DC0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09" autoAdjust="0"/>
    <p:restoredTop sz="92362" autoAdjust="0"/>
  </p:normalViewPr>
  <p:slideViewPr>
    <p:cSldViewPr>
      <p:cViewPr varScale="1">
        <p:scale>
          <a:sx n="96" d="100"/>
          <a:sy n="96" d="100"/>
        </p:scale>
        <p:origin x="108" y="439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22" y="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AFD7498-6CAE-1F64-9106-6E3D5BDC54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FFD7314-2A5E-D40B-AAB0-B3AE63E381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779CE4-74D1-4155-B695-508AD7798C68}" type="datetimeFigureOut">
              <a:rPr lang="zh-CN" altLang="en-US"/>
              <a:pPr>
                <a:defRPr/>
              </a:pPr>
              <a:t>2024/7/25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A7FDAD-A43D-D01B-4FDC-305D0AC562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548077-9B73-8DDD-F806-A864160928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8C2A8AB2-FD55-4F94-9CE5-3142116237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C2A508C-307D-274E-D6C6-F1425423696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BE0544D-CB6F-AC61-FABE-E4F624CFC12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7881A40-892A-8159-26E0-C2932609FB2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DD711E0-ECE5-3CF8-B16E-CDD36F445AD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0B001F6-9F88-B457-DA91-B2157CF6C9B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E2C99A6-BECB-C091-C631-4CEE16EF5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E44FBEC-5C18-4382-BDFF-97185F50BE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D36A113F-5F79-E405-CAC3-26616A272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F1522D31-7ECA-A39D-2AEA-A0D5D29A3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AA9EA23F-E18F-7B4F-7907-CF2056BCC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D5F69C51-5A62-C509-1B75-0B67182BC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>
            <a:extLst>
              <a:ext uri="{FF2B5EF4-FFF2-40B4-BE49-F238E27FC236}">
                <a16:creationId xmlns:a16="http://schemas.microsoft.com/office/drawing/2014/main" id="{51375435-C073-E54F-59F7-6F3FED5523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备注占位符 2">
            <a:extLst>
              <a:ext uri="{FF2B5EF4-FFF2-40B4-BE49-F238E27FC236}">
                <a16:creationId xmlns:a16="http://schemas.microsoft.com/office/drawing/2014/main" id="{E55A092B-F454-C3B2-05E0-74DF17BFD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设计平台选择：系统可分解性，可扩展性，趣味性，可理解性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3">
            <a:extLst>
              <a:ext uri="{FF2B5EF4-FFF2-40B4-BE49-F238E27FC236}">
                <a16:creationId xmlns:a16="http://schemas.microsoft.com/office/drawing/2014/main" id="{A47A606C-C90B-7306-4A9E-E19FF12A830D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" name="任意多边形 15">
            <a:extLst>
              <a:ext uri="{FF2B5EF4-FFF2-40B4-BE49-F238E27FC236}">
                <a16:creationId xmlns:a16="http://schemas.microsoft.com/office/drawing/2014/main" id="{739F5161-F47D-9993-E5E7-8635252C25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4" name="组合 16">
            <a:extLst>
              <a:ext uri="{FF2B5EF4-FFF2-40B4-BE49-F238E27FC236}">
                <a16:creationId xmlns:a16="http://schemas.microsoft.com/office/drawing/2014/main" id="{5B42DB18-B96D-D557-F2F4-41FF35F21795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5" name="任意多边形 18">
              <a:extLst>
                <a:ext uri="{FF2B5EF4-FFF2-40B4-BE49-F238E27FC236}">
                  <a16:creationId xmlns:a16="http://schemas.microsoft.com/office/drawing/2014/main" id="{A8689CCB-DCAA-B8AE-F106-EB16700177A5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" name="任意多边形 19">
              <a:extLst>
                <a:ext uri="{FF2B5EF4-FFF2-40B4-BE49-F238E27FC236}">
                  <a16:creationId xmlns:a16="http://schemas.microsoft.com/office/drawing/2014/main" id="{3FF10920-F167-8E15-18FB-015A84BE004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7" name="日期占位符 29">
            <a:extLst>
              <a:ext uri="{FF2B5EF4-FFF2-40B4-BE49-F238E27FC236}">
                <a16:creationId xmlns:a16="http://schemas.microsoft.com/office/drawing/2014/main" id="{D536757E-6593-4B11-3B66-8F26034B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18">
            <a:extLst>
              <a:ext uri="{FF2B5EF4-FFF2-40B4-BE49-F238E27FC236}">
                <a16:creationId xmlns:a16="http://schemas.microsoft.com/office/drawing/2014/main" id="{D396AFD4-0D3C-32E2-6595-229F5E5D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26">
            <a:extLst>
              <a:ext uri="{FF2B5EF4-FFF2-40B4-BE49-F238E27FC236}">
                <a16:creationId xmlns:a16="http://schemas.microsoft.com/office/drawing/2014/main" id="{3581C8B4-BC57-02CB-ADC0-0D5F99A8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0AC671BB-D8A8-49AD-B633-398357452A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7396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73B68CD8-C74A-7CF6-94BC-84BBE605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BE041627-84BA-3817-6CB2-AF31FE24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CAA3FF5-06E8-3AEC-CE30-F993BB56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37961-048F-4037-B697-0DBACFBD64F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96978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3">
            <a:extLst>
              <a:ext uri="{FF2B5EF4-FFF2-40B4-BE49-F238E27FC236}">
                <a16:creationId xmlns:a16="http://schemas.microsoft.com/office/drawing/2014/main" id="{5D51A4EF-FB28-6D83-D01E-31310012C5B9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" name="任意多边形 15">
            <a:extLst>
              <a:ext uri="{FF2B5EF4-FFF2-40B4-BE49-F238E27FC236}">
                <a16:creationId xmlns:a16="http://schemas.microsoft.com/office/drawing/2014/main" id="{9C593F2A-6B3E-6A5A-E235-B4EC740DBCDC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5183732A-DEB9-BCB7-8253-79B7D75AB301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7" name="任意多边形 18">
              <a:extLst>
                <a:ext uri="{FF2B5EF4-FFF2-40B4-BE49-F238E27FC236}">
                  <a16:creationId xmlns:a16="http://schemas.microsoft.com/office/drawing/2014/main" id="{D23A5C17-D34D-EC3A-5BD6-486A3AA946FC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" name="任意多边形 19">
              <a:extLst>
                <a:ext uri="{FF2B5EF4-FFF2-40B4-BE49-F238E27FC236}">
                  <a16:creationId xmlns:a16="http://schemas.microsoft.com/office/drawing/2014/main" id="{CC98860C-D235-0A12-5C67-E9D168646313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9" name="Rectangle 29">
            <a:extLst>
              <a:ext uri="{FF2B5EF4-FFF2-40B4-BE49-F238E27FC236}">
                <a16:creationId xmlns:a16="http://schemas.microsoft.com/office/drawing/2014/main" id="{D25A26B8-6A65-316A-2D20-D0B58E635D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27838" y="71438"/>
            <a:ext cx="4022725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集成电子技术基础教程  第二版 下册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日期占位符 3">
            <a:extLst>
              <a:ext uri="{FF2B5EF4-FFF2-40B4-BE49-F238E27FC236}">
                <a16:creationId xmlns:a16="http://schemas.microsoft.com/office/drawing/2014/main" id="{4E7D5224-6CF7-A5DB-A777-43BF155A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页脚占位符 4">
            <a:extLst>
              <a:ext uri="{FF2B5EF4-FFF2-40B4-BE49-F238E27FC236}">
                <a16:creationId xmlns:a16="http://schemas.microsoft.com/office/drawing/2014/main" id="{6607EC55-B768-E190-1DA6-E0188B84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74D3A172-DB45-EFCF-2D3D-E2C2E23B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11AF01F8-C2CC-475D-8334-04DEB2CD82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135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184C27FA-66FB-CBEF-5F4C-664C9AB6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3201B647-344F-787B-6731-D50AB77E8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4DF8D1CE-0843-D039-3546-6AD6A3C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B042D-3D86-4FC6-909D-251A97651D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42603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9">
            <a:extLst>
              <a:ext uri="{FF2B5EF4-FFF2-40B4-BE49-F238E27FC236}">
                <a16:creationId xmlns:a16="http://schemas.microsoft.com/office/drawing/2014/main" id="{0D8BF8AD-AB86-6C15-E83E-A1B6A57C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1">
            <a:extLst>
              <a:ext uri="{FF2B5EF4-FFF2-40B4-BE49-F238E27FC236}">
                <a16:creationId xmlns:a16="http://schemas.microsoft.com/office/drawing/2014/main" id="{58057ECF-A096-F00C-B5EE-0F1F4942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17">
            <a:extLst>
              <a:ext uri="{FF2B5EF4-FFF2-40B4-BE49-F238E27FC236}">
                <a16:creationId xmlns:a16="http://schemas.microsoft.com/office/drawing/2014/main" id="{1FD30735-DD81-02DF-4AF0-6335D95C8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6380A-311D-421D-AB89-43B03B9114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15433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9">
            <a:extLst>
              <a:ext uri="{FF2B5EF4-FFF2-40B4-BE49-F238E27FC236}">
                <a16:creationId xmlns:a16="http://schemas.microsoft.com/office/drawing/2014/main" id="{3981A7DF-539D-6D55-E789-8880054C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1">
            <a:extLst>
              <a:ext uri="{FF2B5EF4-FFF2-40B4-BE49-F238E27FC236}">
                <a16:creationId xmlns:a16="http://schemas.microsoft.com/office/drawing/2014/main" id="{375FEEF1-1D1E-EB9A-DAD6-3B4B31EB5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17">
            <a:extLst>
              <a:ext uri="{FF2B5EF4-FFF2-40B4-BE49-F238E27FC236}">
                <a16:creationId xmlns:a16="http://schemas.microsoft.com/office/drawing/2014/main" id="{44CBACF9-01A6-F457-FF10-478F7C44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608F-55FA-452E-AB15-7C2D649F5B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20826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9">
            <a:extLst>
              <a:ext uri="{FF2B5EF4-FFF2-40B4-BE49-F238E27FC236}">
                <a16:creationId xmlns:a16="http://schemas.microsoft.com/office/drawing/2014/main" id="{2ED42312-FC89-A530-2AED-66C5CE1F3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1">
            <a:extLst>
              <a:ext uri="{FF2B5EF4-FFF2-40B4-BE49-F238E27FC236}">
                <a16:creationId xmlns:a16="http://schemas.microsoft.com/office/drawing/2014/main" id="{143C1389-FEC0-483B-FAFA-5302DAFE9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17">
            <a:extLst>
              <a:ext uri="{FF2B5EF4-FFF2-40B4-BE49-F238E27FC236}">
                <a16:creationId xmlns:a16="http://schemas.microsoft.com/office/drawing/2014/main" id="{4DDB4FCC-31D4-4154-B4D2-2119956E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48F2B-627E-4138-A193-9B1F50FF72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032490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9">
            <a:extLst>
              <a:ext uri="{FF2B5EF4-FFF2-40B4-BE49-F238E27FC236}">
                <a16:creationId xmlns:a16="http://schemas.microsoft.com/office/drawing/2014/main" id="{A967518A-55D6-EB1E-E0BB-2A6047419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1">
            <a:extLst>
              <a:ext uri="{FF2B5EF4-FFF2-40B4-BE49-F238E27FC236}">
                <a16:creationId xmlns:a16="http://schemas.microsoft.com/office/drawing/2014/main" id="{534A4162-CDF0-D275-756D-3ED9944C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17">
            <a:extLst>
              <a:ext uri="{FF2B5EF4-FFF2-40B4-BE49-F238E27FC236}">
                <a16:creationId xmlns:a16="http://schemas.microsoft.com/office/drawing/2014/main" id="{72AD71DF-905A-F06D-F217-48DE8740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A076B-4B5D-40E0-8F1C-CA3861A788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721576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13">
            <a:extLst>
              <a:ext uri="{FF2B5EF4-FFF2-40B4-BE49-F238E27FC236}">
                <a16:creationId xmlns:a16="http://schemas.microsoft.com/office/drawing/2014/main" id="{0D404794-C164-659C-FA85-8FCC4F7989EA}"/>
              </a:ext>
            </a:extLst>
          </p:cNvPr>
          <p:cNvSpPr/>
          <p:nvPr/>
        </p:nvSpPr>
        <p:spPr>
          <a:xfrm rot="420000" flipV="1">
            <a:off x="422116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056019F0-2851-80A6-7176-CC68B518B671}"/>
              </a:ext>
            </a:extLst>
          </p:cNvPr>
          <p:cNvSpPr/>
          <p:nvPr/>
        </p:nvSpPr>
        <p:spPr>
          <a:xfrm rot="420000" flipV="1">
            <a:off x="10672763" y="5359400"/>
            <a:ext cx="2063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任意多边形 16">
            <a:extLst>
              <a:ext uri="{FF2B5EF4-FFF2-40B4-BE49-F238E27FC236}">
                <a16:creationId xmlns:a16="http://schemas.microsoft.com/office/drawing/2014/main" id="{E6F9371D-5BC3-2BBE-AFE5-9CA2156753C1}"/>
              </a:ext>
            </a:extLst>
          </p:cNvPr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18">
            <a:extLst>
              <a:ext uri="{FF2B5EF4-FFF2-40B4-BE49-F238E27FC236}">
                <a16:creationId xmlns:a16="http://schemas.microsoft.com/office/drawing/2014/main" id="{83D909E2-17E3-B748-E213-76E686DF049C}"/>
              </a:ext>
            </a:extLst>
          </p:cNvPr>
          <p:cNvSpPr>
            <a:spLocks/>
          </p:cNvSpPr>
          <p:nvPr/>
        </p:nvSpPr>
        <p:spPr bwMode="auto">
          <a:xfrm flipV="1">
            <a:off x="5842000" y="6219825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6A3806A5-DB72-06DB-D1AD-E5AB781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5156912B-DD3F-3A1C-0618-91A9F3D9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6C294660-BAB7-7616-5C94-9DFABBED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F32A0-2B62-4F70-81CF-1EB1CCFE3A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713807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656B3AC-96BA-67A9-351D-8263A301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02766FB1-4EF6-4A8E-60AD-B6FD71B6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B547819F-5CB6-3349-EA60-BC3816BB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C0E7-1B81-463A-999B-F8E282F271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13643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9">
            <a:extLst>
              <a:ext uri="{FF2B5EF4-FFF2-40B4-BE49-F238E27FC236}">
                <a16:creationId xmlns:a16="http://schemas.microsoft.com/office/drawing/2014/main" id="{D777490B-D8BF-4C3D-20BA-9CD900F1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1">
            <a:extLst>
              <a:ext uri="{FF2B5EF4-FFF2-40B4-BE49-F238E27FC236}">
                <a16:creationId xmlns:a16="http://schemas.microsoft.com/office/drawing/2014/main" id="{5E10CC67-7F4C-A4F5-888A-07C571100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17">
            <a:extLst>
              <a:ext uri="{FF2B5EF4-FFF2-40B4-BE49-F238E27FC236}">
                <a16:creationId xmlns:a16="http://schemas.microsoft.com/office/drawing/2014/main" id="{0E0D5290-5FCE-1D93-0DA6-46DEFAC3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E7922A-5F62-4927-8C2C-FE72481074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1545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6711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>
            <a:extLst>
              <a:ext uri="{FF2B5EF4-FFF2-40B4-BE49-F238E27FC236}">
                <a16:creationId xmlns:a16="http://schemas.microsoft.com/office/drawing/2014/main" id="{440EEFF4-CE7D-543B-5B07-470495456395}"/>
              </a:ext>
            </a:extLst>
          </p:cNvPr>
          <p:cNvSpPr>
            <a:spLocks/>
          </p:cNvSpPr>
          <p:nvPr/>
        </p:nvSpPr>
        <p:spPr bwMode="auto">
          <a:xfrm>
            <a:off x="-12700" y="-7938"/>
            <a:ext cx="1221740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38AA2566-A940-A9A6-E407-13D34F6FDDC2}"/>
              </a:ext>
            </a:extLst>
          </p:cNvPr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solidFill>
                <a:srgbClr val="FFCC00"/>
              </a:solidFill>
              <a:latin typeface="+mn-lt"/>
              <a:ea typeface="+mn-ea"/>
            </a:endParaRPr>
          </a:p>
        </p:txBody>
      </p:sp>
      <p:sp>
        <p:nvSpPr>
          <p:cNvPr id="1028" name="标题占位符 8">
            <a:extLst>
              <a:ext uri="{FF2B5EF4-FFF2-40B4-BE49-F238E27FC236}">
                <a16:creationId xmlns:a16="http://schemas.microsoft.com/office/drawing/2014/main" id="{1B32D716-E915-9C85-FD0B-7BB4E8B6488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文本占位符 29">
            <a:extLst>
              <a:ext uri="{FF2B5EF4-FFF2-40B4-BE49-F238E27FC236}">
                <a16:creationId xmlns:a16="http://schemas.microsoft.com/office/drawing/2014/main" id="{8E229223-6FED-EE32-2760-854F5BB569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935163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8A1309A6-F68C-EB34-718D-6D0EDB764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页脚占位符 21">
            <a:extLst>
              <a:ext uri="{FF2B5EF4-FFF2-40B4-BE49-F238E27FC236}">
                <a16:creationId xmlns:a16="http://schemas.microsoft.com/office/drawing/2014/main" id="{4E921148-AAD3-6666-3E36-D81CE8F91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6000" y="6356350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5076B1A1-3EE0-DDCA-4C65-865C0267C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66400" y="6356350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>
              <a:defRPr/>
            </a:pPr>
            <a:fld id="{16AB5121-2F43-48F8-9658-DA6287A425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3" name="组合 1">
            <a:extLst>
              <a:ext uri="{FF2B5EF4-FFF2-40B4-BE49-F238E27FC236}">
                <a16:creationId xmlns:a16="http://schemas.microsoft.com/office/drawing/2014/main" id="{ADF704ED-272E-01D6-F46E-33D5B6B465FC}"/>
              </a:ext>
            </a:extLst>
          </p:cNvPr>
          <p:cNvGrpSpPr>
            <a:grpSpLocks/>
          </p:cNvGrpSpPr>
          <p:nvPr/>
        </p:nvGrpSpPr>
        <p:grpSpPr bwMode="auto">
          <a:xfrm>
            <a:off x="-25400" y="203200"/>
            <a:ext cx="12241213" cy="647700"/>
            <a:chOff x="-19045" y="216550"/>
            <a:chExt cx="9180548" cy="649224"/>
          </a:xfrm>
        </p:grpSpPr>
        <p:sp>
          <p:nvSpPr>
            <p:cNvPr id="12" name="任意多边形 11">
              <a:extLst>
                <a:ext uri="{FF2B5EF4-FFF2-40B4-BE49-F238E27FC236}">
                  <a16:creationId xmlns:a16="http://schemas.microsoft.com/office/drawing/2014/main" id="{15978FF5-49FC-D8D0-0489-CF896D8CE497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3" name="任意多边形 12">
              <a:extLst>
                <a:ext uri="{FF2B5EF4-FFF2-40B4-BE49-F238E27FC236}">
                  <a16:creationId xmlns:a16="http://schemas.microsoft.com/office/drawing/2014/main" id="{B8E2104A-25F5-F641-D8D0-35F10DF27A5E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1034" name="Rectangle 29">
            <a:extLst>
              <a:ext uri="{FF2B5EF4-FFF2-40B4-BE49-F238E27FC236}">
                <a16:creationId xmlns:a16="http://schemas.microsoft.com/office/drawing/2014/main" id="{C291CF40-F3C0-31F5-2B9F-80AEC7347C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36088" y="92075"/>
            <a:ext cx="2682875" cy="3698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电路与电子技术实验</a:t>
            </a:r>
            <a:r>
              <a:rPr lang="en-US" altLang="zh-CN" sz="1800" b="1" kern="2500" spc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5" r:id="rId1"/>
    <p:sldLayoutId id="2147484457" r:id="rId2"/>
    <p:sldLayoutId id="2147484466" r:id="rId3"/>
    <p:sldLayoutId id="2147484458" r:id="rId4"/>
    <p:sldLayoutId id="2147484459" r:id="rId5"/>
    <p:sldLayoutId id="2147484460" r:id="rId6"/>
    <p:sldLayoutId id="2147484461" r:id="rId7"/>
    <p:sldLayoutId id="2147484462" r:id="rId8"/>
    <p:sldLayoutId id="2147484467" r:id="rId9"/>
    <p:sldLayoutId id="2147484463" r:id="rId10"/>
    <p:sldLayoutId id="2147484464" r:id="rId11"/>
    <p:sldLayoutId id="2147484468" r:id="rId12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5">
            <a:extLst>
              <a:ext uri="{FF2B5EF4-FFF2-40B4-BE49-F238E27FC236}">
                <a16:creationId xmlns:a16="http://schemas.microsoft.com/office/drawing/2014/main" id="{4A45C8EA-3BFE-414E-A5D7-3552F222C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8" y="1844675"/>
            <a:ext cx="69850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 b="1" dirty="0">
                <a:solidFill>
                  <a:srgbClr val="FFC000"/>
                </a:solidFill>
                <a:latin typeface="宋体" panose="02010600030101010101" pitchFamily="2" charset="-122"/>
              </a:rPr>
              <a:t>可编程逻辑器件</a:t>
            </a:r>
          </a:p>
        </p:txBody>
      </p:sp>
      <p:sp>
        <p:nvSpPr>
          <p:cNvPr id="8195" name="矩形 1">
            <a:extLst>
              <a:ext uri="{FF2B5EF4-FFF2-40B4-BE49-F238E27FC236}">
                <a16:creationId xmlns:a16="http://schemas.microsoft.com/office/drawing/2014/main" id="{6948C733-7C27-4716-B315-A7E26DC92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613" y="4581525"/>
            <a:ext cx="46815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None/>
            </a:pPr>
            <a:r>
              <a:rPr lang="zh-CN" altLang="en-US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浙江大学电工电子教学中心    张德华</a:t>
            </a:r>
            <a:endParaRPr lang="en-US" altLang="zh-CN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0213B4B-837A-AC0F-BF8F-0F02E0B3BF94}"/>
              </a:ext>
            </a:extLst>
          </p:cNvPr>
          <p:cNvSpPr>
            <a:spLocks/>
          </p:cNvSpPr>
          <p:nvPr/>
        </p:nvSpPr>
        <p:spPr bwMode="auto">
          <a:xfrm>
            <a:off x="3395663" y="1943100"/>
            <a:ext cx="51943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楷体" pitchFamily="49" charset="-122"/>
              <a:ea typeface="楷体" pitchFamily="49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1391477" y="3717033"/>
            <a:ext cx="9217024" cy="15289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library IEEE;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IEEE.std_logic_1164.all;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</a:t>
            </a:r>
            <a:r>
              <a:rPr lang="en-US" altLang="zh-CN" sz="1867" dirty="0" err="1">
                <a:latin typeface="Times New Roman" pitchFamily="18" charset="0"/>
              </a:rPr>
              <a:t>IEEE.std_logic_unsigned.all</a:t>
            </a:r>
            <a:r>
              <a:rPr lang="en-US" altLang="zh-CN" sz="1867" dirty="0">
                <a:latin typeface="Times New Roman" pitchFamily="18" charset="0"/>
              </a:rPr>
              <a:t>; 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</a:t>
            </a:r>
            <a:r>
              <a:rPr lang="en-US" altLang="zh-CN" sz="1867" dirty="0" err="1">
                <a:latin typeface="Times New Roman" pitchFamily="18" charset="0"/>
              </a:rPr>
              <a:t>IEEE.numeric_std.ALL</a:t>
            </a:r>
            <a:r>
              <a:rPr lang="en-US" altLang="zh-CN" sz="1867" dirty="0">
                <a:latin typeface="Times New Roman" pitchFamily="18" charset="0"/>
              </a:rPr>
              <a:t>;</a:t>
            </a:r>
          </a:p>
          <a:p>
            <a:pPr>
              <a:defRPr/>
            </a:pPr>
            <a:r>
              <a:rPr lang="en-US" altLang="zh-CN" sz="1867" dirty="0">
                <a:latin typeface="Times New Roman" pitchFamily="18" charset="0"/>
              </a:rPr>
              <a:t>USE </a:t>
            </a:r>
            <a:r>
              <a:rPr lang="en-US" altLang="zh-CN" sz="1867" dirty="0" err="1">
                <a:latin typeface="Times New Roman" pitchFamily="18" charset="0"/>
              </a:rPr>
              <a:t>IEEE.std_logic_arith.all</a:t>
            </a:r>
            <a:r>
              <a:rPr lang="en-US" altLang="zh-CN" sz="1867" dirty="0">
                <a:latin typeface="Times New Roman" pitchFamily="18" charset="0"/>
              </a:rPr>
              <a:t>;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159563" y="1412775"/>
            <a:ext cx="5088565" cy="1440160"/>
            <a:chOff x="971600" y="1779662"/>
            <a:chExt cx="3816424" cy="1080120"/>
          </a:xfrm>
        </p:grpSpPr>
        <p:sp>
          <p:nvSpPr>
            <p:cNvPr id="3" name="矩形 2"/>
            <p:cNvSpPr/>
            <p:nvPr/>
          </p:nvSpPr>
          <p:spPr bwMode="auto">
            <a:xfrm>
              <a:off x="2339752" y="1779662"/>
              <a:ext cx="1224136" cy="108012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1" hangingPunct="1"/>
              <a:endParaRPr kumimoji="1" lang="en-US" altLang="zh-CN" sz="3200" dirty="0">
                <a:latin typeface="Tahoma" pitchFamily="34" charset="0"/>
              </a:endParaRPr>
            </a:p>
            <a:p>
              <a:pPr defTabSz="1219170" eaLnBrk="1" hangingPunct="1"/>
              <a:r>
                <a:rPr kumimoji="1" lang="en-US" altLang="zh-CN" sz="3200" dirty="0">
                  <a:latin typeface="Tahoma" pitchFamily="34" charset="0"/>
                </a:rPr>
                <a:t>add1bit</a:t>
              </a:r>
              <a:endParaRPr kumimoji="1" lang="zh-CN" altLang="en-US" sz="3200" dirty="0">
                <a:latin typeface="Tahoma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 bwMode="auto">
            <a:xfrm>
              <a:off x="1619672" y="1941680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1619672" y="226571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1619672" y="253574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3563888" y="2049692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/>
            <p:cNvCxnSpPr/>
            <p:nvPr/>
          </p:nvCxnSpPr>
          <p:spPr bwMode="auto">
            <a:xfrm>
              <a:off x="3563888" y="253574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Box 12"/>
            <p:cNvSpPr txBox="1"/>
            <p:nvPr/>
          </p:nvSpPr>
          <p:spPr>
            <a:xfrm>
              <a:off x="1115616" y="1779662"/>
              <a:ext cx="43204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a</a:t>
              </a:r>
              <a:endParaRPr lang="zh-CN" altLang="en-US" sz="2667" dirty="0"/>
            </a:p>
          </p:txBody>
        </p:sp>
        <p:sp>
          <p:nvSpPr>
            <p:cNvPr id="17" name="TextBox 13"/>
            <p:cNvSpPr txBox="1"/>
            <p:nvPr/>
          </p:nvSpPr>
          <p:spPr>
            <a:xfrm>
              <a:off x="1115616" y="2103698"/>
              <a:ext cx="43204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b</a:t>
              </a:r>
              <a:endParaRPr lang="zh-CN" altLang="en-US" sz="2667" dirty="0"/>
            </a:p>
          </p:txBody>
        </p:sp>
        <p:sp>
          <p:nvSpPr>
            <p:cNvPr id="18" name="TextBox 14"/>
            <p:cNvSpPr txBox="1"/>
            <p:nvPr/>
          </p:nvSpPr>
          <p:spPr>
            <a:xfrm>
              <a:off x="971600" y="2373728"/>
              <a:ext cx="576064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c0</a:t>
              </a:r>
              <a:endParaRPr lang="zh-CN" altLang="en-US" sz="2667" dirty="0"/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4283968" y="1833668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c1</a:t>
              </a:r>
              <a:endParaRPr lang="zh-CN" altLang="en-US" sz="2667" dirty="0"/>
            </a:p>
          </p:txBody>
        </p:sp>
        <p:sp>
          <p:nvSpPr>
            <p:cNvPr id="21" name="TextBox 16"/>
            <p:cNvSpPr txBox="1"/>
            <p:nvPr/>
          </p:nvSpPr>
          <p:spPr>
            <a:xfrm>
              <a:off x="4283968" y="2373728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s</a:t>
              </a:r>
              <a:endParaRPr lang="zh-CN" altLang="en-US" sz="2667" dirty="0"/>
            </a:p>
          </p:txBody>
        </p:sp>
      </p:grpSp>
      <p:sp>
        <p:nvSpPr>
          <p:cNvPr id="22" name="矩形 21"/>
          <p:cNvSpPr/>
          <p:nvPr/>
        </p:nvSpPr>
        <p:spPr>
          <a:xfrm>
            <a:off x="815413" y="260649"/>
            <a:ext cx="104651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：应用</a:t>
            </a:r>
            <a:r>
              <a:rPr lang="en-US" altLang="zh-CN" sz="2400" b="1" dirty="0">
                <a:solidFill>
                  <a:srgbClr val="FF0000"/>
                </a:solidFill>
              </a:rPr>
              <a:t>QUARTUS</a:t>
            </a:r>
            <a:r>
              <a:rPr lang="zh-CN" altLang="en-US" sz="2400" b="1" dirty="0">
                <a:solidFill>
                  <a:srgbClr val="FF0000"/>
                </a:solidFill>
              </a:rPr>
              <a:t>设计和仿真一位二进制全加器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设计源文件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9"/>
          <p:cNvGrpSpPr/>
          <p:nvPr/>
        </p:nvGrpSpPr>
        <p:grpSpPr>
          <a:xfrm>
            <a:off x="1583499" y="836711"/>
            <a:ext cx="5088565" cy="1440160"/>
            <a:chOff x="971600" y="1779662"/>
            <a:chExt cx="3816424" cy="1080120"/>
          </a:xfrm>
        </p:grpSpPr>
        <p:sp>
          <p:nvSpPr>
            <p:cNvPr id="3" name="矩形 2"/>
            <p:cNvSpPr/>
            <p:nvPr/>
          </p:nvSpPr>
          <p:spPr bwMode="auto">
            <a:xfrm>
              <a:off x="2339752" y="1779662"/>
              <a:ext cx="1224136" cy="108012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1" hangingPunct="1"/>
              <a:endParaRPr kumimoji="1" lang="en-US" altLang="zh-CN" sz="2400" dirty="0">
                <a:latin typeface="Tahoma" pitchFamily="34" charset="0"/>
              </a:endParaRPr>
            </a:p>
            <a:p>
              <a:pPr defTabSz="1219170" eaLnBrk="1" hangingPunct="1"/>
              <a:r>
                <a:rPr kumimoji="1" lang="en-US" altLang="zh-CN" sz="3200" dirty="0">
                  <a:latin typeface="Tahoma" pitchFamily="34" charset="0"/>
                </a:rPr>
                <a:t>add1bit</a:t>
              </a:r>
              <a:endParaRPr kumimoji="1" lang="zh-CN" altLang="en-US" sz="3200" dirty="0">
                <a:latin typeface="Tahoma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 bwMode="auto">
            <a:xfrm>
              <a:off x="1619672" y="1941680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连接符 11"/>
            <p:cNvCxnSpPr/>
            <p:nvPr/>
          </p:nvCxnSpPr>
          <p:spPr bwMode="auto">
            <a:xfrm>
              <a:off x="1619672" y="226571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1619672" y="253574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3563888" y="2049692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/>
            <p:cNvCxnSpPr/>
            <p:nvPr/>
          </p:nvCxnSpPr>
          <p:spPr bwMode="auto">
            <a:xfrm>
              <a:off x="3563888" y="253574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Box 12"/>
            <p:cNvSpPr txBox="1"/>
            <p:nvPr/>
          </p:nvSpPr>
          <p:spPr>
            <a:xfrm>
              <a:off x="1115616" y="1779662"/>
              <a:ext cx="43204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a</a:t>
              </a:r>
              <a:endParaRPr lang="zh-CN" altLang="en-US" sz="2667" dirty="0"/>
            </a:p>
          </p:txBody>
        </p:sp>
        <p:sp>
          <p:nvSpPr>
            <p:cNvPr id="17" name="TextBox 13"/>
            <p:cNvSpPr txBox="1"/>
            <p:nvPr/>
          </p:nvSpPr>
          <p:spPr>
            <a:xfrm>
              <a:off x="1115616" y="2103698"/>
              <a:ext cx="43204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b</a:t>
              </a:r>
              <a:endParaRPr lang="zh-CN" altLang="en-US" sz="2667" dirty="0"/>
            </a:p>
          </p:txBody>
        </p:sp>
        <p:sp>
          <p:nvSpPr>
            <p:cNvPr id="18" name="TextBox 14"/>
            <p:cNvSpPr txBox="1"/>
            <p:nvPr/>
          </p:nvSpPr>
          <p:spPr>
            <a:xfrm>
              <a:off x="971600" y="2373728"/>
              <a:ext cx="576064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c</a:t>
              </a:r>
              <a:r>
                <a:rPr lang="en-US" altLang="zh-CN" sz="2667" baseline="-25000" dirty="0"/>
                <a:t>0</a:t>
              </a:r>
              <a:endParaRPr lang="zh-CN" altLang="en-US" sz="2667" baseline="-25000" dirty="0"/>
            </a:p>
          </p:txBody>
        </p:sp>
        <p:sp>
          <p:nvSpPr>
            <p:cNvPr id="19" name="TextBox 15"/>
            <p:cNvSpPr txBox="1"/>
            <p:nvPr/>
          </p:nvSpPr>
          <p:spPr>
            <a:xfrm>
              <a:off x="4283968" y="1833668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c</a:t>
              </a:r>
              <a:r>
                <a:rPr lang="en-US" altLang="zh-CN" sz="2667" baseline="-25000" dirty="0"/>
                <a:t>1</a:t>
              </a:r>
              <a:endParaRPr lang="zh-CN" altLang="en-US" sz="2667" baseline="-25000" dirty="0"/>
            </a:p>
          </p:txBody>
        </p:sp>
        <p:sp>
          <p:nvSpPr>
            <p:cNvPr id="20" name="TextBox 16"/>
            <p:cNvSpPr txBox="1"/>
            <p:nvPr/>
          </p:nvSpPr>
          <p:spPr>
            <a:xfrm>
              <a:off x="4283968" y="2373728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s</a:t>
              </a:r>
              <a:endParaRPr lang="zh-CN" altLang="en-US" sz="2667" dirty="0"/>
            </a:p>
          </p:txBody>
        </p:sp>
      </p:grpSp>
      <p:graphicFrame>
        <p:nvGraphicFramePr>
          <p:cNvPr id="2519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16354"/>
              </p:ext>
            </p:extLst>
          </p:nvPr>
        </p:nvGraphicFramePr>
        <p:xfrm>
          <a:off x="1679510" y="2542194"/>
          <a:ext cx="5046544" cy="487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34880" imgH="253800" progId="Equation.DSMT4">
                  <p:embed/>
                </p:oleObj>
              </mc:Choice>
              <mc:Fallback>
                <p:oleObj name="Equation" r:id="rId3" imgW="2234880" imgH="253800" progId="Equation.DSMT4">
                  <p:embed/>
                  <p:pic>
                    <p:nvPicPr>
                      <p:cNvPr id="2519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10" y="2542194"/>
                        <a:ext cx="5046544" cy="4870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1422364"/>
              </p:ext>
            </p:extLst>
          </p:nvPr>
        </p:nvGraphicFramePr>
        <p:xfrm>
          <a:off x="1583499" y="3057129"/>
          <a:ext cx="5782502" cy="50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38280" imgH="253800" progId="Equation.DSMT4">
                  <p:embed/>
                </p:oleObj>
              </mc:Choice>
              <mc:Fallback>
                <p:oleObj name="Equation" r:id="rId5" imgW="2438280" imgH="253800" progId="Equation.DSMT4">
                  <p:embed/>
                  <p:pic>
                    <p:nvPicPr>
                      <p:cNvPr id="2519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499" y="3057129"/>
                        <a:ext cx="5782502" cy="5027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/>
          <p:cNvSpPr/>
          <p:nvPr/>
        </p:nvSpPr>
        <p:spPr>
          <a:xfrm>
            <a:off x="1391477" y="4293096"/>
            <a:ext cx="93130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s&lt;=(not a and not b and c0) or (not a and b and not c0)</a:t>
            </a:r>
          </a:p>
          <a:p>
            <a:r>
              <a:rPr lang="en-US" altLang="zh-CN" sz="2400" dirty="0"/>
              <a:t>      or (a and not b and not c0) or (a and b and c0);</a:t>
            </a:r>
            <a:endParaRPr lang="zh-CN" altLang="en-US" sz="2400" dirty="0"/>
          </a:p>
        </p:txBody>
      </p:sp>
      <p:sp>
        <p:nvSpPr>
          <p:cNvPr id="22" name="矩形 21"/>
          <p:cNvSpPr/>
          <p:nvPr/>
        </p:nvSpPr>
        <p:spPr>
          <a:xfrm>
            <a:off x="1391478" y="5349213"/>
            <a:ext cx="85449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c1&lt;= (not a and b and c0) or (a and not b and c0) </a:t>
            </a:r>
          </a:p>
          <a:p>
            <a:r>
              <a:rPr lang="en-US" altLang="zh-CN" sz="2400" dirty="0"/>
              <a:t>        or (a and b and not c0) or  (a and b and c0);</a:t>
            </a:r>
            <a:endParaRPr lang="zh-CN" altLang="en-US" sz="2400" dirty="0"/>
          </a:p>
        </p:txBody>
      </p:sp>
      <p:sp>
        <p:nvSpPr>
          <p:cNvPr id="23" name="矩形 22"/>
          <p:cNvSpPr/>
          <p:nvPr/>
        </p:nvSpPr>
        <p:spPr>
          <a:xfrm>
            <a:off x="815413" y="260649"/>
            <a:ext cx="104651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：应用</a:t>
            </a:r>
            <a:r>
              <a:rPr lang="en-US" altLang="zh-CN" sz="2400" b="1" dirty="0">
                <a:solidFill>
                  <a:srgbClr val="FF0000"/>
                </a:solidFill>
              </a:rPr>
              <a:t>QUARTUS</a:t>
            </a:r>
            <a:r>
              <a:rPr lang="zh-CN" altLang="en-US" sz="2400" b="1" dirty="0">
                <a:solidFill>
                  <a:srgbClr val="FF0000"/>
                </a:solidFill>
              </a:rPr>
              <a:t>设计和仿真一位二进制全加器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设计源文件</a:t>
            </a:r>
          </a:p>
        </p:txBody>
      </p:sp>
      <p:sp>
        <p:nvSpPr>
          <p:cNvPr id="24" name="TextBox 19"/>
          <p:cNvSpPr txBox="1"/>
          <p:nvPr/>
        </p:nvSpPr>
        <p:spPr>
          <a:xfrm>
            <a:off x="1487488" y="3621022"/>
            <a:ext cx="288032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67" b="1" dirty="0">
                <a:solidFill>
                  <a:srgbClr val="C00000"/>
                </a:solidFill>
              </a:rPr>
              <a:t>代入语句描述：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815414" y="260649"/>
            <a:ext cx="105611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en-US" altLang="zh-CN" sz="2400" b="1" dirty="0">
                <a:solidFill>
                  <a:srgbClr val="FF0000"/>
                </a:solidFill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</a:rPr>
              <a:t>：应用</a:t>
            </a:r>
            <a:r>
              <a:rPr lang="en-US" altLang="zh-CN" sz="2400" b="1" dirty="0">
                <a:solidFill>
                  <a:srgbClr val="FF0000"/>
                </a:solidFill>
              </a:rPr>
              <a:t>QUARTUS</a:t>
            </a:r>
            <a:r>
              <a:rPr lang="zh-CN" altLang="en-US" sz="2400" b="1" dirty="0">
                <a:solidFill>
                  <a:srgbClr val="FF0000"/>
                </a:solidFill>
              </a:rPr>
              <a:t>设计和仿真一位二进制全加器</a:t>
            </a:r>
            <a:r>
              <a:rPr lang="en-US" altLang="zh-CN" sz="2400" b="1" dirty="0">
                <a:solidFill>
                  <a:srgbClr val="FF0000"/>
                </a:solidFill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</a:rPr>
              <a:t>仿真源文件</a:t>
            </a:r>
          </a:p>
          <a:p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83499" y="2660915"/>
            <a:ext cx="556861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7" b="1" dirty="0">
                <a:solidFill>
                  <a:srgbClr val="C00000"/>
                </a:solidFill>
              </a:rPr>
              <a:t>Add1bit.vwf </a:t>
            </a:r>
            <a:r>
              <a:rPr lang="zh-CN" altLang="en-US" sz="2667" b="1" dirty="0">
                <a:solidFill>
                  <a:srgbClr val="C00000"/>
                </a:solidFill>
              </a:rPr>
              <a:t>仿真结果</a:t>
            </a:r>
          </a:p>
        </p:txBody>
      </p:sp>
      <p:grpSp>
        <p:nvGrpSpPr>
          <p:cNvPr id="4" name="组合 19">
            <a:extLst>
              <a:ext uri="{FF2B5EF4-FFF2-40B4-BE49-F238E27FC236}">
                <a16:creationId xmlns:a16="http://schemas.microsoft.com/office/drawing/2014/main" id="{391E6D41-55C8-EF19-196C-3CBE603DEB8C}"/>
              </a:ext>
            </a:extLst>
          </p:cNvPr>
          <p:cNvGrpSpPr/>
          <p:nvPr/>
        </p:nvGrpSpPr>
        <p:grpSpPr>
          <a:xfrm>
            <a:off x="1583499" y="836711"/>
            <a:ext cx="5088565" cy="1440160"/>
            <a:chOff x="971600" y="1779662"/>
            <a:chExt cx="3816424" cy="108012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F56807F-7639-BF93-0287-618BF252AE52}"/>
                </a:ext>
              </a:extLst>
            </p:cNvPr>
            <p:cNvSpPr/>
            <p:nvPr/>
          </p:nvSpPr>
          <p:spPr bwMode="auto">
            <a:xfrm>
              <a:off x="2339752" y="1779662"/>
              <a:ext cx="1224136" cy="108012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defTabSz="1219170" eaLnBrk="1" hangingPunct="1"/>
              <a:endParaRPr kumimoji="1" lang="en-US" altLang="zh-CN" sz="2400" dirty="0">
                <a:latin typeface="Tahoma" pitchFamily="34" charset="0"/>
              </a:endParaRPr>
            </a:p>
            <a:p>
              <a:pPr defTabSz="1219170" eaLnBrk="1" hangingPunct="1"/>
              <a:r>
                <a:rPr kumimoji="1" lang="en-US" altLang="zh-CN" sz="3200" dirty="0">
                  <a:latin typeface="Tahoma" pitchFamily="34" charset="0"/>
                </a:rPr>
                <a:t>add1bit</a:t>
              </a:r>
              <a:endParaRPr kumimoji="1" lang="zh-CN" altLang="en-US" sz="3200" dirty="0">
                <a:latin typeface="Tahoma" pitchFamily="34" charset="0"/>
              </a:endParaRP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C1566E4-D2CA-8D45-EE33-DF642BF0AD32}"/>
                </a:ext>
              </a:extLst>
            </p:cNvPr>
            <p:cNvCxnSpPr/>
            <p:nvPr/>
          </p:nvCxnSpPr>
          <p:spPr bwMode="auto">
            <a:xfrm>
              <a:off x="1619672" y="1941680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B0F224A-EA1F-72EE-12D9-99E869BBEE5C}"/>
                </a:ext>
              </a:extLst>
            </p:cNvPr>
            <p:cNvCxnSpPr/>
            <p:nvPr/>
          </p:nvCxnSpPr>
          <p:spPr bwMode="auto">
            <a:xfrm>
              <a:off x="1619672" y="226571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9C5A6D8-6516-451B-0934-DC2A3C58EEE9}"/>
                </a:ext>
              </a:extLst>
            </p:cNvPr>
            <p:cNvCxnSpPr/>
            <p:nvPr/>
          </p:nvCxnSpPr>
          <p:spPr bwMode="auto">
            <a:xfrm>
              <a:off x="1619672" y="253574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95F07604-73AF-54BD-DB7E-B02EC6049401}"/>
                </a:ext>
              </a:extLst>
            </p:cNvPr>
            <p:cNvCxnSpPr/>
            <p:nvPr/>
          </p:nvCxnSpPr>
          <p:spPr bwMode="auto">
            <a:xfrm>
              <a:off x="3563888" y="2049692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AE4D05D-2EAA-BF94-6A40-81EB4E4B7ED2}"/>
                </a:ext>
              </a:extLst>
            </p:cNvPr>
            <p:cNvCxnSpPr/>
            <p:nvPr/>
          </p:nvCxnSpPr>
          <p:spPr bwMode="auto">
            <a:xfrm>
              <a:off x="3563888" y="2535746"/>
              <a:ext cx="720080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TextBox 12">
              <a:extLst>
                <a:ext uri="{FF2B5EF4-FFF2-40B4-BE49-F238E27FC236}">
                  <a16:creationId xmlns:a16="http://schemas.microsoft.com/office/drawing/2014/main" id="{39E5CAE9-665F-8543-4736-B2D9ED9F1935}"/>
                </a:ext>
              </a:extLst>
            </p:cNvPr>
            <p:cNvSpPr txBox="1"/>
            <p:nvPr/>
          </p:nvSpPr>
          <p:spPr>
            <a:xfrm>
              <a:off x="1115616" y="1779662"/>
              <a:ext cx="43204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a</a:t>
              </a:r>
              <a:endParaRPr lang="zh-CN" altLang="en-US" sz="2667" dirty="0"/>
            </a:p>
          </p:txBody>
        </p:sp>
        <p:sp>
          <p:nvSpPr>
            <p:cNvPr id="25" name="TextBox 13">
              <a:extLst>
                <a:ext uri="{FF2B5EF4-FFF2-40B4-BE49-F238E27FC236}">
                  <a16:creationId xmlns:a16="http://schemas.microsoft.com/office/drawing/2014/main" id="{4D841603-699C-41F7-8966-62822756B3D3}"/>
                </a:ext>
              </a:extLst>
            </p:cNvPr>
            <p:cNvSpPr txBox="1"/>
            <p:nvPr/>
          </p:nvSpPr>
          <p:spPr>
            <a:xfrm>
              <a:off x="1115616" y="2103698"/>
              <a:ext cx="432048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b</a:t>
              </a:r>
              <a:endParaRPr lang="zh-CN" altLang="en-US" sz="2667" dirty="0"/>
            </a:p>
          </p:txBody>
        </p:sp>
        <p:sp>
          <p:nvSpPr>
            <p:cNvPr id="26" name="TextBox 14">
              <a:extLst>
                <a:ext uri="{FF2B5EF4-FFF2-40B4-BE49-F238E27FC236}">
                  <a16:creationId xmlns:a16="http://schemas.microsoft.com/office/drawing/2014/main" id="{E46AD3DB-E526-6DBE-534E-108FB90262E9}"/>
                </a:ext>
              </a:extLst>
            </p:cNvPr>
            <p:cNvSpPr txBox="1"/>
            <p:nvPr/>
          </p:nvSpPr>
          <p:spPr>
            <a:xfrm>
              <a:off x="971600" y="2373728"/>
              <a:ext cx="576064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667" dirty="0"/>
                <a:t>c</a:t>
              </a:r>
              <a:r>
                <a:rPr lang="en-US" altLang="zh-CN" sz="2667" baseline="-25000" dirty="0"/>
                <a:t>0</a:t>
              </a:r>
              <a:endParaRPr lang="zh-CN" altLang="en-US" sz="2667" baseline="-25000" dirty="0"/>
            </a:p>
          </p:txBody>
        </p:sp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2932A624-B18F-A666-4BD9-08BE4A3BCFF8}"/>
                </a:ext>
              </a:extLst>
            </p:cNvPr>
            <p:cNvSpPr txBox="1"/>
            <p:nvPr/>
          </p:nvSpPr>
          <p:spPr>
            <a:xfrm>
              <a:off x="4283968" y="1833668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c</a:t>
              </a:r>
              <a:r>
                <a:rPr lang="en-US" altLang="zh-CN" sz="2667" baseline="-25000" dirty="0"/>
                <a:t>1</a:t>
              </a:r>
              <a:endParaRPr lang="zh-CN" altLang="en-US" sz="2667" baseline="-25000" dirty="0"/>
            </a:p>
          </p:txBody>
        </p:sp>
        <p:sp>
          <p:nvSpPr>
            <p:cNvPr id="28" name="TextBox 16">
              <a:extLst>
                <a:ext uri="{FF2B5EF4-FFF2-40B4-BE49-F238E27FC236}">
                  <a16:creationId xmlns:a16="http://schemas.microsoft.com/office/drawing/2014/main" id="{01880520-7A71-6EC1-BFE1-98398B19171E}"/>
                </a:ext>
              </a:extLst>
            </p:cNvPr>
            <p:cNvSpPr txBox="1"/>
            <p:nvPr/>
          </p:nvSpPr>
          <p:spPr>
            <a:xfrm>
              <a:off x="4283968" y="2373728"/>
              <a:ext cx="504056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7" dirty="0"/>
                <a:t>s</a:t>
              </a:r>
              <a:endParaRPr lang="zh-CN" altLang="en-US" sz="2667" dirty="0"/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50A9F504-D388-AC82-885B-9D90CC6F7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84" y="3732273"/>
            <a:ext cx="11831041" cy="2695262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流畅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11504</TotalTime>
  <Words>242</Words>
  <Application>Microsoft Office PowerPoint</Application>
  <PresentationFormat>宽屏</PresentationFormat>
  <Paragraphs>40</Paragraphs>
  <Slides>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黑体</vt:lpstr>
      <vt:lpstr>楷体</vt:lpstr>
      <vt:lpstr>宋体</vt:lpstr>
      <vt:lpstr>微软雅黑</vt:lpstr>
      <vt:lpstr>Arial</vt:lpstr>
      <vt:lpstr>Calibri</vt:lpstr>
      <vt:lpstr>Constantia</vt:lpstr>
      <vt:lpstr>Tahoma</vt:lpstr>
      <vt:lpstr>Times New Roman</vt:lpstr>
      <vt:lpstr>Wingdings 2</vt:lpstr>
      <vt:lpstr>流畅</vt:lpstr>
      <vt:lpstr>Equation</vt:lpstr>
      <vt:lpstr>PowerPoint 演示文稿</vt:lpstr>
      <vt:lpstr>PowerPoint 演示文稿</vt:lpstr>
      <vt:lpstr>PowerPoint 演示文稿</vt:lpstr>
      <vt:lpstr>PowerPoint 演示文稿</vt:lpstr>
    </vt:vector>
  </TitlesOfParts>
  <Company>UCIrvine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keyue smedley</dc:creator>
  <cp:lastModifiedBy>Administrator</cp:lastModifiedBy>
  <cp:revision>676</cp:revision>
  <dcterms:created xsi:type="dcterms:W3CDTF">2001-11-26T03:50:59Z</dcterms:created>
  <dcterms:modified xsi:type="dcterms:W3CDTF">2024-07-25T15:23:10Z</dcterms:modified>
</cp:coreProperties>
</file>