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1"/>
  </p:notesMasterIdLst>
  <p:handoutMasterIdLst>
    <p:handoutMasterId r:id="rId12"/>
  </p:handoutMasterIdLst>
  <p:sldIdLst>
    <p:sldId id="364" r:id="rId2"/>
    <p:sldId id="317" r:id="rId3"/>
    <p:sldId id="306" r:id="rId4"/>
    <p:sldId id="358" r:id="rId5"/>
    <p:sldId id="359" r:id="rId6"/>
    <p:sldId id="365" r:id="rId7"/>
    <p:sldId id="366" r:id="rId8"/>
    <p:sldId id="367" r:id="rId9"/>
    <p:sldId id="368" r:id="rId10"/>
  </p:sldIdLst>
  <p:sldSz cx="12192000" cy="6858000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00CC"/>
    <a:srgbClr val="9933FF"/>
    <a:srgbClr val="FF0000"/>
    <a:srgbClr val="CC00FF"/>
    <a:srgbClr val="008A3E"/>
    <a:srgbClr val="000000"/>
    <a:srgbClr val="DC0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 autoAdjust="0"/>
    <p:restoredTop sz="92362" autoAdjust="0"/>
  </p:normalViewPr>
  <p:slideViewPr>
    <p:cSldViewPr>
      <p:cViewPr varScale="1">
        <p:scale>
          <a:sx n="96" d="100"/>
          <a:sy n="96" d="100"/>
        </p:scale>
        <p:origin x="108" y="43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922" y="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AFD7498-6CAE-1F64-9106-6E3D5BDC54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FD7314-2A5E-D40B-AAB0-B3AE63E381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9779CE4-74D1-4155-B695-508AD7798C68}" type="datetimeFigureOut">
              <a:rPr lang="zh-CN" altLang="en-US"/>
              <a:pPr>
                <a:defRPr/>
              </a:pPr>
              <a:t>2024/7/26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A7FDAD-A43D-D01B-4FDC-305D0AC562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548077-9B73-8DDD-F806-A864160928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8C2A8AB2-FD55-4F94-9CE5-3142116237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2A508C-307D-274E-D6C6-F142542369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BE0544D-CB6F-AC61-FABE-E4F624CFC1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F7881A40-892A-8159-26E0-C2932609FB2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DD711E0-ECE5-3CF8-B16E-CDD36F445A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0B001F6-9F88-B457-DA91-B2157CF6C9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E2C99A6-BECB-C091-C631-4CEE16EF5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E44FBEC-5C18-4382-BDFF-97185F50BE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D36A113F-5F79-E405-CAC3-26616A272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F1522D31-7ECA-A39D-2AEA-A0D5D29A3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AA9EA23F-E18F-7B4F-7907-CF2056BCC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D5F69C51-5A62-C509-1B75-0B67182BC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51375435-C073-E54F-59F7-6F3FED5523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E55A092B-F454-C3B2-05E0-74DF17BFD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3">
            <a:extLst>
              <a:ext uri="{FF2B5EF4-FFF2-40B4-BE49-F238E27FC236}">
                <a16:creationId xmlns:a16="http://schemas.microsoft.com/office/drawing/2014/main" id="{A47A606C-C90B-7306-4A9E-E19FF12A830D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" name="任意多边形 15">
            <a:extLst>
              <a:ext uri="{FF2B5EF4-FFF2-40B4-BE49-F238E27FC236}">
                <a16:creationId xmlns:a16="http://schemas.microsoft.com/office/drawing/2014/main" id="{739F5161-F47D-9993-E5E7-8635252C25C2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4" name="组合 16">
            <a:extLst>
              <a:ext uri="{FF2B5EF4-FFF2-40B4-BE49-F238E27FC236}">
                <a16:creationId xmlns:a16="http://schemas.microsoft.com/office/drawing/2014/main" id="{5B42DB18-B96D-D557-F2F4-41FF35F21795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5" name="任意多边形 18">
              <a:extLst>
                <a:ext uri="{FF2B5EF4-FFF2-40B4-BE49-F238E27FC236}">
                  <a16:creationId xmlns:a16="http://schemas.microsoft.com/office/drawing/2014/main" id="{A8689CCB-DCAA-B8AE-F106-EB16700177A5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" name="任意多边形 19">
              <a:extLst>
                <a:ext uri="{FF2B5EF4-FFF2-40B4-BE49-F238E27FC236}">
                  <a16:creationId xmlns:a16="http://schemas.microsoft.com/office/drawing/2014/main" id="{3FF10920-F167-8E15-18FB-015A84BE0047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7" name="日期占位符 29">
            <a:extLst>
              <a:ext uri="{FF2B5EF4-FFF2-40B4-BE49-F238E27FC236}">
                <a16:creationId xmlns:a16="http://schemas.microsoft.com/office/drawing/2014/main" id="{D536757E-6593-4B11-3B66-8F26034B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18">
            <a:extLst>
              <a:ext uri="{FF2B5EF4-FFF2-40B4-BE49-F238E27FC236}">
                <a16:creationId xmlns:a16="http://schemas.microsoft.com/office/drawing/2014/main" id="{D396AFD4-0D3C-32E2-6595-229F5E5D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26">
            <a:extLst>
              <a:ext uri="{FF2B5EF4-FFF2-40B4-BE49-F238E27FC236}">
                <a16:creationId xmlns:a16="http://schemas.microsoft.com/office/drawing/2014/main" id="{3581C8B4-BC57-02CB-ADC0-0D5F99A8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0AC671BB-D8A8-49AD-B633-398357452A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396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73B68CD8-C74A-7CF6-94BC-84BBE605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BE041627-84BA-3817-6CB2-AF31FE24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CAA3FF5-06E8-3AEC-CE30-F993BB56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37961-048F-4037-B697-0DBACFBD64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6978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3">
            <a:extLst>
              <a:ext uri="{FF2B5EF4-FFF2-40B4-BE49-F238E27FC236}">
                <a16:creationId xmlns:a16="http://schemas.microsoft.com/office/drawing/2014/main" id="{5D51A4EF-FB28-6D83-D01E-31310012C5B9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" name="任意多边形 15">
            <a:extLst>
              <a:ext uri="{FF2B5EF4-FFF2-40B4-BE49-F238E27FC236}">
                <a16:creationId xmlns:a16="http://schemas.microsoft.com/office/drawing/2014/main" id="{9C593F2A-6B3E-6A5A-E235-B4EC740DBCDC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6" name="组合 1">
            <a:extLst>
              <a:ext uri="{FF2B5EF4-FFF2-40B4-BE49-F238E27FC236}">
                <a16:creationId xmlns:a16="http://schemas.microsoft.com/office/drawing/2014/main" id="{5183732A-DEB9-BCB7-8253-79B7D75AB301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7" name="任意多边形 18">
              <a:extLst>
                <a:ext uri="{FF2B5EF4-FFF2-40B4-BE49-F238E27FC236}">
                  <a16:creationId xmlns:a16="http://schemas.microsoft.com/office/drawing/2014/main" id="{D23A5C17-D34D-EC3A-5BD6-486A3AA946FC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" name="任意多边形 19">
              <a:extLst>
                <a:ext uri="{FF2B5EF4-FFF2-40B4-BE49-F238E27FC236}">
                  <a16:creationId xmlns:a16="http://schemas.microsoft.com/office/drawing/2014/main" id="{CC98860C-D235-0A12-5C67-E9D168646313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9" name="Rectangle 29">
            <a:extLst>
              <a:ext uri="{FF2B5EF4-FFF2-40B4-BE49-F238E27FC236}">
                <a16:creationId xmlns:a16="http://schemas.microsoft.com/office/drawing/2014/main" id="{D25A26B8-6A65-316A-2D20-D0B58E635D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27838" y="71438"/>
            <a:ext cx="4022725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集成电子技术基础教程  第二版 下册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4E7D5224-6CF7-A5DB-A777-43BF155A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6607EC55-B768-E190-1DA6-E0188B84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74D3A172-DB45-EFCF-2D3D-E2C2E23B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11AF01F8-C2CC-475D-8334-04DEB2CD82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1359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184C27FA-66FB-CBEF-5F4C-664C9AB6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3201B647-344F-787B-6731-D50AB77E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4DF8D1CE-0843-D039-3546-6AD6A3C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B042D-3D86-4FC6-909D-251A97651D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2603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>
            <a:extLst>
              <a:ext uri="{FF2B5EF4-FFF2-40B4-BE49-F238E27FC236}">
                <a16:creationId xmlns:a16="http://schemas.microsoft.com/office/drawing/2014/main" id="{0D8BF8AD-AB86-6C15-E83E-A1B6A57C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21">
            <a:extLst>
              <a:ext uri="{FF2B5EF4-FFF2-40B4-BE49-F238E27FC236}">
                <a16:creationId xmlns:a16="http://schemas.microsoft.com/office/drawing/2014/main" id="{58057ECF-A096-F00C-B5EE-0F1F4942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17">
            <a:extLst>
              <a:ext uri="{FF2B5EF4-FFF2-40B4-BE49-F238E27FC236}">
                <a16:creationId xmlns:a16="http://schemas.microsoft.com/office/drawing/2014/main" id="{1FD30735-DD81-02DF-4AF0-6335D95C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6380A-311D-421D-AB89-43B03B9114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315433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>
            <a:extLst>
              <a:ext uri="{FF2B5EF4-FFF2-40B4-BE49-F238E27FC236}">
                <a16:creationId xmlns:a16="http://schemas.microsoft.com/office/drawing/2014/main" id="{3981A7DF-539D-6D55-E789-8880054C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21">
            <a:extLst>
              <a:ext uri="{FF2B5EF4-FFF2-40B4-BE49-F238E27FC236}">
                <a16:creationId xmlns:a16="http://schemas.microsoft.com/office/drawing/2014/main" id="{375FEEF1-1D1E-EB9A-DAD6-3B4B31EB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17">
            <a:extLst>
              <a:ext uri="{FF2B5EF4-FFF2-40B4-BE49-F238E27FC236}">
                <a16:creationId xmlns:a16="http://schemas.microsoft.com/office/drawing/2014/main" id="{44CBACF9-01A6-F457-FF10-478F7C44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608F-55FA-452E-AB15-7C2D649F5B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08269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>
            <a:extLst>
              <a:ext uri="{FF2B5EF4-FFF2-40B4-BE49-F238E27FC236}">
                <a16:creationId xmlns:a16="http://schemas.microsoft.com/office/drawing/2014/main" id="{2ED42312-FC89-A530-2AED-66C5CE1F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1">
            <a:extLst>
              <a:ext uri="{FF2B5EF4-FFF2-40B4-BE49-F238E27FC236}">
                <a16:creationId xmlns:a16="http://schemas.microsoft.com/office/drawing/2014/main" id="{143C1389-FEC0-483B-FAFA-5302DAFE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17">
            <a:extLst>
              <a:ext uri="{FF2B5EF4-FFF2-40B4-BE49-F238E27FC236}">
                <a16:creationId xmlns:a16="http://schemas.microsoft.com/office/drawing/2014/main" id="{4DDB4FCC-31D4-4154-B4D2-2119956E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48F2B-627E-4138-A193-9B1F50FF72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32490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A967518A-55D6-EB1E-E0BB-2A604741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534A4162-CDF0-D275-756D-3ED9944C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72AD71DF-905A-F06D-F217-48DE8740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A076B-4B5D-40E0-8F1C-CA3861A788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21576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>
            <a:extLst>
              <a:ext uri="{FF2B5EF4-FFF2-40B4-BE49-F238E27FC236}">
                <a16:creationId xmlns:a16="http://schemas.microsoft.com/office/drawing/2014/main" id="{0D404794-C164-659C-FA85-8FCC4F7989EA}"/>
              </a:ext>
            </a:extLst>
          </p:cNvPr>
          <p:cNvSpPr/>
          <p:nvPr/>
        </p:nvSpPr>
        <p:spPr>
          <a:xfrm rot="420000" flipV="1">
            <a:off x="422116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056019F0-2851-80A6-7176-CC68B518B671}"/>
              </a:ext>
            </a:extLst>
          </p:cNvPr>
          <p:cNvSpPr/>
          <p:nvPr/>
        </p:nvSpPr>
        <p:spPr>
          <a:xfrm rot="420000" flipV="1">
            <a:off x="10672763" y="5359400"/>
            <a:ext cx="2063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任意多边形 16">
            <a:extLst>
              <a:ext uri="{FF2B5EF4-FFF2-40B4-BE49-F238E27FC236}">
                <a16:creationId xmlns:a16="http://schemas.microsoft.com/office/drawing/2014/main" id="{E6F9371D-5BC3-2BBE-AFE5-9CA2156753C1}"/>
              </a:ext>
            </a:extLst>
          </p:cNvPr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18">
            <a:extLst>
              <a:ext uri="{FF2B5EF4-FFF2-40B4-BE49-F238E27FC236}">
                <a16:creationId xmlns:a16="http://schemas.microsoft.com/office/drawing/2014/main" id="{83D909E2-17E3-B748-E213-76E686DF049C}"/>
              </a:ext>
            </a:extLst>
          </p:cNvPr>
          <p:cNvSpPr>
            <a:spLocks/>
          </p:cNvSpPr>
          <p:nvPr/>
        </p:nvSpPr>
        <p:spPr bwMode="auto">
          <a:xfrm flipV="1">
            <a:off x="5842000" y="6219825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6A3806A5-DB72-06DB-D1AD-E5AB7813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5156912B-DD3F-3A1C-0618-91A9F3D9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6C294660-BAB7-7616-5C94-9DFABBED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356350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F32A0-2B62-4F70-81CF-1EB1CCFE3A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713807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656B3AC-96BA-67A9-351D-8263A301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02766FB1-4EF6-4A8E-60AD-B6FD71B6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B547819F-5CB6-3349-EA60-BC3816BB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C0E7-1B81-463A-999B-F8E282F271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1364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777490B-D8BF-4C3D-20BA-9CD900F1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5E10CC67-7F4C-A4F5-888A-07C571100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E0D5290-5FCE-1D93-0DA6-46DEFAC3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E7922A-5F62-4927-8C2C-FE72481074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15453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71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>
            <a:extLst>
              <a:ext uri="{FF2B5EF4-FFF2-40B4-BE49-F238E27FC236}">
                <a16:creationId xmlns:a16="http://schemas.microsoft.com/office/drawing/2014/main" id="{440EEFF4-CE7D-543B-5B07-470495456395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38AA2566-A940-A9A6-E407-13D34F6FDDC2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solidFill>
                <a:srgbClr val="FFCC00"/>
              </a:solidFill>
              <a:latin typeface="+mn-lt"/>
              <a:ea typeface="+mn-ea"/>
            </a:endParaRPr>
          </a:p>
        </p:txBody>
      </p:sp>
      <p:sp>
        <p:nvSpPr>
          <p:cNvPr id="1028" name="标题占位符 8">
            <a:extLst>
              <a:ext uri="{FF2B5EF4-FFF2-40B4-BE49-F238E27FC236}">
                <a16:creationId xmlns:a16="http://schemas.microsoft.com/office/drawing/2014/main" id="{1B32D716-E915-9C85-FD0B-7BB4E8B648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文本占位符 29">
            <a:extLst>
              <a:ext uri="{FF2B5EF4-FFF2-40B4-BE49-F238E27FC236}">
                <a16:creationId xmlns:a16="http://schemas.microsoft.com/office/drawing/2014/main" id="{8E229223-6FED-EE32-2760-854F5BB569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8A1309A6-F68C-EB34-718D-6D0EDB764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页脚占位符 21">
            <a:extLst>
              <a:ext uri="{FF2B5EF4-FFF2-40B4-BE49-F238E27FC236}">
                <a16:creationId xmlns:a16="http://schemas.microsoft.com/office/drawing/2014/main" id="{4E921148-AAD3-6666-3E36-D81CE8F91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5076B1A1-3EE0-DDCA-4C65-865C0267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fld id="{16AB5121-2F43-48F8-9658-DA6287A425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3" name="组合 1">
            <a:extLst>
              <a:ext uri="{FF2B5EF4-FFF2-40B4-BE49-F238E27FC236}">
                <a16:creationId xmlns:a16="http://schemas.microsoft.com/office/drawing/2014/main" id="{ADF704ED-272E-01D6-F46E-33D5B6B465FC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15978FF5-49FC-D8D0-0489-CF896D8CE497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B8E2104A-25F5-F641-D8D0-35F10DF27A5E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1034" name="Rectangle 29">
            <a:extLst>
              <a:ext uri="{FF2B5EF4-FFF2-40B4-BE49-F238E27FC236}">
                <a16:creationId xmlns:a16="http://schemas.microsoft.com/office/drawing/2014/main" id="{C291CF40-F3C0-31F5-2B9F-80AEC7347C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336088" y="92075"/>
            <a:ext cx="26828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r>
              <a:rPr lang="en-US" altLang="zh-CN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57" r:id="rId2"/>
    <p:sldLayoutId id="2147484466" r:id="rId3"/>
    <p:sldLayoutId id="2147484458" r:id="rId4"/>
    <p:sldLayoutId id="2147484459" r:id="rId5"/>
    <p:sldLayoutId id="2147484460" r:id="rId6"/>
    <p:sldLayoutId id="2147484461" r:id="rId7"/>
    <p:sldLayoutId id="2147484462" r:id="rId8"/>
    <p:sldLayoutId id="2147484467" r:id="rId9"/>
    <p:sldLayoutId id="2147484463" r:id="rId10"/>
    <p:sldLayoutId id="2147484464" r:id="rId11"/>
    <p:sldLayoutId id="2147484468" r:id="rId12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5">
            <a:extLst>
              <a:ext uri="{FF2B5EF4-FFF2-40B4-BE49-F238E27FC236}">
                <a16:creationId xmlns:a16="http://schemas.microsoft.com/office/drawing/2014/main" id="{4A45C8EA-3BFE-414E-A5D7-3552F222C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1844675"/>
            <a:ext cx="6985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FFC000"/>
                </a:solidFill>
                <a:latin typeface="宋体" panose="02010600030101010101" pitchFamily="2" charset="-122"/>
              </a:rPr>
              <a:t>可编程逻辑器件</a:t>
            </a:r>
          </a:p>
        </p:txBody>
      </p:sp>
      <p:sp>
        <p:nvSpPr>
          <p:cNvPr id="8195" name="矩形 1">
            <a:extLst>
              <a:ext uri="{FF2B5EF4-FFF2-40B4-BE49-F238E27FC236}">
                <a16:creationId xmlns:a16="http://schemas.microsoft.com/office/drawing/2014/main" id="{6948C733-7C27-4716-B315-A7E26DC92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4581525"/>
            <a:ext cx="46815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zh-CN" altLang="en-US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浙江大学电工电子教学中心    张德华</a:t>
            </a:r>
            <a:endParaRPr lang="en-US" altLang="zh-CN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0213B4B-837A-AC0F-BF8F-0F02E0B3BF94}"/>
              </a:ext>
            </a:extLst>
          </p:cNvPr>
          <p:cNvSpPr>
            <a:spLocks/>
          </p:cNvSpPr>
          <p:nvPr/>
        </p:nvSpPr>
        <p:spPr bwMode="auto">
          <a:xfrm>
            <a:off x="3395663" y="1943100"/>
            <a:ext cx="51943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52"/>
          <p:cNvGrpSpPr/>
          <p:nvPr/>
        </p:nvGrpSpPr>
        <p:grpSpPr>
          <a:xfrm>
            <a:off x="2255574" y="2632075"/>
            <a:ext cx="6585148" cy="2237085"/>
            <a:chOff x="1331640" y="2996952"/>
            <a:chExt cx="4938861" cy="2237085"/>
          </a:xfrm>
        </p:grpSpPr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3131840" y="3140968"/>
              <a:ext cx="1223962" cy="18722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667"/>
                <a:t>10*10</a:t>
              </a:r>
            </a:p>
            <a:p>
              <a:pPr algn="ctr"/>
              <a:r>
                <a:rPr lang="zh-CN" altLang="en-US" sz="2667"/>
                <a:t>计数器</a:t>
              </a:r>
            </a:p>
          </p:txBody>
        </p:sp>
        <p:sp>
          <p:nvSpPr>
            <p:cNvPr id="25" name="Line 7"/>
            <p:cNvSpPr>
              <a:spLocks noChangeShapeType="1"/>
            </p:cNvSpPr>
            <p:nvPr/>
          </p:nvSpPr>
          <p:spPr bwMode="auto">
            <a:xfrm>
              <a:off x="2123728" y="4077072"/>
              <a:ext cx="10080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stealth" w="lg" len="lg"/>
            </a:ln>
          </p:spPr>
          <p:txBody>
            <a:bodyPr wrap="none"/>
            <a:lstStyle/>
            <a:p>
              <a:endParaRPr lang="zh-CN" altLang="en-US" sz="2667"/>
            </a:p>
          </p:txBody>
        </p:sp>
        <p:sp>
          <p:nvSpPr>
            <p:cNvPr id="26" name="Text Box 19"/>
            <p:cNvSpPr txBox="1">
              <a:spLocks noChangeArrowheads="1"/>
            </p:cNvSpPr>
            <p:nvPr/>
          </p:nvSpPr>
          <p:spPr bwMode="auto">
            <a:xfrm>
              <a:off x="1331640" y="3861048"/>
              <a:ext cx="792162" cy="5027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zh-CN" sz="2667" dirty="0" err="1"/>
                <a:t>clk</a:t>
              </a:r>
              <a:endParaRPr lang="en-US" altLang="zh-CN" sz="2667" dirty="0"/>
            </a:p>
          </p:txBody>
        </p:sp>
        <p:pic>
          <p:nvPicPr>
            <p:cNvPr id="27" name="Picture 2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64088" y="2996952"/>
              <a:ext cx="904875" cy="1228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" name="Picture 2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65626" y="4005312"/>
              <a:ext cx="904875" cy="1228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" name="AutoShape 22"/>
            <p:cNvSpPr>
              <a:spLocks noChangeArrowheads="1"/>
            </p:cNvSpPr>
            <p:nvPr/>
          </p:nvSpPr>
          <p:spPr bwMode="auto">
            <a:xfrm>
              <a:off x="4355802" y="3501330"/>
              <a:ext cx="1152525" cy="358775"/>
            </a:xfrm>
            <a:prstGeom prst="rightArrow">
              <a:avLst>
                <a:gd name="adj1" fmla="val 50000"/>
                <a:gd name="adj2" fmla="val 8031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667"/>
            </a:p>
          </p:txBody>
        </p:sp>
        <p:sp>
          <p:nvSpPr>
            <p:cNvPr id="30" name="AutoShape 23"/>
            <p:cNvSpPr>
              <a:spLocks noChangeArrowheads="1"/>
            </p:cNvSpPr>
            <p:nvPr/>
          </p:nvSpPr>
          <p:spPr bwMode="auto">
            <a:xfrm>
              <a:off x="4355976" y="4437112"/>
              <a:ext cx="1152525" cy="358775"/>
            </a:xfrm>
            <a:prstGeom prst="rightArrow">
              <a:avLst>
                <a:gd name="adj1" fmla="val 50000"/>
                <a:gd name="adj2" fmla="val 8031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667"/>
            </a:p>
          </p:txBody>
        </p:sp>
        <p:sp>
          <p:nvSpPr>
            <p:cNvPr id="31" name="TextBox 12"/>
            <p:cNvSpPr txBox="1"/>
            <p:nvPr/>
          </p:nvSpPr>
          <p:spPr>
            <a:xfrm>
              <a:off x="4499992" y="3068960"/>
              <a:ext cx="792088" cy="502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a..g</a:t>
              </a:r>
              <a:endParaRPr lang="zh-CN" altLang="en-US" sz="2667" dirty="0"/>
            </a:p>
          </p:txBody>
        </p:sp>
        <p:sp>
          <p:nvSpPr>
            <p:cNvPr id="32" name="TextBox 13"/>
            <p:cNvSpPr txBox="1"/>
            <p:nvPr/>
          </p:nvSpPr>
          <p:spPr>
            <a:xfrm>
              <a:off x="4427984" y="4005064"/>
              <a:ext cx="792088" cy="502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a..g</a:t>
              </a:r>
              <a:endParaRPr lang="zh-CN" altLang="en-US" sz="2667" dirty="0"/>
            </a:p>
          </p:txBody>
        </p:sp>
      </p:grpSp>
      <p:sp>
        <p:nvSpPr>
          <p:cNvPr id="33" name="TextBox 50"/>
          <p:cNvSpPr txBox="1"/>
          <p:nvPr/>
        </p:nvSpPr>
        <p:spPr>
          <a:xfrm>
            <a:off x="1007435" y="1119908"/>
            <a:ext cx="10273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： 设计一个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100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进制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BCD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编码的计数器，并用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个七段显示数码管显示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911424" y="1358758"/>
            <a:ext cx="432048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667" dirty="0"/>
              <a:t>模块分割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6678" y="1148349"/>
            <a:ext cx="4631137" cy="2111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TextBox 44"/>
          <p:cNvSpPr txBox="1"/>
          <p:nvPr/>
        </p:nvSpPr>
        <p:spPr>
          <a:xfrm>
            <a:off x="623392" y="590673"/>
            <a:ext cx="10273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： 设计一个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100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进制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BCD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编码的计数器，并用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个七段显示数码管显示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1372" y="2990940"/>
            <a:ext cx="6620577" cy="3534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TextBox 49"/>
          <p:cNvSpPr txBox="1"/>
          <p:nvPr/>
        </p:nvSpPr>
        <p:spPr>
          <a:xfrm>
            <a:off x="7032104" y="3975447"/>
            <a:ext cx="4128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(1)</a:t>
            </a:r>
            <a:r>
              <a:rPr lang="zh-CN" altLang="en-US" sz="2400" dirty="0"/>
              <a:t> </a:t>
            </a:r>
            <a:r>
              <a:rPr lang="en-US" altLang="zh-CN" sz="2400" dirty="0"/>
              <a:t>BCD</a:t>
            </a:r>
            <a:r>
              <a:rPr lang="zh-CN" altLang="en-US" sz="2400" dirty="0"/>
              <a:t>译码</a:t>
            </a:r>
            <a:r>
              <a:rPr lang="en-US" altLang="zh-CN" sz="2400" dirty="0"/>
              <a:t>bcd_code.vhd</a:t>
            </a:r>
            <a:endParaRPr lang="zh-CN" altLang="en-US"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7032104" y="4583911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(2)</a:t>
            </a:r>
            <a:r>
              <a:rPr lang="zh-CN" altLang="en-US" sz="2400" dirty="0"/>
              <a:t> </a:t>
            </a:r>
            <a:r>
              <a:rPr lang="en-US" altLang="zh-CN" sz="2400" dirty="0"/>
              <a:t>10</a:t>
            </a:r>
            <a:r>
              <a:rPr lang="zh-CN" altLang="en-US" sz="2400" dirty="0"/>
              <a:t>进制计数器</a:t>
            </a:r>
            <a:r>
              <a:rPr lang="en-US" altLang="zh-CN" sz="2400" dirty="0"/>
              <a:t>cnt10.vhd</a:t>
            </a:r>
            <a:endParaRPr lang="zh-CN" altLang="en-US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7032104" y="5198787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(3) </a:t>
            </a:r>
            <a:r>
              <a:rPr lang="zh-CN" altLang="en-US" sz="2400" dirty="0"/>
              <a:t>顶层文件</a:t>
            </a:r>
            <a:r>
              <a:rPr lang="en-US" altLang="zh-CN" sz="2400" dirty="0"/>
              <a:t>cnt100.vhd</a:t>
            </a:r>
            <a:endParaRPr lang="zh-CN" altLang="en-US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6840083" y="3327375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dirty="0"/>
              <a:t>需编写的</a:t>
            </a:r>
            <a:r>
              <a:rPr lang="en-US" altLang="zh-CN" sz="2400" dirty="0"/>
              <a:t>VHDL</a:t>
            </a:r>
            <a:r>
              <a:rPr lang="zh-CN" altLang="en-US" sz="2400" dirty="0"/>
              <a:t>源码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51" grpId="0"/>
      <p:bldP spid="52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5"/>
          <p:cNvSpPr txBox="1"/>
          <p:nvPr/>
        </p:nvSpPr>
        <p:spPr>
          <a:xfrm>
            <a:off x="1027042" y="472077"/>
            <a:ext cx="4128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(1)</a:t>
            </a:r>
            <a:r>
              <a:rPr lang="zh-CN" altLang="en-US" sz="2400" dirty="0"/>
              <a:t> </a:t>
            </a:r>
            <a:r>
              <a:rPr lang="en-US" altLang="zh-CN" sz="2400" dirty="0"/>
              <a:t>BCD</a:t>
            </a:r>
            <a:r>
              <a:rPr lang="zh-CN" altLang="en-US" sz="2400" dirty="0"/>
              <a:t>译码</a:t>
            </a:r>
            <a:r>
              <a:rPr lang="en-US" altLang="zh-CN" sz="2400" dirty="0"/>
              <a:t>bcd_code.vhd</a:t>
            </a:r>
            <a:endParaRPr lang="zh-CN" altLang="en-US" sz="2400" dirty="0"/>
          </a:p>
        </p:txBody>
      </p:sp>
      <p:sp>
        <p:nvSpPr>
          <p:cNvPr id="26" name="矩形 25"/>
          <p:cNvSpPr/>
          <p:nvPr/>
        </p:nvSpPr>
        <p:spPr>
          <a:xfrm>
            <a:off x="1823525" y="2853511"/>
            <a:ext cx="7488832" cy="40318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PROCESS(d)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BEGIN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CASE d IS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WHEN "0000"=&gt;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&lt;="0000001";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"0001"=&gt;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&lt;="1001111";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"0010"=&gt;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&lt;="0010010";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"0011"=&gt;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&lt;="0000110";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"0100"=&gt;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&lt;="1001100";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"0101"=&gt;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&lt;="0100100";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"0110"=&gt;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&lt;="0100000";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"0111"=&gt;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&lt;="0001111";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"1000"=&gt;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&lt;="0000000";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"1001"=&gt;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&lt;="0000100";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WHEN OTHERS=&gt;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&lt;="1111111";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END CASE;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END PROCESS;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807568" y="879228"/>
            <a:ext cx="5952661" cy="542866"/>
            <a:chOff x="1475656" y="771550"/>
            <a:chExt cx="4464496" cy="407149"/>
          </a:xfrm>
        </p:grpSpPr>
        <p:sp>
          <p:nvSpPr>
            <p:cNvPr id="28" name="矩形 27"/>
            <p:cNvSpPr/>
            <p:nvPr/>
          </p:nvSpPr>
          <p:spPr bwMode="auto">
            <a:xfrm>
              <a:off x="2771800" y="832450"/>
              <a:ext cx="1296144" cy="346249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eaLnBrk="1" hangingPunct="1"/>
              <a:r>
                <a:rPr lang="en-US" altLang="zh-CN" sz="2400" dirty="0" err="1"/>
                <a:t>b</a:t>
              </a:r>
              <a:r>
                <a:rPr kumimoji="1" lang="en-US" altLang="zh-CN" sz="2400" dirty="0" err="1">
                  <a:latin typeface="Tahoma" pitchFamily="34" charset="0"/>
                </a:rPr>
                <a:t>cd_code</a:t>
              </a:r>
              <a:endParaRPr kumimoji="1" lang="zh-CN" altLang="en-US" sz="2400" dirty="0">
                <a:latin typeface="Tahoma" pitchFamily="34" charset="0"/>
              </a:endParaRPr>
            </a:p>
          </p:txBody>
        </p:sp>
        <p:cxnSp>
          <p:nvCxnSpPr>
            <p:cNvPr id="29" name="直接箭头连接符 28"/>
            <p:cNvCxnSpPr/>
            <p:nvPr/>
          </p:nvCxnSpPr>
          <p:spPr bwMode="auto">
            <a:xfrm>
              <a:off x="2483768" y="98757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箭头连接符 29"/>
            <p:cNvCxnSpPr/>
            <p:nvPr/>
          </p:nvCxnSpPr>
          <p:spPr bwMode="auto">
            <a:xfrm>
              <a:off x="4067944" y="98757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" name="TextBox 21"/>
            <p:cNvSpPr txBox="1"/>
            <p:nvPr/>
          </p:nvSpPr>
          <p:spPr>
            <a:xfrm>
              <a:off x="1475656" y="771550"/>
              <a:ext cx="936104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/>
                <a:t>d[3..0]</a:t>
              </a:r>
              <a:endParaRPr lang="zh-CN" altLang="en-US" sz="2400" dirty="0"/>
            </a:p>
          </p:txBody>
        </p:sp>
        <p:sp>
          <p:nvSpPr>
            <p:cNvPr id="32" name="TextBox 22"/>
            <p:cNvSpPr txBox="1"/>
            <p:nvPr/>
          </p:nvSpPr>
          <p:spPr>
            <a:xfrm>
              <a:off x="4355976" y="771550"/>
              <a:ext cx="1584176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 err="1"/>
                <a:t>bcdcode</a:t>
              </a:r>
              <a:r>
                <a:rPr lang="en-US" altLang="zh-CN" sz="2400" dirty="0"/>
                <a:t>[6..0]</a:t>
              </a:r>
              <a:endParaRPr lang="zh-CN" altLang="en-US" sz="2400" dirty="0"/>
            </a:p>
          </p:txBody>
        </p:sp>
      </p:grpSp>
      <p:sp>
        <p:nvSpPr>
          <p:cNvPr id="33" name="矩形 32"/>
          <p:cNvSpPr/>
          <p:nvPr/>
        </p:nvSpPr>
        <p:spPr>
          <a:xfrm>
            <a:off x="1823525" y="1482265"/>
            <a:ext cx="7488832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ENTITY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bcd_code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IS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PORT	(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d: IN  STD_LOGIC_VECTOR(3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downto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0);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OUT 	STD_LOGIC_VECTOR(0 to 6));	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bcd_code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5"/>
          <p:cNvSpPr txBox="1"/>
          <p:nvPr/>
        </p:nvSpPr>
        <p:spPr>
          <a:xfrm>
            <a:off x="1127448" y="467446"/>
            <a:ext cx="4128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(1)</a:t>
            </a:r>
            <a:r>
              <a:rPr lang="zh-CN" altLang="en-US" sz="2400" dirty="0"/>
              <a:t> </a:t>
            </a:r>
            <a:r>
              <a:rPr lang="en-US" altLang="zh-CN" sz="2400" dirty="0"/>
              <a:t>BCD</a:t>
            </a:r>
            <a:r>
              <a:rPr lang="zh-CN" altLang="en-US" sz="2400" dirty="0"/>
              <a:t>译码仿真测试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2B8370F-21E8-0752-9307-D7C02521515E}"/>
              </a:ext>
            </a:extLst>
          </p:cNvPr>
          <p:cNvGrpSpPr/>
          <p:nvPr/>
        </p:nvGrpSpPr>
        <p:grpSpPr>
          <a:xfrm>
            <a:off x="1991544" y="961931"/>
            <a:ext cx="5952661" cy="542866"/>
            <a:chOff x="1475656" y="771550"/>
            <a:chExt cx="4464496" cy="40714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112A885-D076-C803-7F42-B89AA7948DE7}"/>
                </a:ext>
              </a:extLst>
            </p:cNvPr>
            <p:cNvSpPr/>
            <p:nvPr/>
          </p:nvSpPr>
          <p:spPr bwMode="auto">
            <a:xfrm>
              <a:off x="2771800" y="832450"/>
              <a:ext cx="1296144" cy="346249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eaLnBrk="1" hangingPunct="1"/>
              <a:r>
                <a:rPr lang="en-US" altLang="zh-CN" sz="2400" dirty="0" err="1"/>
                <a:t>b</a:t>
              </a:r>
              <a:r>
                <a:rPr kumimoji="1" lang="en-US" altLang="zh-CN" sz="2400" dirty="0" err="1">
                  <a:latin typeface="Tahoma" pitchFamily="34" charset="0"/>
                </a:rPr>
                <a:t>cd_code</a:t>
              </a:r>
              <a:endParaRPr kumimoji="1" lang="zh-CN" altLang="en-US" sz="2400" dirty="0">
                <a:latin typeface="Tahoma" pitchFamily="34" charset="0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C6445392-F0FE-C273-E3B0-80EE6ABA7DCD}"/>
                </a:ext>
              </a:extLst>
            </p:cNvPr>
            <p:cNvCxnSpPr/>
            <p:nvPr/>
          </p:nvCxnSpPr>
          <p:spPr bwMode="auto">
            <a:xfrm>
              <a:off x="2483768" y="98757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C2680899-FFB9-E938-E830-694604CCC1CF}"/>
                </a:ext>
              </a:extLst>
            </p:cNvPr>
            <p:cNvCxnSpPr/>
            <p:nvPr/>
          </p:nvCxnSpPr>
          <p:spPr bwMode="auto">
            <a:xfrm>
              <a:off x="4067944" y="98757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TextBox 21">
              <a:extLst>
                <a:ext uri="{FF2B5EF4-FFF2-40B4-BE49-F238E27FC236}">
                  <a16:creationId xmlns:a16="http://schemas.microsoft.com/office/drawing/2014/main" id="{24A5450A-2673-29EB-8D06-2BAA8871FB50}"/>
                </a:ext>
              </a:extLst>
            </p:cNvPr>
            <p:cNvSpPr txBox="1"/>
            <p:nvPr/>
          </p:nvSpPr>
          <p:spPr>
            <a:xfrm>
              <a:off x="1475656" y="771550"/>
              <a:ext cx="936104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/>
                <a:t>d[3..0]</a:t>
              </a:r>
              <a:endParaRPr lang="zh-CN" altLang="en-US" sz="2400" dirty="0"/>
            </a:p>
          </p:txBody>
        </p:sp>
        <p:sp>
          <p:nvSpPr>
            <p:cNvPr id="7" name="TextBox 22">
              <a:extLst>
                <a:ext uri="{FF2B5EF4-FFF2-40B4-BE49-F238E27FC236}">
                  <a16:creationId xmlns:a16="http://schemas.microsoft.com/office/drawing/2014/main" id="{AA832414-6F8F-2AA6-99B0-1E912DFB95BF}"/>
                </a:ext>
              </a:extLst>
            </p:cNvPr>
            <p:cNvSpPr txBox="1"/>
            <p:nvPr/>
          </p:nvSpPr>
          <p:spPr>
            <a:xfrm>
              <a:off x="4355976" y="771550"/>
              <a:ext cx="1584176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 err="1"/>
                <a:t>bcdcode</a:t>
              </a:r>
              <a:r>
                <a:rPr lang="en-US" altLang="zh-CN" sz="2400" dirty="0"/>
                <a:t>[6..0]</a:t>
              </a:r>
              <a:endParaRPr lang="zh-CN" altLang="en-US" sz="2400" dirty="0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10848FC8-BBDD-B5FF-99E7-31F7B337A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2564904"/>
            <a:ext cx="11208568" cy="274852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A2CD20A-524F-B659-F803-483ED7321AEC}"/>
              </a:ext>
            </a:extLst>
          </p:cNvPr>
          <p:cNvSpPr txBox="1"/>
          <p:nvPr/>
        </p:nvSpPr>
        <p:spPr>
          <a:xfrm>
            <a:off x="1005288" y="1777270"/>
            <a:ext cx="3581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 eaLnBrk="1" hangingPunct="1"/>
            <a:r>
              <a:rPr lang="en-US" altLang="zh-CN" dirty="0" err="1"/>
              <a:t>b</a:t>
            </a:r>
            <a:r>
              <a:rPr kumimoji="1" lang="en-US" altLang="zh-CN" dirty="0" err="1">
                <a:latin typeface="Tahoma" pitchFamily="34" charset="0"/>
              </a:rPr>
              <a:t>cd_code.vwf</a:t>
            </a:r>
            <a:r>
              <a:rPr kumimoji="1" lang="en-US" altLang="zh-CN" dirty="0">
                <a:latin typeface="Tahoma" pitchFamily="34" charset="0"/>
              </a:rPr>
              <a:t>  </a:t>
            </a:r>
            <a:r>
              <a:rPr kumimoji="1" lang="zh-CN" altLang="en-US" dirty="0">
                <a:latin typeface="Tahoma" pitchFamily="34" charset="0"/>
              </a:rPr>
              <a:t>波形仿真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151450" y="476672"/>
            <a:ext cx="4128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(2)</a:t>
            </a:r>
            <a:r>
              <a:rPr lang="zh-CN" altLang="en-US" sz="2400" dirty="0"/>
              <a:t> </a:t>
            </a:r>
            <a:r>
              <a:rPr lang="en-US" altLang="zh-CN" sz="2400" dirty="0"/>
              <a:t>10</a:t>
            </a:r>
            <a:r>
              <a:rPr lang="zh-CN" altLang="en-US" sz="2400" dirty="0"/>
              <a:t>进制计数器</a:t>
            </a:r>
            <a:r>
              <a:rPr lang="en-US" altLang="zh-CN" sz="2400" dirty="0"/>
              <a:t>cnt10.vhd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1919536" y="2564904"/>
            <a:ext cx="6720747" cy="39703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067" dirty="0">
                <a:latin typeface="+mn-lt"/>
                <a:ea typeface="+mj-ea"/>
              </a:rPr>
              <a:t>	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PROCESS 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clr,ena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variable  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natural range 0 to 9 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BEGIN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IF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'1' THEN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:= 0;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ELSIF 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clk'EVENT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AND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'1') THEN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IF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ena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'1' THEN		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           IF 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=9) THEN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:=0;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           ELSE 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:=tmp+1;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           END IF;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END IF;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END IF;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q&lt;=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conv_std_logic_vector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(tmp,4);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END PROCESS;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07568" y="1124744"/>
            <a:ext cx="5184576" cy="1248139"/>
            <a:chOff x="4427984" y="267494"/>
            <a:chExt cx="3888432" cy="936104"/>
          </a:xfrm>
        </p:grpSpPr>
        <p:sp>
          <p:nvSpPr>
            <p:cNvPr id="18" name="矩形 17"/>
            <p:cNvSpPr/>
            <p:nvPr/>
          </p:nvSpPr>
          <p:spPr bwMode="auto">
            <a:xfrm>
              <a:off x="5724128" y="411510"/>
              <a:ext cx="1296144" cy="7920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eaLnBrk="1" hangingPunct="1"/>
              <a:endParaRPr kumimoji="1" lang="en-US" altLang="zh-CN" sz="2400" dirty="0">
                <a:latin typeface="Tahoma" pitchFamily="34" charset="0"/>
              </a:endParaRPr>
            </a:p>
            <a:p>
              <a:pPr algn="ctr" defTabSz="1219170" eaLnBrk="1" hangingPunct="1"/>
              <a:r>
                <a:rPr kumimoji="1" lang="en-US" altLang="zh-CN" sz="2400" dirty="0">
                  <a:latin typeface="Tahoma" pitchFamily="34" charset="0"/>
                </a:rPr>
                <a:t>cnt10</a:t>
              </a:r>
              <a:endParaRPr kumimoji="1" lang="zh-CN" altLang="en-US" sz="2400" dirty="0">
                <a:latin typeface="Tahoma" pitchFamily="34" charset="0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 bwMode="auto">
            <a:xfrm>
              <a:off x="5436096" y="483518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箭头连接符 20"/>
            <p:cNvCxnSpPr/>
            <p:nvPr/>
          </p:nvCxnSpPr>
          <p:spPr bwMode="auto">
            <a:xfrm>
              <a:off x="7020272" y="77155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TextBox 21"/>
            <p:cNvSpPr txBox="1"/>
            <p:nvPr/>
          </p:nvSpPr>
          <p:spPr>
            <a:xfrm>
              <a:off x="4427984" y="267494"/>
              <a:ext cx="936104" cy="900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 err="1"/>
                <a:t>clk</a:t>
              </a:r>
              <a:endParaRPr lang="en-US" altLang="zh-CN" sz="2400" dirty="0"/>
            </a:p>
            <a:p>
              <a:pPr algn="r"/>
              <a:r>
                <a:rPr lang="en-US" altLang="zh-CN" sz="2400" dirty="0" err="1"/>
                <a:t>ena</a:t>
              </a:r>
              <a:endParaRPr lang="en-US" altLang="zh-CN" sz="2400" dirty="0"/>
            </a:p>
            <a:p>
              <a:pPr algn="r"/>
              <a:r>
                <a:rPr lang="en-US" altLang="zh-CN" sz="2400" dirty="0" err="1"/>
                <a:t>clr</a:t>
              </a:r>
              <a:endParaRPr lang="zh-CN" altLang="en-US" sz="24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36296" y="555526"/>
              <a:ext cx="108012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q[3..0]</a:t>
              </a:r>
              <a:endParaRPr lang="zh-CN" altLang="en-US" sz="2400" dirty="0"/>
            </a:p>
          </p:txBody>
        </p:sp>
        <p:cxnSp>
          <p:nvCxnSpPr>
            <p:cNvPr id="10" name="直接箭头连接符 9"/>
            <p:cNvCxnSpPr/>
            <p:nvPr/>
          </p:nvCxnSpPr>
          <p:spPr bwMode="auto">
            <a:xfrm>
              <a:off x="5436096" y="77155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箭头连接符 10"/>
            <p:cNvCxnSpPr/>
            <p:nvPr/>
          </p:nvCxnSpPr>
          <p:spPr bwMode="auto">
            <a:xfrm>
              <a:off x="5436096" y="98757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99806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7435" y="677107"/>
            <a:ext cx="5376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(2)</a:t>
            </a:r>
            <a:r>
              <a:rPr lang="zh-CN" altLang="en-US" sz="2400" dirty="0"/>
              <a:t> </a:t>
            </a:r>
            <a:r>
              <a:rPr lang="en-US" altLang="zh-CN" sz="2400" dirty="0"/>
              <a:t>10</a:t>
            </a:r>
            <a:r>
              <a:rPr lang="zh-CN" altLang="en-US" sz="2400" dirty="0"/>
              <a:t>进制计数器</a:t>
            </a:r>
            <a:r>
              <a:rPr lang="en-US" altLang="zh-CN" sz="2400" dirty="0"/>
              <a:t>cnt10</a:t>
            </a:r>
            <a:r>
              <a:rPr lang="zh-CN" altLang="en-US" sz="2400" dirty="0"/>
              <a:t>仿真测试</a:t>
            </a:r>
          </a:p>
        </p:txBody>
      </p:sp>
      <p:grpSp>
        <p:nvGrpSpPr>
          <p:cNvPr id="2" name="组合 11"/>
          <p:cNvGrpSpPr/>
          <p:nvPr/>
        </p:nvGrpSpPr>
        <p:grpSpPr>
          <a:xfrm>
            <a:off x="1199456" y="1700808"/>
            <a:ext cx="5184576" cy="1248139"/>
            <a:chOff x="4427984" y="267494"/>
            <a:chExt cx="3888432" cy="936104"/>
          </a:xfrm>
        </p:grpSpPr>
        <p:sp>
          <p:nvSpPr>
            <p:cNvPr id="18" name="矩形 17"/>
            <p:cNvSpPr/>
            <p:nvPr/>
          </p:nvSpPr>
          <p:spPr bwMode="auto">
            <a:xfrm>
              <a:off x="5724128" y="411510"/>
              <a:ext cx="1296144" cy="7920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eaLnBrk="1" hangingPunct="1"/>
              <a:endParaRPr kumimoji="1" lang="en-US" altLang="zh-CN" sz="2400" dirty="0">
                <a:latin typeface="Tahoma" pitchFamily="34" charset="0"/>
              </a:endParaRPr>
            </a:p>
            <a:p>
              <a:pPr algn="ctr" defTabSz="1219170" eaLnBrk="1" hangingPunct="1"/>
              <a:r>
                <a:rPr kumimoji="1" lang="en-US" altLang="zh-CN" sz="2400" dirty="0">
                  <a:latin typeface="Tahoma" pitchFamily="34" charset="0"/>
                </a:rPr>
                <a:t>cnt10</a:t>
              </a:r>
              <a:endParaRPr kumimoji="1" lang="zh-CN" altLang="en-US" sz="2400" dirty="0">
                <a:latin typeface="Tahoma" pitchFamily="34" charset="0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 bwMode="auto">
            <a:xfrm>
              <a:off x="5436096" y="483518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箭头连接符 20"/>
            <p:cNvCxnSpPr/>
            <p:nvPr/>
          </p:nvCxnSpPr>
          <p:spPr bwMode="auto">
            <a:xfrm>
              <a:off x="7020272" y="77155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TextBox 21"/>
            <p:cNvSpPr txBox="1"/>
            <p:nvPr/>
          </p:nvSpPr>
          <p:spPr>
            <a:xfrm>
              <a:off x="4427984" y="267494"/>
              <a:ext cx="936104" cy="900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 err="1"/>
                <a:t>clk</a:t>
              </a:r>
              <a:endParaRPr lang="en-US" altLang="zh-CN" sz="2400" dirty="0"/>
            </a:p>
            <a:p>
              <a:pPr algn="r"/>
              <a:r>
                <a:rPr lang="en-US" altLang="zh-CN" sz="2400" dirty="0" err="1"/>
                <a:t>ena</a:t>
              </a:r>
              <a:endParaRPr lang="en-US" altLang="zh-CN" sz="2400" dirty="0"/>
            </a:p>
            <a:p>
              <a:pPr algn="r"/>
              <a:r>
                <a:rPr lang="en-US" altLang="zh-CN" sz="2400" dirty="0" err="1"/>
                <a:t>clr</a:t>
              </a:r>
              <a:endParaRPr lang="zh-CN" altLang="en-US" sz="24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36296" y="555526"/>
              <a:ext cx="108012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q[3..0]</a:t>
              </a:r>
              <a:endParaRPr lang="zh-CN" altLang="en-US" sz="2400" dirty="0"/>
            </a:p>
          </p:txBody>
        </p:sp>
        <p:cxnSp>
          <p:nvCxnSpPr>
            <p:cNvPr id="10" name="直接箭头连接符 9"/>
            <p:cNvCxnSpPr/>
            <p:nvPr/>
          </p:nvCxnSpPr>
          <p:spPr bwMode="auto">
            <a:xfrm>
              <a:off x="5436096" y="77155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箭头连接符 10"/>
            <p:cNvCxnSpPr/>
            <p:nvPr/>
          </p:nvCxnSpPr>
          <p:spPr bwMode="auto">
            <a:xfrm>
              <a:off x="5436096" y="98757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EF3BD6B-CBC1-BEE8-F38E-AF3D91F3F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4409252"/>
            <a:ext cx="11424592" cy="14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6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07435" y="260649"/>
            <a:ext cx="5376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(3)</a:t>
            </a:r>
            <a:r>
              <a:rPr lang="zh-CN" altLang="en-US" sz="2400" dirty="0"/>
              <a:t> 顶层源文件</a:t>
            </a:r>
            <a:r>
              <a:rPr lang="en-US" altLang="zh-CN" sz="2400" dirty="0"/>
              <a:t>cnt100.VHD</a:t>
            </a:r>
            <a:endParaRPr lang="zh-CN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6384031" y="626695"/>
            <a:ext cx="5568619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LIBRARY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ieee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 ieee.std_logic_1164.all;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ieee.std_logic_unsigned.all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entity cnt100 is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PORT (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in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std_logic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bcdcode0: out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std_logic_vector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 to 6);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bcdcode1: out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std_logic_vector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 to 6)	);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cnt100;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84030" y="4031298"/>
            <a:ext cx="5568619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ena1&lt;=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and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(0);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u1: CNT10 port map(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clk,clr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clr,ena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=&gt;'1',q=&gt;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u2: CNT10 port map(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clk,clr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clr,ena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=&gt;ena1,q=&gt;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u3: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bcd_code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port map(d=&gt;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ql,bcdcode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=&gt;bcdcode0);</a:t>
            </a: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u4: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bcd_code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port map(d=&gt;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qh,bcdcode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=&gt;bcdcode1);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23392" y="1316766"/>
            <a:ext cx="5184576" cy="2767793"/>
            <a:chOff x="467544" y="987574"/>
            <a:chExt cx="3888432" cy="2075845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7544" y="987574"/>
              <a:ext cx="3888432" cy="2075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31746" name="Object 2"/>
            <p:cNvGraphicFramePr>
              <a:graphicFrameLocks noChangeAspect="1"/>
            </p:cNvGraphicFramePr>
            <p:nvPr/>
          </p:nvGraphicFramePr>
          <p:xfrm>
            <a:off x="2555776" y="1563638"/>
            <a:ext cx="379118" cy="167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31640" imgH="190440" progId="Equation.DSMT4">
                    <p:embed/>
                  </p:oleObj>
                </mc:Choice>
                <mc:Fallback>
                  <p:oleObj name="Equation" r:id="rId3" imgW="431640" imgH="190440" progId="Equation.DSMT4">
                    <p:embed/>
                    <p:pic>
                      <p:nvPicPr>
                        <p:cNvPr id="3174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1563638"/>
                          <a:ext cx="379118" cy="167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9965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3CF7FC7-6222-6D5E-94DA-4C96D1E37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7776"/>
            <a:ext cx="12163536" cy="2040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7435" y="260649"/>
            <a:ext cx="5376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(3)</a:t>
            </a:r>
            <a:r>
              <a:rPr lang="zh-CN" altLang="en-US" sz="2400" dirty="0"/>
              <a:t> 顶层测试源文件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1744" y="289452"/>
            <a:ext cx="5184576" cy="2767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B1CC694-7208-F548-90F2-51776924D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4" y="3064228"/>
            <a:ext cx="12163536" cy="198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6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11542</TotalTime>
  <Words>705</Words>
  <Application>Microsoft Office PowerPoint</Application>
  <PresentationFormat>宽屏</PresentationFormat>
  <Paragraphs>92</Paragraphs>
  <Slides>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黑体</vt:lpstr>
      <vt:lpstr>楷体</vt:lpstr>
      <vt:lpstr>宋体</vt:lpstr>
      <vt:lpstr>微软雅黑</vt:lpstr>
      <vt:lpstr>Arial</vt:lpstr>
      <vt:lpstr>Calibri</vt:lpstr>
      <vt:lpstr>Constantia</vt:lpstr>
      <vt:lpstr>Tahoma</vt:lpstr>
      <vt:lpstr>Times New Roman</vt:lpstr>
      <vt:lpstr>Wingdings</vt:lpstr>
      <vt:lpstr>Wingdings 2</vt:lpstr>
      <vt:lpstr>流畅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UCIrvine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keyue smedley</dc:creator>
  <cp:lastModifiedBy>Administrator</cp:lastModifiedBy>
  <cp:revision>683</cp:revision>
  <dcterms:created xsi:type="dcterms:W3CDTF">2001-11-26T03:50:59Z</dcterms:created>
  <dcterms:modified xsi:type="dcterms:W3CDTF">2024-07-26T06:05:19Z</dcterms:modified>
</cp:coreProperties>
</file>