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12"/>
  </p:notesMasterIdLst>
  <p:handoutMasterIdLst>
    <p:handoutMasterId r:id="rId13"/>
  </p:handoutMasterIdLst>
  <p:sldIdLst>
    <p:sldId id="364" r:id="rId2"/>
    <p:sldId id="319" r:id="rId3"/>
    <p:sldId id="321" r:id="rId4"/>
    <p:sldId id="322" r:id="rId5"/>
    <p:sldId id="336" r:id="rId6"/>
    <p:sldId id="369" r:id="rId7"/>
    <p:sldId id="365" r:id="rId8"/>
    <p:sldId id="366" r:id="rId9"/>
    <p:sldId id="370" r:id="rId10"/>
    <p:sldId id="368" r:id="rId11"/>
  </p:sldIdLst>
  <p:sldSz cx="12192000" cy="6858000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0000CC"/>
    <a:srgbClr val="9933FF"/>
    <a:srgbClr val="FF0000"/>
    <a:srgbClr val="CC00FF"/>
    <a:srgbClr val="008A3E"/>
    <a:srgbClr val="000000"/>
    <a:srgbClr val="DC06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9" autoAdjust="0"/>
    <p:restoredTop sz="92362" autoAdjust="0"/>
  </p:normalViewPr>
  <p:slideViewPr>
    <p:cSldViewPr>
      <p:cViewPr varScale="1">
        <p:scale>
          <a:sx n="96" d="100"/>
          <a:sy n="96" d="100"/>
        </p:scale>
        <p:origin x="108" y="439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2922" y="9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AFD7498-6CAE-1F64-9106-6E3D5BDC54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FFD7314-2A5E-D40B-AAB0-B3AE63E381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9779CE4-74D1-4155-B695-508AD7798C68}" type="datetimeFigureOut">
              <a:rPr lang="zh-CN" altLang="en-US"/>
              <a:pPr>
                <a:defRPr/>
              </a:pPr>
              <a:t>2024/7/26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A7FDAD-A43D-D01B-4FDC-305D0AC562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548077-9B73-8DDD-F806-A864160928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8C2A8AB2-FD55-4F94-9CE5-3142116237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C2A508C-307D-274E-D6C6-F1425423696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BE0544D-CB6F-AC61-FABE-E4F624CFC12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F7881A40-892A-8159-26E0-C2932609FB2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DD711E0-ECE5-3CF8-B16E-CDD36F445AD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0B001F6-9F88-B457-DA91-B2157CF6C9B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1E2C99A6-BECB-C091-C631-4CEE16EF5E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E44FBEC-5C18-4382-BDFF-97185F50BEB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3">
            <a:extLst>
              <a:ext uri="{FF2B5EF4-FFF2-40B4-BE49-F238E27FC236}">
                <a16:creationId xmlns:a16="http://schemas.microsoft.com/office/drawing/2014/main" id="{A47A606C-C90B-7306-4A9E-E19FF12A830D}"/>
              </a:ext>
            </a:extLst>
          </p:cNvPr>
          <p:cNvSpPr>
            <a:spLocks/>
          </p:cNvSpPr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3" name="任意多边形 15">
            <a:extLst>
              <a:ext uri="{FF2B5EF4-FFF2-40B4-BE49-F238E27FC236}">
                <a16:creationId xmlns:a16="http://schemas.microsoft.com/office/drawing/2014/main" id="{739F5161-F47D-9993-E5E7-8635252C25C2}"/>
              </a:ext>
            </a:extLst>
          </p:cNvPr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grpSp>
        <p:nvGrpSpPr>
          <p:cNvPr id="4" name="组合 16">
            <a:extLst>
              <a:ext uri="{FF2B5EF4-FFF2-40B4-BE49-F238E27FC236}">
                <a16:creationId xmlns:a16="http://schemas.microsoft.com/office/drawing/2014/main" id="{5B42DB18-B96D-D557-F2F4-41FF35F21795}"/>
              </a:ext>
            </a:extLst>
          </p:cNvPr>
          <p:cNvGrpSpPr>
            <a:grpSpLocks/>
          </p:cNvGrpSpPr>
          <p:nvPr/>
        </p:nvGrpSpPr>
        <p:grpSpPr bwMode="auto"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5" name="任意多边形 18">
              <a:extLst>
                <a:ext uri="{FF2B5EF4-FFF2-40B4-BE49-F238E27FC236}">
                  <a16:creationId xmlns:a16="http://schemas.microsoft.com/office/drawing/2014/main" id="{A8689CCB-DCAA-B8AE-F106-EB16700177A5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" name="任意多边形 19">
              <a:extLst>
                <a:ext uri="{FF2B5EF4-FFF2-40B4-BE49-F238E27FC236}">
                  <a16:creationId xmlns:a16="http://schemas.microsoft.com/office/drawing/2014/main" id="{3FF10920-F167-8E15-18FB-015A84BE0047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7" name="日期占位符 29">
            <a:extLst>
              <a:ext uri="{FF2B5EF4-FFF2-40B4-BE49-F238E27FC236}">
                <a16:creationId xmlns:a16="http://schemas.microsoft.com/office/drawing/2014/main" id="{D536757E-6593-4B11-3B66-8F26034BB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18">
            <a:extLst>
              <a:ext uri="{FF2B5EF4-FFF2-40B4-BE49-F238E27FC236}">
                <a16:creationId xmlns:a16="http://schemas.microsoft.com/office/drawing/2014/main" id="{D396AFD4-0D3C-32E2-6595-229F5E5D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26">
            <a:extLst>
              <a:ext uri="{FF2B5EF4-FFF2-40B4-BE49-F238E27FC236}">
                <a16:creationId xmlns:a16="http://schemas.microsoft.com/office/drawing/2014/main" id="{3581C8B4-BC57-02CB-ADC0-0D5F99A85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0AC671BB-D8A8-49AD-B633-398357452AA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7396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73B68CD8-C74A-7CF6-94BC-84BBE605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BE041627-84BA-3817-6CB2-AF31FE245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0CAA3FF5-06E8-3AEC-CE30-F993BB56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37961-048F-4037-B697-0DBACFBD64F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969782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3">
            <a:extLst>
              <a:ext uri="{FF2B5EF4-FFF2-40B4-BE49-F238E27FC236}">
                <a16:creationId xmlns:a16="http://schemas.microsoft.com/office/drawing/2014/main" id="{5D51A4EF-FB28-6D83-D01E-31310012C5B9}"/>
              </a:ext>
            </a:extLst>
          </p:cNvPr>
          <p:cNvSpPr>
            <a:spLocks/>
          </p:cNvSpPr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5" name="任意多边形 15">
            <a:extLst>
              <a:ext uri="{FF2B5EF4-FFF2-40B4-BE49-F238E27FC236}">
                <a16:creationId xmlns:a16="http://schemas.microsoft.com/office/drawing/2014/main" id="{9C593F2A-6B3E-6A5A-E235-B4EC740DBCDC}"/>
              </a:ext>
            </a:extLst>
          </p:cNvPr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grpSp>
        <p:nvGrpSpPr>
          <p:cNvPr id="6" name="组合 1">
            <a:extLst>
              <a:ext uri="{FF2B5EF4-FFF2-40B4-BE49-F238E27FC236}">
                <a16:creationId xmlns:a16="http://schemas.microsoft.com/office/drawing/2014/main" id="{5183732A-DEB9-BCB7-8253-79B7D75AB301}"/>
              </a:ext>
            </a:extLst>
          </p:cNvPr>
          <p:cNvGrpSpPr>
            <a:grpSpLocks/>
          </p:cNvGrpSpPr>
          <p:nvPr/>
        </p:nvGrpSpPr>
        <p:grpSpPr bwMode="auto"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7" name="任意多边形 18">
              <a:extLst>
                <a:ext uri="{FF2B5EF4-FFF2-40B4-BE49-F238E27FC236}">
                  <a16:creationId xmlns:a16="http://schemas.microsoft.com/office/drawing/2014/main" id="{D23A5C17-D34D-EC3A-5BD6-486A3AA946FC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" name="任意多边形 19">
              <a:extLst>
                <a:ext uri="{FF2B5EF4-FFF2-40B4-BE49-F238E27FC236}">
                  <a16:creationId xmlns:a16="http://schemas.microsoft.com/office/drawing/2014/main" id="{CC98860C-D235-0A12-5C67-E9D168646313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9" name="Rectangle 29">
            <a:extLst>
              <a:ext uri="{FF2B5EF4-FFF2-40B4-BE49-F238E27FC236}">
                <a16:creationId xmlns:a16="http://schemas.microsoft.com/office/drawing/2014/main" id="{D25A26B8-6A65-316A-2D20-D0B58E635D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27838" y="71438"/>
            <a:ext cx="4022725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800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集成电子技术基础教程  第二版 下册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4E7D5224-6CF7-A5DB-A777-43BF155A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页脚占位符 4">
            <a:extLst>
              <a:ext uri="{FF2B5EF4-FFF2-40B4-BE49-F238E27FC236}">
                <a16:creationId xmlns:a16="http://schemas.microsoft.com/office/drawing/2014/main" id="{6607EC55-B768-E190-1DA6-E0188B84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74D3A172-DB45-EFCF-2D3D-E2C2E23B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11AF01F8-C2CC-475D-8334-04DEB2CD82D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1359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>
            <a:extLst>
              <a:ext uri="{FF2B5EF4-FFF2-40B4-BE49-F238E27FC236}">
                <a16:creationId xmlns:a16="http://schemas.microsoft.com/office/drawing/2014/main" id="{184C27FA-66FB-CBEF-5F4C-664C9AB6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1">
            <a:extLst>
              <a:ext uri="{FF2B5EF4-FFF2-40B4-BE49-F238E27FC236}">
                <a16:creationId xmlns:a16="http://schemas.microsoft.com/office/drawing/2014/main" id="{3201B647-344F-787B-6731-D50AB77E8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17">
            <a:extLst>
              <a:ext uri="{FF2B5EF4-FFF2-40B4-BE49-F238E27FC236}">
                <a16:creationId xmlns:a16="http://schemas.microsoft.com/office/drawing/2014/main" id="{4DF8D1CE-0843-D039-3546-6AD6A3C2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B042D-3D86-4FC6-909D-251A97651DB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2603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9">
            <a:extLst>
              <a:ext uri="{FF2B5EF4-FFF2-40B4-BE49-F238E27FC236}">
                <a16:creationId xmlns:a16="http://schemas.microsoft.com/office/drawing/2014/main" id="{0D8BF8AD-AB86-6C15-E83E-A1B6A57CD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21">
            <a:extLst>
              <a:ext uri="{FF2B5EF4-FFF2-40B4-BE49-F238E27FC236}">
                <a16:creationId xmlns:a16="http://schemas.microsoft.com/office/drawing/2014/main" id="{58057ECF-A096-F00C-B5EE-0F1F49429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17">
            <a:extLst>
              <a:ext uri="{FF2B5EF4-FFF2-40B4-BE49-F238E27FC236}">
                <a16:creationId xmlns:a16="http://schemas.microsoft.com/office/drawing/2014/main" id="{1FD30735-DD81-02DF-4AF0-6335D95C8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26380A-311D-421D-AB89-43B03B9114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315433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9">
            <a:extLst>
              <a:ext uri="{FF2B5EF4-FFF2-40B4-BE49-F238E27FC236}">
                <a16:creationId xmlns:a16="http://schemas.microsoft.com/office/drawing/2014/main" id="{3981A7DF-539D-6D55-E789-8880054C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21">
            <a:extLst>
              <a:ext uri="{FF2B5EF4-FFF2-40B4-BE49-F238E27FC236}">
                <a16:creationId xmlns:a16="http://schemas.microsoft.com/office/drawing/2014/main" id="{375FEEF1-1D1E-EB9A-DAD6-3B4B31EB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17">
            <a:extLst>
              <a:ext uri="{FF2B5EF4-FFF2-40B4-BE49-F238E27FC236}">
                <a16:creationId xmlns:a16="http://schemas.microsoft.com/office/drawing/2014/main" id="{44CBACF9-01A6-F457-FF10-478F7C44C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608F-55FA-452E-AB15-7C2D649F5B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208269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9">
            <a:extLst>
              <a:ext uri="{FF2B5EF4-FFF2-40B4-BE49-F238E27FC236}">
                <a16:creationId xmlns:a16="http://schemas.microsoft.com/office/drawing/2014/main" id="{2ED42312-FC89-A530-2AED-66C5CE1F3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1">
            <a:extLst>
              <a:ext uri="{FF2B5EF4-FFF2-40B4-BE49-F238E27FC236}">
                <a16:creationId xmlns:a16="http://schemas.microsoft.com/office/drawing/2014/main" id="{143C1389-FEC0-483B-FAFA-5302DAFE9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17">
            <a:extLst>
              <a:ext uri="{FF2B5EF4-FFF2-40B4-BE49-F238E27FC236}">
                <a16:creationId xmlns:a16="http://schemas.microsoft.com/office/drawing/2014/main" id="{4DDB4FCC-31D4-4154-B4D2-2119956E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48F2B-627E-4138-A193-9B1F50FF723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032490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>
            <a:extLst>
              <a:ext uri="{FF2B5EF4-FFF2-40B4-BE49-F238E27FC236}">
                <a16:creationId xmlns:a16="http://schemas.microsoft.com/office/drawing/2014/main" id="{A967518A-55D6-EB1E-E0BB-2A6047419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1">
            <a:extLst>
              <a:ext uri="{FF2B5EF4-FFF2-40B4-BE49-F238E27FC236}">
                <a16:creationId xmlns:a16="http://schemas.microsoft.com/office/drawing/2014/main" id="{534A4162-CDF0-D275-756D-3ED9944C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17">
            <a:extLst>
              <a:ext uri="{FF2B5EF4-FFF2-40B4-BE49-F238E27FC236}">
                <a16:creationId xmlns:a16="http://schemas.microsoft.com/office/drawing/2014/main" id="{72AD71DF-905A-F06D-F217-48DE8740D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A076B-4B5D-40E0-8F1C-CA3861A788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721576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13">
            <a:extLst>
              <a:ext uri="{FF2B5EF4-FFF2-40B4-BE49-F238E27FC236}">
                <a16:creationId xmlns:a16="http://schemas.microsoft.com/office/drawing/2014/main" id="{0D404794-C164-659C-FA85-8FCC4F7989EA}"/>
              </a:ext>
            </a:extLst>
          </p:cNvPr>
          <p:cNvSpPr/>
          <p:nvPr/>
        </p:nvSpPr>
        <p:spPr>
          <a:xfrm rot="420000" flipV="1">
            <a:off x="422116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056019F0-2851-80A6-7176-CC68B518B671}"/>
              </a:ext>
            </a:extLst>
          </p:cNvPr>
          <p:cNvSpPr/>
          <p:nvPr/>
        </p:nvSpPr>
        <p:spPr>
          <a:xfrm rot="420000" flipV="1">
            <a:off x="10672763" y="5359400"/>
            <a:ext cx="2063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任意多边形 16">
            <a:extLst>
              <a:ext uri="{FF2B5EF4-FFF2-40B4-BE49-F238E27FC236}">
                <a16:creationId xmlns:a16="http://schemas.microsoft.com/office/drawing/2014/main" id="{E6F9371D-5BC3-2BBE-AFE5-9CA2156753C1}"/>
              </a:ext>
            </a:extLst>
          </p:cNvPr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任意多边形 18">
            <a:extLst>
              <a:ext uri="{FF2B5EF4-FFF2-40B4-BE49-F238E27FC236}">
                <a16:creationId xmlns:a16="http://schemas.microsoft.com/office/drawing/2014/main" id="{83D909E2-17E3-B748-E213-76E686DF049C}"/>
              </a:ext>
            </a:extLst>
          </p:cNvPr>
          <p:cNvSpPr>
            <a:spLocks/>
          </p:cNvSpPr>
          <p:nvPr/>
        </p:nvSpPr>
        <p:spPr bwMode="auto">
          <a:xfrm flipV="1">
            <a:off x="5842000" y="6219825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9" name="日期占位符 4">
            <a:extLst>
              <a:ext uri="{FF2B5EF4-FFF2-40B4-BE49-F238E27FC236}">
                <a16:creationId xmlns:a16="http://schemas.microsoft.com/office/drawing/2014/main" id="{6A3806A5-DB72-06DB-D1AD-E5AB7813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页脚占位符 5">
            <a:extLst>
              <a:ext uri="{FF2B5EF4-FFF2-40B4-BE49-F238E27FC236}">
                <a16:creationId xmlns:a16="http://schemas.microsoft.com/office/drawing/2014/main" id="{5156912B-DD3F-3A1C-0618-91A9F3D93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灯片编号占位符 6">
            <a:extLst>
              <a:ext uri="{FF2B5EF4-FFF2-40B4-BE49-F238E27FC236}">
                <a16:creationId xmlns:a16="http://schemas.microsoft.com/office/drawing/2014/main" id="{6C294660-BAB7-7616-5C94-9DFABBED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356350"/>
            <a:ext cx="812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9F32A0-2B62-4F70-81CF-1EB1CCFE3AA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713807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D656B3AC-96BA-67A9-351D-8263A301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02766FB1-4EF6-4A8E-60AD-B6FD71B61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B547819F-5CB6-3349-EA60-BC3816BB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1C0E7-1B81-463A-999B-F8E282F271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713643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D777490B-D8BF-4C3D-20BA-9CD900F1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5E10CC67-7F4C-A4F5-888A-07C571100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0E0D5290-5FCE-1D93-0DA6-46DEFAC3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E7922A-5F62-4927-8C2C-FE72481074A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154533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>
            <a:extLst>
              <a:ext uri="{FF2B5EF4-FFF2-40B4-BE49-F238E27FC236}">
                <a16:creationId xmlns:a16="http://schemas.microsoft.com/office/drawing/2014/main" id="{440EEFF4-CE7D-543B-5B07-470495456395}"/>
              </a:ext>
            </a:extLst>
          </p:cNvPr>
          <p:cNvSpPr>
            <a:spLocks/>
          </p:cNvSpPr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任意多边形 7">
            <a:extLst>
              <a:ext uri="{FF2B5EF4-FFF2-40B4-BE49-F238E27FC236}">
                <a16:creationId xmlns:a16="http://schemas.microsoft.com/office/drawing/2014/main" id="{38AA2566-A940-A9A6-E407-13D34F6FDDC2}"/>
              </a:ext>
            </a:extLst>
          </p:cNvPr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solidFill>
                <a:srgbClr val="FFCC00"/>
              </a:solidFill>
              <a:latin typeface="+mn-lt"/>
              <a:ea typeface="+mn-ea"/>
            </a:endParaRPr>
          </a:p>
        </p:txBody>
      </p:sp>
      <p:sp>
        <p:nvSpPr>
          <p:cNvPr id="1028" name="标题占位符 8">
            <a:extLst>
              <a:ext uri="{FF2B5EF4-FFF2-40B4-BE49-F238E27FC236}">
                <a16:creationId xmlns:a16="http://schemas.microsoft.com/office/drawing/2014/main" id="{1B32D716-E915-9C85-FD0B-7BB4E8B6488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文本占位符 29">
            <a:extLst>
              <a:ext uri="{FF2B5EF4-FFF2-40B4-BE49-F238E27FC236}">
                <a16:creationId xmlns:a16="http://schemas.microsoft.com/office/drawing/2014/main" id="{8E229223-6FED-EE32-2760-854F5BB569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935163"/>
            <a:ext cx="10972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8A1309A6-F68C-EB34-718D-6D0EDB764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页脚占位符 21">
            <a:extLst>
              <a:ext uri="{FF2B5EF4-FFF2-40B4-BE49-F238E27FC236}">
                <a16:creationId xmlns:a16="http://schemas.microsoft.com/office/drawing/2014/main" id="{4E921148-AAD3-6666-3E36-D81CE8F91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5076B1A1-3EE0-DDCA-4C65-865C0267C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45C75"/>
                </a:solidFill>
              </a:defRPr>
            </a:lvl1pPr>
          </a:lstStyle>
          <a:p>
            <a:pPr>
              <a:defRPr/>
            </a:pPr>
            <a:fld id="{16AB5121-2F43-48F8-9658-DA6287A425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33" name="组合 1">
            <a:extLst>
              <a:ext uri="{FF2B5EF4-FFF2-40B4-BE49-F238E27FC236}">
                <a16:creationId xmlns:a16="http://schemas.microsoft.com/office/drawing/2014/main" id="{ADF704ED-272E-01D6-F46E-33D5B6B465FC}"/>
              </a:ext>
            </a:extLst>
          </p:cNvPr>
          <p:cNvGrpSpPr>
            <a:grpSpLocks/>
          </p:cNvGrpSpPr>
          <p:nvPr/>
        </p:nvGrpSpPr>
        <p:grpSpPr bwMode="auto"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12" name="任意多边形 11">
              <a:extLst>
                <a:ext uri="{FF2B5EF4-FFF2-40B4-BE49-F238E27FC236}">
                  <a16:creationId xmlns:a16="http://schemas.microsoft.com/office/drawing/2014/main" id="{15978FF5-49FC-D8D0-0489-CF896D8CE497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3" name="任意多边形 12">
              <a:extLst>
                <a:ext uri="{FF2B5EF4-FFF2-40B4-BE49-F238E27FC236}">
                  <a16:creationId xmlns:a16="http://schemas.microsoft.com/office/drawing/2014/main" id="{B8E2104A-25F5-F641-D8D0-35F10DF27A5E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1034" name="Rectangle 29">
            <a:extLst>
              <a:ext uri="{FF2B5EF4-FFF2-40B4-BE49-F238E27FC236}">
                <a16:creationId xmlns:a16="http://schemas.microsoft.com/office/drawing/2014/main" id="{C291CF40-F3C0-31F5-2B9F-80AEC7347C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336088" y="92075"/>
            <a:ext cx="26828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800" b="1" kern="2500" spc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</a:t>
            </a:r>
            <a:r>
              <a:rPr lang="en-US" altLang="zh-CN" sz="1800" b="1" kern="2500" spc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65" r:id="rId1"/>
    <p:sldLayoutId id="2147484457" r:id="rId2"/>
    <p:sldLayoutId id="2147484466" r:id="rId3"/>
    <p:sldLayoutId id="2147484458" r:id="rId4"/>
    <p:sldLayoutId id="2147484459" r:id="rId5"/>
    <p:sldLayoutId id="2147484460" r:id="rId6"/>
    <p:sldLayoutId id="2147484461" r:id="rId7"/>
    <p:sldLayoutId id="2147484462" r:id="rId8"/>
    <p:sldLayoutId id="2147484467" r:id="rId9"/>
    <p:sldLayoutId id="2147484463" r:id="rId10"/>
    <p:sldLayoutId id="2147484464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5">
            <a:extLst>
              <a:ext uri="{FF2B5EF4-FFF2-40B4-BE49-F238E27FC236}">
                <a16:creationId xmlns:a16="http://schemas.microsoft.com/office/drawing/2014/main" id="{4A45C8EA-3BFE-414E-A5D7-3552F222C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1844675"/>
            <a:ext cx="69850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FFC000"/>
                </a:solidFill>
                <a:latin typeface="宋体" panose="02010600030101010101" pitchFamily="2" charset="-122"/>
              </a:rPr>
              <a:t>可编程逻辑器件</a:t>
            </a:r>
          </a:p>
        </p:txBody>
      </p:sp>
      <p:sp>
        <p:nvSpPr>
          <p:cNvPr id="8195" name="矩形 1">
            <a:extLst>
              <a:ext uri="{FF2B5EF4-FFF2-40B4-BE49-F238E27FC236}">
                <a16:creationId xmlns:a16="http://schemas.microsoft.com/office/drawing/2014/main" id="{6948C733-7C27-4716-B315-A7E26DC92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4581525"/>
            <a:ext cx="46815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zh-CN" altLang="en-US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浙江大学电工电子教学中心    张德华</a:t>
            </a:r>
            <a:endParaRPr lang="en-US" altLang="zh-CN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0213B4B-837A-AC0F-BF8F-0F02E0B3BF94}"/>
              </a:ext>
            </a:extLst>
          </p:cNvPr>
          <p:cNvSpPr>
            <a:spLocks/>
          </p:cNvSpPr>
          <p:nvPr/>
        </p:nvSpPr>
        <p:spPr bwMode="auto">
          <a:xfrm>
            <a:off x="3395663" y="1943100"/>
            <a:ext cx="51943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en-US" altLang="zh-CN" sz="4000" b="1" dirty="0">
              <a:solidFill>
                <a:schemeClr val="accent1">
                  <a:lumMod val="5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551384" y="404664"/>
            <a:ext cx="10297144" cy="1323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67" b="1" dirty="0"/>
              <a:t>例</a:t>
            </a:r>
            <a:r>
              <a:rPr lang="en-US" altLang="zh-CN" sz="2667" b="1" dirty="0"/>
              <a:t>4</a:t>
            </a:r>
            <a:r>
              <a:rPr lang="zh-CN" altLang="en-US" sz="2667" b="1" dirty="0"/>
              <a:t>： 使用</a:t>
            </a:r>
            <a:r>
              <a:rPr lang="en-US" altLang="zh-CN" sz="2667" b="1" dirty="0"/>
              <a:t>ALTERA</a:t>
            </a:r>
            <a:r>
              <a:rPr lang="zh-CN" altLang="en-US" sz="2667" b="1" dirty="0"/>
              <a:t>的</a:t>
            </a:r>
            <a:r>
              <a:rPr lang="en-US" altLang="zh-CN" sz="2667" b="1" dirty="0">
                <a:solidFill>
                  <a:srgbClr val="FF0000"/>
                </a:solidFill>
              </a:rPr>
              <a:t>DE10-Lite</a:t>
            </a:r>
            <a:r>
              <a:rPr lang="zh-CN" altLang="en-US" sz="2667" b="1" dirty="0">
                <a:solidFill>
                  <a:srgbClr val="FF0000"/>
                </a:solidFill>
              </a:rPr>
              <a:t>开发板</a:t>
            </a:r>
            <a:r>
              <a:rPr lang="zh-CN" altLang="en-US" sz="2667" b="1" dirty="0"/>
              <a:t>（内含</a:t>
            </a:r>
            <a:r>
              <a:rPr lang="en-US" altLang="zh-CN" sz="2667" b="1" dirty="0"/>
              <a:t>FPGA</a:t>
            </a:r>
            <a:r>
              <a:rPr lang="zh-CN" altLang="en-US" sz="2667" b="1" dirty="0"/>
              <a:t>芯片）应用</a:t>
            </a:r>
            <a:r>
              <a:rPr lang="en-US" altLang="zh-CN" sz="2667" b="1" dirty="0">
                <a:solidFill>
                  <a:srgbClr val="FF0000"/>
                </a:solidFill>
              </a:rPr>
              <a:t>QUARTUS</a:t>
            </a:r>
            <a:r>
              <a:rPr lang="zh-CN" altLang="en-US" sz="2667" b="1" dirty="0">
                <a:solidFill>
                  <a:srgbClr val="FF0000"/>
                </a:solidFill>
              </a:rPr>
              <a:t>平台</a:t>
            </a:r>
            <a:r>
              <a:rPr lang="zh-CN" altLang="en-US" sz="2667" b="1" dirty="0"/>
              <a:t>设计一个</a:t>
            </a:r>
            <a:r>
              <a:rPr lang="en-US" altLang="zh-CN" sz="2667" b="1" dirty="0"/>
              <a:t>100</a:t>
            </a:r>
            <a:r>
              <a:rPr lang="zh-CN" altLang="en-US" sz="2667" b="1" dirty="0"/>
              <a:t>进制</a:t>
            </a:r>
            <a:r>
              <a:rPr lang="en-US" altLang="zh-CN" sz="2667" b="1" dirty="0"/>
              <a:t>BCD</a:t>
            </a:r>
            <a:r>
              <a:rPr lang="zh-CN" altLang="en-US" sz="2667" b="1" dirty="0"/>
              <a:t>编码的秒脉冲计数器，并用</a:t>
            </a:r>
            <a:r>
              <a:rPr lang="en-US" altLang="zh-CN" sz="2667" b="1" dirty="0"/>
              <a:t>DEMO</a:t>
            </a:r>
            <a:r>
              <a:rPr lang="zh-CN" altLang="en-US" sz="2667" b="1" dirty="0"/>
              <a:t>板上</a:t>
            </a:r>
            <a:r>
              <a:rPr lang="en-US" altLang="zh-CN" sz="2667" b="1" dirty="0"/>
              <a:t>2</a:t>
            </a:r>
            <a:r>
              <a:rPr lang="zh-CN" altLang="en-US" sz="2667" b="1" dirty="0"/>
              <a:t>个七段显示数码管显示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60D802F-DD09-3A40-B7E4-0581FAD6B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1728296"/>
            <a:ext cx="7620000" cy="50006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431371" y="356659"/>
            <a:ext cx="432048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667" b="1" dirty="0">
                <a:solidFill>
                  <a:srgbClr val="FF0000"/>
                </a:solidFill>
              </a:rPr>
              <a:t>模块分割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03981" y="332657"/>
            <a:ext cx="5871977" cy="2160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23659" y="2660915"/>
            <a:ext cx="8956101" cy="3648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TextBox 48"/>
          <p:cNvSpPr txBox="1"/>
          <p:nvPr/>
        </p:nvSpPr>
        <p:spPr>
          <a:xfrm>
            <a:off x="719403" y="1220755"/>
            <a:ext cx="4320480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</a:pPr>
            <a:r>
              <a:rPr lang="en-US" altLang="zh-CN" sz="2400" dirty="0"/>
              <a:t>DEMO</a:t>
            </a:r>
            <a:r>
              <a:rPr lang="zh-CN" altLang="en-US" sz="2400" dirty="0"/>
              <a:t>板只有</a:t>
            </a:r>
            <a:r>
              <a:rPr lang="en-US" altLang="zh-CN" sz="2400" dirty="0"/>
              <a:t>50MHZ</a:t>
            </a:r>
            <a:r>
              <a:rPr lang="zh-CN" altLang="en-US" sz="2400" dirty="0"/>
              <a:t>时钟源，必须先设计分频器得到秒脉冲，再设计</a:t>
            </a:r>
            <a:r>
              <a:rPr lang="en-US" altLang="zh-CN" sz="2400" dirty="0"/>
              <a:t>100</a:t>
            </a:r>
            <a:r>
              <a:rPr lang="zh-CN" altLang="en-US" sz="2400" dirty="0"/>
              <a:t>进制计数器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9403" y="4293097"/>
            <a:ext cx="4720524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33" dirty="0"/>
              <a:t>(3)</a:t>
            </a:r>
            <a:r>
              <a:rPr lang="zh-CN" altLang="en-US" sz="2133" dirty="0"/>
              <a:t> </a:t>
            </a:r>
            <a:r>
              <a:rPr lang="en-US" altLang="zh-CN" sz="2133" dirty="0"/>
              <a:t>BCD</a:t>
            </a:r>
            <a:r>
              <a:rPr lang="zh-CN" altLang="en-US" sz="2133" dirty="0"/>
              <a:t>译码器</a:t>
            </a:r>
            <a:r>
              <a:rPr lang="en-US" altLang="zh-CN" sz="2133" dirty="0"/>
              <a:t>bcd_code.vhd</a:t>
            </a:r>
            <a:endParaRPr lang="zh-CN" altLang="en-US" sz="2133" dirty="0"/>
          </a:p>
        </p:txBody>
      </p:sp>
      <p:sp>
        <p:nvSpPr>
          <p:cNvPr id="51" name="TextBox 50"/>
          <p:cNvSpPr txBox="1"/>
          <p:nvPr/>
        </p:nvSpPr>
        <p:spPr>
          <a:xfrm>
            <a:off x="719403" y="3813043"/>
            <a:ext cx="566462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33" dirty="0"/>
              <a:t>(2)</a:t>
            </a:r>
            <a:r>
              <a:rPr lang="zh-CN" altLang="en-US" sz="2133" dirty="0"/>
              <a:t> </a:t>
            </a:r>
            <a:r>
              <a:rPr lang="en-US" altLang="zh-CN" sz="2133" dirty="0"/>
              <a:t>10</a:t>
            </a:r>
            <a:r>
              <a:rPr lang="zh-CN" altLang="en-US" sz="2133" dirty="0"/>
              <a:t>进制计数器</a:t>
            </a:r>
            <a:r>
              <a:rPr lang="en-US" altLang="zh-CN" sz="2133" dirty="0"/>
              <a:t>cnt10.vhd</a:t>
            </a:r>
            <a:endParaRPr lang="zh-CN" altLang="en-US" sz="2133" dirty="0"/>
          </a:p>
        </p:txBody>
      </p:sp>
      <p:sp>
        <p:nvSpPr>
          <p:cNvPr id="52" name="TextBox 51"/>
          <p:cNvSpPr txBox="1"/>
          <p:nvPr/>
        </p:nvSpPr>
        <p:spPr>
          <a:xfrm>
            <a:off x="719403" y="3236980"/>
            <a:ext cx="4248472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33" dirty="0"/>
              <a:t>(1) 50MHZ</a:t>
            </a:r>
            <a:r>
              <a:rPr lang="zh-CN" altLang="en-US" sz="2133" dirty="0"/>
              <a:t>分频器</a:t>
            </a:r>
            <a:r>
              <a:rPr lang="en-US" altLang="zh-CN" sz="2133" dirty="0"/>
              <a:t>freq_div.vhd</a:t>
            </a:r>
            <a:endParaRPr lang="zh-CN" altLang="en-US" sz="2133" dirty="0"/>
          </a:p>
        </p:txBody>
      </p:sp>
      <p:sp>
        <p:nvSpPr>
          <p:cNvPr id="53" name="TextBox 52"/>
          <p:cNvSpPr txBox="1"/>
          <p:nvPr/>
        </p:nvSpPr>
        <p:spPr>
          <a:xfrm>
            <a:off x="431371" y="2660916"/>
            <a:ext cx="3360373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0000"/>
              </a:buClr>
            </a:pPr>
            <a:r>
              <a:rPr lang="zh-CN" altLang="en-US" sz="2133" b="1" dirty="0">
                <a:solidFill>
                  <a:srgbClr val="FF0000"/>
                </a:solidFill>
              </a:rPr>
              <a:t>*需设计的</a:t>
            </a:r>
            <a:r>
              <a:rPr lang="en-US" altLang="zh-CN" sz="2133" b="1" dirty="0">
                <a:solidFill>
                  <a:srgbClr val="FF0000"/>
                </a:solidFill>
              </a:rPr>
              <a:t>VHDL</a:t>
            </a:r>
            <a:r>
              <a:rPr lang="zh-CN" altLang="en-US" sz="2133" b="1" dirty="0">
                <a:solidFill>
                  <a:srgbClr val="FF0000"/>
                </a:solidFill>
              </a:rPr>
              <a:t>源码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9403" y="4773149"/>
            <a:ext cx="4248472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33" dirty="0"/>
              <a:t>(4) </a:t>
            </a:r>
            <a:r>
              <a:rPr lang="zh-CN" altLang="en-US" sz="2133" dirty="0"/>
              <a:t>顶层源文件</a:t>
            </a:r>
            <a:r>
              <a:rPr lang="en-US" altLang="zh-CN" sz="2133" dirty="0"/>
              <a:t>cnt100.vhd</a:t>
            </a:r>
            <a:endParaRPr lang="zh-CN" altLang="en-US" sz="2133" dirty="0"/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9168342" y="3813043"/>
          <a:ext cx="57573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40" imgH="190440" progId="Equation.DSMT4">
                  <p:embed/>
                </p:oleObj>
              </mc:Choice>
              <mc:Fallback>
                <p:oleObj name="Equation" r:id="rId4" imgW="431640" imgH="190440" progId="Equation.DSMT4">
                  <p:embed/>
                  <p:pic>
                    <p:nvPicPr>
                      <p:cNvPr id="327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8342" y="3813043"/>
                        <a:ext cx="575733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3" grpId="0"/>
      <p:bldP spid="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31371" y="260649"/>
            <a:ext cx="4248472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33" dirty="0"/>
              <a:t>(1) 50MHZ</a:t>
            </a:r>
            <a:r>
              <a:rPr lang="zh-CN" altLang="en-US" sz="2133" dirty="0"/>
              <a:t>分频器</a:t>
            </a:r>
            <a:r>
              <a:rPr lang="en-US" altLang="zh-CN" sz="2133" dirty="0"/>
              <a:t>freq_div.vhd</a:t>
            </a:r>
            <a:endParaRPr lang="zh-CN" altLang="en-US" sz="2133" dirty="0"/>
          </a:p>
        </p:txBody>
      </p:sp>
      <p:sp>
        <p:nvSpPr>
          <p:cNvPr id="16" name="矩形 15"/>
          <p:cNvSpPr/>
          <p:nvPr/>
        </p:nvSpPr>
        <p:spPr>
          <a:xfrm>
            <a:off x="1199456" y="1955176"/>
            <a:ext cx="5568619" cy="37856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P1:process 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clk_in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variable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natural range 0 to 49999999;      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begin         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if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rising_edge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clk_in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then 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if 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div_num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then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:=0;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elsif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div_num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/2 then		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clk_out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&lt;='0';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:=cnt+1;		  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else                 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clk_out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&lt;='1';  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:=cnt+1;		  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end if;        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end if;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end process P1;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5386" y="6301342"/>
            <a:ext cx="566462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33" dirty="0"/>
              <a:t>(3)</a:t>
            </a:r>
            <a:r>
              <a:rPr lang="zh-CN" altLang="en-US" sz="2133" dirty="0"/>
              <a:t> </a:t>
            </a:r>
            <a:r>
              <a:rPr lang="en-US" altLang="zh-CN" sz="2133" dirty="0"/>
              <a:t>BCD</a:t>
            </a:r>
            <a:r>
              <a:rPr lang="zh-CN" altLang="en-US" sz="2133" dirty="0"/>
              <a:t>译码器</a:t>
            </a:r>
            <a:r>
              <a:rPr lang="en-US" altLang="zh-CN" sz="2133" dirty="0"/>
              <a:t>bcd_code.vhd</a:t>
            </a:r>
            <a:r>
              <a:rPr lang="zh-CN" altLang="en-US" sz="2133" b="1" dirty="0">
                <a:solidFill>
                  <a:srgbClr val="FF0000"/>
                </a:solidFill>
              </a:rPr>
              <a:t>参考前面设计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5386" y="5821288"/>
            <a:ext cx="566462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33" dirty="0"/>
              <a:t>(2)</a:t>
            </a:r>
            <a:r>
              <a:rPr lang="zh-CN" altLang="en-US" sz="2133" dirty="0"/>
              <a:t> </a:t>
            </a:r>
            <a:r>
              <a:rPr lang="en-US" altLang="zh-CN" sz="2133" dirty="0"/>
              <a:t>10</a:t>
            </a:r>
            <a:r>
              <a:rPr lang="zh-CN" altLang="en-US" sz="2133" dirty="0"/>
              <a:t>进制计数器</a:t>
            </a:r>
            <a:r>
              <a:rPr lang="en-US" altLang="zh-CN" sz="2133" dirty="0"/>
              <a:t>cnt10.vhd</a:t>
            </a:r>
            <a:r>
              <a:rPr lang="zh-CN" altLang="en-US" sz="2133" b="1" dirty="0">
                <a:solidFill>
                  <a:srgbClr val="FF0000"/>
                </a:solidFill>
              </a:rPr>
              <a:t>参考前面设计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1199456" y="877830"/>
            <a:ext cx="6432715" cy="845708"/>
            <a:chOff x="899592" y="771550"/>
            <a:chExt cx="4824536" cy="634281"/>
          </a:xfrm>
        </p:grpSpPr>
        <p:sp>
          <p:nvSpPr>
            <p:cNvPr id="11" name="矩形 10"/>
            <p:cNvSpPr/>
            <p:nvPr/>
          </p:nvSpPr>
          <p:spPr bwMode="auto">
            <a:xfrm>
              <a:off x="2555776" y="902730"/>
              <a:ext cx="1296144" cy="43204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19170" eaLnBrk="1" hangingPunct="1"/>
              <a:r>
                <a:rPr kumimoji="1" lang="en-US" altLang="zh-CN" sz="2400" dirty="0" err="1">
                  <a:latin typeface="Tahoma" pitchFamily="34" charset="0"/>
                </a:rPr>
                <a:t>freq_div</a:t>
              </a:r>
              <a:endParaRPr kumimoji="1" lang="zh-CN" altLang="en-US" sz="2400" dirty="0">
                <a:latin typeface="Tahoma" pitchFamily="34" charset="0"/>
              </a:endParaRPr>
            </a:p>
          </p:txBody>
        </p:sp>
        <p:cxnSp>
          <p:nvCxnSpPr>
            <p:cNvPr id="12" name="直接箭头连接符 11"/>
            <p:cNvCxnSpPr/>
            <p:nvPr/>
          </p:nvCxnSpPr>
          <p:spPr bwMode="auto">
            <a:xfrm>
              <a:off x="2267744" y="987574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箭头连接符 12"/>
            <p:cNvCxnSpPr/>
            <p:nvPr/>
          </p:nvCxnSpPr>
          <p:spPr bwMode="auto">
            <a:xfrm>
              <a:off x="3851920" y="1131590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" name="TextBox 13"/>
            <p:cNvSpPr txBox="1"/>
            <p:nvPr/>
          </p:nvSpPr>
          <p:spPr>
            <a:xfrm>
              <a:off x="1259632" y="771550"/>
              <a:ext cx="936104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400" dirty="0" err="1"/>
                <a:t>clk_in</a:t>
              </a:r>
              <a:endParaRPr lang="zh-CN" altLang="en-US" sz="2400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139952" y="915566"/>
              <a:ext cx="1584176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err="1"/>
                <a:t>clk_out</a:t>
              </a:r>
              <a:endParaRPr lang="zh-CN" altLang="en-US" sz="2400" dirty="0"/>
            </a:p>
          </p:txBody>
        </p:sp>
        <p:cxnSp>
          <p:nvCxnSpPr>
            <p:cNvPr id="20" name="直接箭头连接符 19"/>
            <p:cNvCxnSpPr/>
            <p:nvPr/>
          </p:nvCxnSpPr>
          <p:spPr bwMode="auto">
            <a:xfrm>
              <a:off x="2267744" y="1275606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" name="TextBox 20"/>
            <p:cNvSpPr txBox="1"/>
            <p:nvPr/>
          </p:nvSpPr>
          <p:spPr>
            <a:xfrm>
              <a:off x="899592" y="1059582"/>
              <a:ext cx="1296144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400" dirty="0" err="1"/>
                <a:t>div_num</a:t>
              </a:r>
              <a:endParaRPr lang="zh-CN" altLang="en-US" sz="2400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39882" y="3859682"/>
            <a:ext cx="6956433" cy="2833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515380" y="434409"/>
            <a:ext cx="4248472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33" dirty="0"/>
              <a:t>(4)</a:t>
            </a:r>
            <a:r>
              <a:rPr lang="zh-CN" altLang="en-US" sz="2133" dirty="0"/>
              <a:t>顶层</a:t>
            </a:r>
            <a:r>
              <a:rPr lang="en-US" altLang="zh-CN" sz="2133" dirty="0"/>
              <a:t>cnt100.vhd</a:t>
            </a:r>
            <a:r>
              <a:rPr lang="zh-CN" altLang="en-US" sz="2133" dirty="0"/>
              <a:t>设计</a:t>
            </a:r>
          </a:p>
        </p:txBody>
      </p:sp>
      <p:sp>
        <p:nvSpPr>
          <p:cNvPr id="16" name="矩形 15"/>
          <p:cNvSpPr/>
          <p:nvPr/>
        </p:nvSpPr>
        <p:spPr>
          <a:xfrm>
            <a:off x="623392" y="1892830"/>
            <a:ext cx="5568619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LIBRARY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ieee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 ieee.std_logic_1164.all;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ieee.std_logic_unsigned.all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407701" y="356659"/>
            <a:ext cx="6144683" cy="1152128"/>
            <a:chOff x="2555776" y="267494"/>
            <a:chExt cx="4608512" cy="864096"/>
          </a:xfrm>
        </p:grpSpPr>
        <p:sp>
          <p:nvSpPr>
            <p:cNvPr id="20" name="矩形 19"/>
            <p:cNvSpPr/>
            <p:nvPr/>
          </p:nvSpPr>
          <p:spPr bwMode="auto">
            <a:xfrm>
              <a:off x="3779912" y="339502"/>
              <a:ext cx="1296144" cy="79208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1219170" eaLnBrk="1" hangingPunct="1"/>
              <a:endParaRPr kumimoji="1" lang="en-US" altLang="zh-CN" sz="2400" dirty="0">
                <a:latin typeface="Tahoma" pitchFamily="34" charset="0"/>
              </a:endParaRPr>
            </a:p>
            <a:p>
              <a:pPr algn="ctr" defTabSz="1219170" eaLnBrk="1" hangingPunct="1"/>
              <a:r>
                <a:rPr kumimoji="1" lang="en-US" altLang="zh-CN" sz="2400" dirty="0">
                  <a:latin typeface="Tahoma" pitchFamily="34" charset="0"/>
                </a:rPr>
                <a:t>cnt100</a:t>
              </a:r>
              <a:endParaRPr kumimoji="1" lang="zh-CN" altLang="en-US" sz="2400" dirty="0">
                <a:latin typeface="Tahoma" pitchFamily="34" charset="0"/>
              </a:endParaRPr>
            </a:p>
          </p:txBody>
        </p:sp>
        <p:cxnSp>
          <p:nvCxnSpPr>
            <p:cNvPr id="21" name="直接箭头连接符 20"/>
            <p:cNvCxnSpPr/>
            <p:nvPr/>
          </p:nvCxnSpPr>
          <p:spPr bwMode="auto">
            <a:xfrm>
              <a:off x="3491880" y="699542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箭头连接符 21"/>
            <p:cNvCxnSpPr/>
            <p:nvPr/>
          </p:nvCxnSpPr>
          <p:spPr bwMode="auto">
            <a:xfrm>
              <a:off x="5076056" y="483518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3" name="TextBox 22"/>
            <p:cNvSpPr txBox="1"/>
            <p:nvPr/>
          </p:nvSpPr>
          <p:spPr>
            <a:xfrm>
              <a:off x="2555776" y="483518"/>
              <a:ext cx="936104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400" dirty="0" err="1"/>
                <a:t>clk_sys</a:t>
              </a:r>
              <a:endParaRPr lang="en-US" altLang="zh-CN" sz="24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364088" y="267494"/>
              <a:ext cx="18002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bcdcode0[0..6]</a:t>
              </a:r>
              <a:endParaRPr lang="zh-CN" altLang="en-US" sz="2400" dirty="0"/>
            </a:p>
          </p:txBody>
        </p:sp>
        <p:cxnSp>
          <p:nvCxnSpPr>
            <p:cNvPr id="27" name="直接箭头连接符 26"/>
            <p:cNvCxnSpPr/>
            <p:nvPr/>
          </p:nvCxnSpPr>
          <p:spPr bwMode="auto">
            <a:xfrm>
              <a:off x="5076056" y="915566"/>
              <a:ext cx="288032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" name="TextBox 27"/>
            <p:cNvSpPr txBox="1"/>
            <p:nvPr/>
          </p:nvSpPr>
          <p:spPr>
            <a:xfrm>
              <a:off x="5364088" y="699542"/>
              <a:ext cx="18002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bcdcode1[0..6]</a:t>
              </a:r>
              <a:endParaRPr lang="zh-CN" altLang="en-US" sz="2400" dirty="0"/>
            </a:p>
          </p:txBody>
        </p:sp>
      </p:grpSp>
      <p:sp>
        <p:nvSpPr>
          <p:cNvPr id="30" name="矩形 29"/>
          <p:cNvSpPr/>
          <p:nvPr/>
        </p:nvSpPr>
        <p:spPr>
          <a:xfrm>
            <a:off x="623392" y="2997435"/>
            <a:ext cx="7560840" cy="1569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u0: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freq_div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port map(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clk_in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clk_sys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div_num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=&gt;49999999,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clk_out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ena1&lt;= ql(3) and ql(0);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u1: CNT10 port map(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clk,clr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=&gt;'0',ena=&gt;'1',q=&gt;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u2: CNT10 port map(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clk,clr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=&gt;'0',ena=&gt;ena1,q=&gt;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qh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u3: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bcd_code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port map(d=&gt;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ql,bcdcode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=&gt;bcdcode0);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u4: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bcd_code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port map(d=&gt;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qh,bcdcode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=&gt;bcdcode1);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9072331" y="4485117"/>
          <a:ext cx="57573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1640" imgH="190440" progId="Equation.DSMT4">
                  <p:embed/>
                </p:oleObj>
              </mc:Choice>
              <mc:Fallback>
                <p:oleObj name="Equation" r:id="rId3" imgW="431640" imgH="190440" progId="Equation.DSMT4">
                  <p:embed/>
                  <p:pic>
                    <p:nvPicPr>
                      <p:cNvPr id="337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2331" y="4485117"/>
                        <a:ext cx="575733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209028A1-6F9D-7189-E797-FA221DE5F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35" y="450098"/>
            <a:ext cx="6956139" cy="28348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C82238A-1A19-3D46-863F-FAD8A974E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3284984"/>
            <a:ext cx="11568540" cy="345520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5ACD8E7-3757-0751-2025-7C3C9F267E36}"/>
              </a:ext>
            </a:extLst>
          </p:cNvPr>
          <p:cNvSpPr txBox="1"/>
          <p:nvPr/>
        </p:nvSpPr>
        <p:spPr>
          <a:xfrm>
            <a:off x="479376" y="692696"/>
            <a:ext cx="61075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5FE5714-FCC2-50CC-4238-E984CA39F38D}"/>
              </a:ext>
            </a:extLst>
          </p:cNvPr>
          <p:cNvSpPr txBox="1"/>
          <p:nvPr/>
        </p:nvSpPr>
        <p:spPr>
          <a:xfrm>
            <a:off x="407368" y="620688"/>
            <a:ext cx="7452828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dirty="0"/>
              <a:t>编译后生成的</a:t>
            </a:r>
            <a:r>
              <a:rPr lang="en-US" altLang="zh-CN" sz="2133" dirty="0"/>
              <a:t>RTL </a:t>
            </a:r>
            <a:r>
              <a:rPr lang="zh-CN" altLang="en-US" sz="2133" dirty="0"/>
              <a:t>结构图</a:t>
            </a:r>
            <a:r>
              <a:rPr lang="en-US" altLang="zh-CN" sz="2133" dirty="0"/>
              <a:t>(Register Transfer Level)</a:t>
            </a:r>
          </a:p>
        </p:txBody>
      </p:sp>
    </p:spTree>
    <p:extLst>
      <p:ext uri="{BB962C8B-B14F-4D97-AF65-F5344CB8AC3E}">
        <p14:creationId xmlns:p14="http://schemas.microsoft.com/office/powerpoint/2010/main" val="8066417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003A0FB-28E2-D7BA-182E-269308AFA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712" y="763414"/>
            <a:ext cx="8520092" cy="6061726"/>
          </a:xfrm>
          <a:prstGeom prst="rect">
            <a:avLst/>
          </a:prstGeom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35360" y="260648"/>
            <a:ext cx="9889067" cy="50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n"/>
            </a:pPr>
            <a:r>
              <a:rPr lang="zh-CN" altLang="en-US" sz="2667" b="1" dirty="0">
                <a:solidFill>
                  <a:srgbClr val="FF0000"/>
                </a:solidFill>
              </a:rPr>
              <a:t>适配和管脚锁定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382" y="1220756"/>
            <a:ext cx="566462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33" dirty="0"/>
              <a:t>(1)</a:t>
            </a:r>
            <a:r>
              <a:rPr lang="zh-CN" altLang="en-US" sz="2133" dirty="0"/>
              <a:t> </a:t>
            </a:r>
            <a:r>
              <a:rPr lang="en-US" altLang="zh-CN" sz="2133" dirty="0" err="1"/>
              <a:t>clk_sys</a:t>
            </a:r>
            <a:r>
              <a:rPr lang="zh-CN" altLang="en-US" sz="2133" dirty="0"/>
              <a:t>锁定至</a:t>
            </a:r>
            <a:r>
              <a:rPr lang="en-US" altLang="zh-CN" sz="2133" dirty="0"/>
              <a:t>P11</a:t>
            </a:r>
            <a:r>
              <a:rPr lang="zh-CN" altLang="en-US" sz="2133" dirty="0"/>
              <a:t>，得到</a:t>
            </a:r>
            <a:r>
              <a:rPr lang="en-US" altLang="zh-CN" sz="2133" dirty="0"/>
              <a:t>50MHZ</a:t>
            </a:r>
            <a:r>
              <a:rPr lang="zh-CN" altLang="en-US" sz="2133" dirty="0"/>
              <a:t>脉冲</a:t>
            </a:r>
            <a:endParaRPr lang="zh-CN" altLang="en-US" sz="2133" b="1" dirty="0">
              <a:solidFill>
                <a:srgbClr val="FF0000"/>
              </a:solidFill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8611" y="5464809"/>
            <a:ext cx="5538421" cy="1259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21402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35360" y="260648"/>
            <a:ext cx="9889067" cy="50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n"/>
            </a:pPr>
            <a:r>
              <a:rPr lang="zh-CN" altLang="en-US" sz="2667" b="1" dirty="0">
                <a:solidFill>
                  <a:srgbClr val="FF0000"/>
                </a:solidFill>
              </a:rPr>
              <a:t>适配和管脚锁定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413" y="917148"/>
            <a:ext cx="566462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33" dirty="0"/>
              <a:t>(2)</a:t>
            </a:r>
            <a:r>
              <a:rPr lang="zh-CN" altLang="en-US" sz="2133" dirty="0"/>
              <a:t> 个位数码管的管脚锁定</a:t>
            </a:r>
            <a:endParaRPr lang="zh-CN" altLang="en-US" sz="2133" b="1" dirty="0">
              <a:solidFill>
                <a:srgbClr val="FF0000"/>
              </a:solidFill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2011" y="1220756"/>
            <a:ext cx="5538421" cy="1259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82595B3-62CF-9F13-EEC9-BC553014A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21" y="4357132"/>
            <a:ext cx="5193035" cy="224022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82A611B-6417-ED2F-D5F2-E11CDA976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11" y="1491446"/>
            <a:ext cx="5840831" cy="270470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DDDE3D3-9299-9439-2D63-8E60EF35C0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192" y="4397094"/>
            <a:ext cx="2880320" cy="226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507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3A5EE6E4-D019-D3C1-54C9-69DED820D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260648"/>
            <a:ext cx="9889067" cy="50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n"/>
            </a:pPr>
            <a:r>
              <a:rPr lang="zh-CN" altLang="en-US" sz="2667" b="1" dirty="0">
                <a:solidFill>
                  <a:srgbClr val="FF0000"/>
                </a:solidFill>
              </a:rPr>
              <a:t>适配和管脚锁定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880348B-1B7B-C8A3-A992-C57D4517C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2011" y="1220756"/>
            <a:ext cx="5538421" cy="1259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F95194-1FCC-DA66-242D-5FD9D59A4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21" y="4357132"/>
            <a:ext cx="5193035" cy="224022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AA1CDD9-BA3F-0E08-D9B0-D5AC67164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120" y="4324507"/>
            <a:ext cx="2891087" cy="2256618"/>
          </a:xfrm>
          <a:prstGeom prst="rect">
            <a:avLst/>
          </a:prstGeom>
        </p:spPr>
      </p:pic>
      <p:sp>
        <p:nvSpPr>
          <p:cNvPr id="10" name="TextBox 7"/>
          <p:cNvSpPr txBox="1"/>
          <p:nvPr/>
        </p:nvSpPr>
        <p:spPr>
          <a:xfrm>
            <a:off x="461568" y="909724"/>
            <a:ext cx="566462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33" dirty="0"/>
              <a:t>(2)</a:t>
            </a:r>
            <a:r>
              <a:rPr lang="zh-CN" altLang="en-US" sz="2133" dirty="0"/>
              <a:t> 十位数码管的管脚锁定</a:t>
            </a:r>
            <a:endParaRPr lang="zh-CN" altLang="en-US" sz="2133" b="1" dirty="0">
              <a:solidFill>
                <a:srgbClr val="FF00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174D35B-21E8-F045-84A5-F4A7FE5D1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364" y="1585534"/>
            <a:ext cx="5847636" cy="224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4414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35360" y="260648"/>
            <a:ext cx="9889067" cy="50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n"/>
            </a:pPr>
            <a:r>
              <a:rPr lang="zh-CN" altLang="en-US" sz="2667" b="1" dirty="0">
                <a:solidFill>
                  <a:srgbClr val="FF0000"/>
                </a:solidFill>
              </a:rPr>
              <a:t>适配和管脚锁定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96752"/>
            <a:ext cx="4752528" cy="1080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E7F52E5-01C2-C37D-5C9E-88E649FC3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214" y="0"/>
            <a:ext cx="7473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0138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11437</TotalTime>
  <Words>494</Words>
  <Application>Microsoft Office PowerPoint</Application>
  <PresentationFormat>宽屏</PresentationFormat>
  <Paragraphs>55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黑体</vt:lpstr>
      <vt:lpstr>楷体</vt:lpstr>
      <vt:lpstr>宋体</vt:lpstr>
      <vt:lpstr>微软雅黑</vt:lpstr>
      <vt:lpstr>Arial</vt:lpstr>
      <vt:lpstr>Calibri</vt:lpstr>
      <vt:lpstr>Constantia</vt:lpstr>
      <vt:lpstr>Tahoma</vt:lpstr>
      <vt:lpstr>Times New Roman</vt:lpstr>
      <vt:lpstr>Wingdings</vt:lpstr>
      <vt:lpstr>Wingdings 2</vt:lpstr>
      <vt:lpstr>流畅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UCIrvine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keyue smedley</dc:creator>
  <cp:lastModifiedBy>Administrator</cp:lastModifiedBy>
  <cp:revision>678</cp:revision>
  <dcterms:created xsi:type="dcterms:W3CDTF">2001-11-26T03:50:59Z</dcterms:created>
  <dcterms:modified xsi:type="dcterms:W3CDTF">2024-07-26T08:42:18Z</dcterms:modified>
</cp:coreProperties>
</file>